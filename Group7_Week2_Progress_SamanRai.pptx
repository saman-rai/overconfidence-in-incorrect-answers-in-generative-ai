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I'm Saman Rai, presenting Group 7's Week-2 progress on overconfidence in GenAI answers. Last week we defined the problem, reviewed the literature and proposed a tiered confidence-triage pipeline. This week we moved from planning to evidence: we built the evaluation harness, implemented the baselines we promised, and ran our first experiment on a real benchmark.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Our research question is whether a tiered confidence-triage pipeline can reduce overconfident wrong answers at a practical cost. At the end of Week 1 we committed to implementing temperature scaling and verbalized confidence and getting first results. All of that is done. We also added self-consistency, because it is Stage 1 of our own pipeline, so we can already get an early signal on whether triage is promising. The experiment covered 400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harness we built. Step one samples questions from the benchmark with a fixed random seed so results are reproducible. Step two queries the model three ways for every question. Step three grades answers automatically against all accepted gold answers. Step four fits temperature scaling with 5-fold cross-validation, so we never evaluate on the data we calibrated on. Step five computes all the metrics from our Week-1 plan. The key point: every method sees the same questions, grader and metrics, so in Week 3 our triage pipeline just plugs in as one more method.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details. We used TriviaQA (rc.nocontext, validation) — factual questions with ground-truth answers and several accepted aliases, which makes automatic grading reliable. We sampled 400 questions with a fixed seed. The model is gpt-4.1-mini, accessed through the openai API. For each question we made a greedy answer at temperature 0, 5 sampled answers at temperature 1, and a separate prompt asking for an answer plus a confidence percentage. In total 987 API calls and about 89,559 tokens — cheap enough to scale up next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confidence signals we compared. Verbalized confidence simply asks the model how sure it is. Temperature scaling learns a single number T from held-out data and rescales the confidence; when T is above one it pulls overconfident scores down. Self-consistency asks the same question 5 times with randomness and checks how often the answers agree. Note the cost column: self-consistency is the most expensive, which is exactly why our pipeline uses it only as a cheap first filter and saves heavy verification for the uncertain cases.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headline numbers. Accuracy is how often the answer is right; average confidence is what the model claims. ECE — expected calibration error — is the gap between claimed confidence and actual accuracy; lower is better. Brier score also measures probability quality; lower is better. AUROC measures whether confidence separates right from wrong answers; 0.5 is random, 1.0 is perfect. The last column is our headline overconfidence measure: of the answers that were WRONG, what share were stated with at least 90% confidence. For verbalized confidence that is 82%. Green marks the best value in each column.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these: we group answers by stated confidence, then plot how often each group was actually correct. On the dashed diagonal, 80% confidence means 80% accuracy. Bars BELOW the diagonal mean the model was less accurate than it claimed — that is overconfidence. Look at where most answers sit and how far they are from the line, and compare the raw verbalized panel with the temperature-scaled panel. In our run the largest average overconfidence gap was Verbalized confidence, at +14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core of our topic. Green bars are correct answers, red bars are wrong answers, by the confidence the model stated. If the model knew what it didn't know, the red bars would sit on the left. Instead, 82% of the wrong answers were stated with at least 90% confidence. On the right are real examples from our run — the model is wrong and still very sure. Overall we found 59 confidently-wrong answers out of 400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early test of our own idea, using data we already have. Stage 1 of the pipeline accepts an answer if at least 4 of the 5 samples agree; otherwise it escalates to an expensive check. The curve shows error rate against coverage — if we answer only the most confident questions, how many mistakes remain. A lower curve is better. At our threshold we would answer 86% of questions directly with 89% accuracy, and escalate only 14%, which contain 50% of all errors. So expensive verification would only be needed for a minority of queries. Building and costing that Stage-2 check is our Week 3–4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the findings: The model answered 82% correctly but claimed 96% confidence on average (gap +14 pts). 82% of the WRONG answers were stated with ≥90% confidence (avg. 91% when wrong vs 97% when right). Temperature scaling reduced verbalized ECE from 0.138 to 0.081 (42% lower) — calibration can be repaired cheaply. Best at telling right from wrong answers: Self-consistency (k=5) (AUROC 0.80). Temperature scaling barely moves AUROC — it rescales scores, it does not re-rank answers. Lessons learned: automatic grading of free-text answers is the biggest source of measurement error, so we spot-check it manually; and temperature scaling fixes the scale of confidence but not which answers get high confidence — that is why we need a stronger signal such as self-consistency plus verification, which is exactly our triage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on schedule. Weeks 1 and 2 are done. In Weeks 3 and 4 we build Stage 2 of the pipeline: for low-agreement questions we will try a retrieval-based fact check or a multi-agent / stronger-model re-check, and we will log tokens and latency so we can compare cost against always running the expensive check. We also plan to add a harder dataset and a second model to see whether the findings generalise. Week 5 is the full evaluation against the baselines, and Week 6 is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3" name="TextBox 2"/>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4" name="TextBox 3"/>
          <p:cNvSpPr txBox="1"/>
          <p:nvPr/>
        </p:nvSpPr>
        <p:spPr>
          <a:xfrm>
            <a:off x="685800" y="777240"/>
            <a:ext cx="9144000" cy="320040"/>
          </a:xfrm>
          <a:prstGeom prst="rect">
            <a:avLst/>
          </a:prstGeom>
          <a:noFill/>
        </p:spPr>
        <p:txBody>
          <a:bodyPr wrap="square" lIns="0" rIns="0" tIns="0" bIns="0" anchor="t">
            <a:spAutoFit/>
          </a:bodyPr>
          <a:lstStyle/>
          <a:p>
            <a:pPr algn="l">
              <a:lnSpc>
                <a:spcPct val="100000"/>
              </a:lnSpc>
              <a:spcAft>
                <a:spcPts val="0"/>
              </a:spcAft>
            </a:pPr>
            <a:r>
              <a:rPr sz="1300" b="1" i="0">
                <a:solidFill>
                  <a:srgbClr val="2DC4D3"/>
                </a:solidFill>
                <a:latin typeface="Aptos"/>
              </a:rPr>
              <a:t>WEEKLY PROGRESS REPORT  •  WEEK 2</a:t>
            </a:r>
          </a:p>
        </p:txBody>
      </p:sp>
      <p:sp>
        <p:nvSpPr>
          <p:cNvPr id="5" name="TextBox 4"/>
          <p:cNvSpPr txBox="1"/>
          <p:nvPr/>
        </p:nvSpPr>
        <p:spPr>
          <a:xfrm>
            <a:off x="685800" y="1234440"/>
            <a:ext cx="10515600" cy="822960"/>
          </a:xfrm>
          <a:prstGeom prst="rect">
            <a:avLst/>
          </a:prstGeom>
          <a:noFill/>
        </p:spPr>
        <p:txBody>
          <a:bodyPr wrap="square" lIns="0" rIns="0" tIns="0" bIns="0" anchor="t">
            <a:spAutoFit/>
          </a:bodyPr>
          <a:lstStyle/>
          <a:p>
            <a:pPr algn="l">
              <a:lnSpc>
                <a:spcPct val="100000"/>
              </a:lnSpc>
              <a:spcAft>
                <a:spcPts val="0"/>
              </a:spcAft>
            </a:pPr>
            <a:r>
              <a:rPr sz="4000" b="1" i="0">
                <a:solidFill>
                  <a:srgbClr val="F5F8FC"/>
                </a:solidFill>
                <a:latin typeface="Aptos"/>
              </a:rPr>
              <a:t>Overconfidence in GenAI Answers</a:t>
            </a:r>
          </a:p>
        </p:txBody>
      </p:sp>
      <p:sp>
        <p:nvSpPr>
          <p:cNvPr id="6" name="TextBox 5"/>
          <p:cNvSpPr txBox="1"/>
          <p:nvPr/>
        </p:nvSpPr>
        <p:spPr>
          <a:xfrm>
            <a:off x="704088" y="2103120"/>
            <a:ext cx="10515600" cy="457200"/>
          </a:xfrm>
          <a:prstGeom prst="rect">
            <a:avLst/>
          </a:prstGeom>
          <a:noFill/>
        </p:spPr>
        <p:txBody>
          <a:bodyPr wrap="square" lIns="0" rIns="0" tIns="0" bIns="0" anchor="t">
            <a:spAutoFit/>
          </a:bodyPr>
          <a:lstStyle/>
          <a:p>
            <a:pPr algn="l">
              <a:lnSpc>
                <a:spcPct val="100000"/>
              </a:lnSpc>
              <a:spcAft>
                <a:spcPts val="0"/>
              </a:spcAft>
            </a:pPr>
            <a:r>
              <a:rPr sz="1800" b="0" i="0">
                <a:solidFill>
                  <a:srgbClr val="B0BED2"/>
                </a:solidFill>
                <a:latin typeface="Aptos"/>
              </a:rPr>
              <a:t>First experiments: how often is an LLM confidently wrong?</a:t>
            </a:r>
          </a:p>
        </p:txBody>
      </p:sp>
      <p:sp>
        <p:nvSpPr>
          <p:cNvPr id="7" name="Rounded Rectangle 6"/>
          <p:cNvSpPr/>
          <p:nvPr/>
        </p:nvSpPr>
        <p:spPr>
          <a:xfrm>
            <a:off x="685800" y="3017520"/>
            <a:ext cx="3456432" cy="1143000"/>
          </a:xfrm>
          <a:prstGeom prst="roundRect">
            <a:avLst>
              <a:gd name="adj" fmla="val 96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218688"/>
            <a:ext cx="2999232"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PRESENTER</a:t>
            </a:r>
          </a:p>
        </p:txBody>
      </p:sp>
      <p:sp>
        <p:nvSpPr>
          <p:cNvPr id="9" name="TextBox 8"/>
          <p:cNvSpPr txBox="1"/>
          <p:nvPr/>
        </p:nvSpPr>
        <p:spPr>
          <a:xfrm>
            <a:off x="941832" y="3584448"/>
            <a:ext cx="2999232" cy="411480"/>
          </a:xfrm>
          <a:prstGeom prst="rect">
            <a:avLst/>
          </a:prstGeom>
          <a:noFill/>
        </p:spPr>
        <p:txBody>
          <a:bodyPr wrap="square" lIns="0" rIns="0" tIns="0" bIns="0" anchor="t">
            <a:spAutoFit/>
          </a:bodyPr>
          <a:lstStyle/>
          <a:p>
            <a:pPr algn="l">
              <a:lnSpc>
                <a:spcPct val="100000"/>
              </a:lnSpc>
              <a:spcAft>
                <a:spcPts val="0"/>
              </a:spcAft>
            </a:pPr>
            <a:r>
              <a:rPr sz="1500" b="0" i="0">
                <a:solidFill>
                  <a:srgbClr val="F5F8FC"/>
                </a:solidFill>
                <a:latin typeface="Aptos"/>
              </a:rPr>
              <a:t>Saman Rai  •  ID 2317130</a:t>
            </a:r>
          </a:p>
        </p:txBody>
      </p:sp>
      <p:sp>
        <p:nvSpPr>
          <p:cNvPr id="10" name="Rounded Rectangle 9"/>
          <p:cNvSpPr/>
          <p:nvPr/>
        </p:nvSpPr>
        <p:spPr>
          <a:xfrm>
            <a:off x="4325112" y="3017520"/>
            <a:ext cx="3456432" cy="1143000"/>
          </a:xfrm>
          <a:prstGeom prst="roundRect">
            <a:avLst>
              <a:gd name="adj" fmla="val 96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81144" y="3218688"/>
            <a:ext cx="2999232"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GROUP &amp; SUPERVISOR</a:t>
            </a:r>
          </a:p>
        </p:txBody>
      </p:sp>
      <p:sp>
        <p:nvSpPr>
          <p:cNvPr id="12" name="TextBox 11"/>
          <p:cNvSpPr txBox="1"/>
          <p:nvPr/>
        </p:nvSpPr>
        <p:spPr>
          <a:xfrm>
            <a:off x="4581144" y="3584448"/>
            <a:ext cx="2999232" cy="411480"/>
          </a:xfrm>
          <a:prstGeom prst="rect">
            <a:avLst/>
          </a:prstGeom>
          <a:noFill/>
        </p:spPr>
        <p:txBody>
          <a:bodyPr wrap="square" lIns="0" rIns="0" tIns="0" bIns="0" anchor="t">
            <a:spAutoFit/>
          </a:bodyPr>
          <a:lstStyle/>
          <a:p>
            <a:pPr algn="l">
              <a:lnSpc>
                <a:spcPct val="100000"/>
              </a:lnSpc>
              <a:spcAft>
                <a:spcPts val="0"/>
              </a:spcAft>
            </a:pPr>
            <a:r>
              <a:rPr sz="1500" b="0" i="0">
                <a:solidFill>
                  <a:srgbClr val="F5F8FC"/>
                </a:solidFill>
                <a:latin typeface="Aptos"/>
              </a:rPr>
              <a:t>Group 7  •  Prof. Simeon</a:t>
            </a:r>
          </a:p>
        </p:txBody>
      </p:sp>
      <p:sp>
        <p:nvSpPr>
          <p:cNvPr id="13" name="Rounded Rectangle 12"/>
          <p:cNvSpPr/>
          <p:nvPr/>
        </p:nvSpPr>
        <p:spPr>
          <a:xfrm>
            <a:off x="7964424" y="3017520"/>
            <a:ext cx="3456432" cy="1143000"/>
          </a:xfrm>
          <a:prstGeom prst="roundRect">
            <a:avLst>
              <a:gd name="adj" fmla="val 96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3218688"/>
            <a:ext cx="2999232"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CURRENT MILESTONE</a:t>
            </a:r>
          </a:p>
        </p:txBody>
      </p:sp>
      <p:sp>
        <p:nvSpPr>
          <p:cNvPr id="15" name="TextBox 14"/>
          <p:cNvSpPr txBox="1"/>
          <p:nvPr/>
        </p:nvSpPr>
        <p:spPr>
          <a:xfrm>
            <a:off x="8220456" y="3584448"/>
            <a:ext cx="2999232" cy="411480"/>
          </a:xfrm>
          <a:prstGeom prst="rect">
            <a:avLst/>
          </a:prstGeom>
          <a:noFill/>
        </p:spPr>
        <p:txBody>
          <a:bodyPr wrap="square" lIns="0" rIns="0" tIns="0" bIns="0" anchor="t">
            <a:spAutoFit/>
          </a:bodyPr>
          <a:lstStyle/>
          <a:p>
            <a:pPr algn="l">
              <a:lnSpc>
                <a:spcPct val="100000"/>
              </a:lnSpc>
              <a:spcAft>
                <a:spcPts val="0"/>
              </a:spcAft>
            </a:pPr>
            <a:r>
              <a:rPr sz="1500" b="0" i="0">
                <a:solidFill>
                  <a:srgbClr val="F5F8FC"/>
                </a:solidFill>
                <a:latin typeface="Aptos"/>
              </a:rPr>
              <a:t>Week 2 • Baselines + first results</a:t>
            </a:r>
          </a:p>
        </p:txBody>
      </p:sp>
      <p:sp>
        <p:nvSpPr>
          <p:cNvPr id="16" name="TextBox 15"/>
          <p:cNvSpPr txBox="1"/>
          <p:nvPr/>
        </p:nvSpPr>
        <p:spPr>
          <a:xfrm>
            <a:off x="685800" y="4480560"/>
            <a:ext cx="10789920" cy="457200"/>
          </a:xfrm>
          <a:prstGeom prst="rect">
            <a:avLst/>
          </a:prstGeom>
          <a:noFill/>
        </p:spPr>
        <p:txBody>
          <a:bodyPr wrap="square" lIns="0" rIns="0" tIns="0" bIns="0" anchor="t">
            <a:spAutoFit/>
          </a:bodyPr>
          <a:lstStyle/>
          <a:p>
            <a:pPr algn="l">
              <a:lnSpc>
                <a:spcPct val="100000"/>
              </a:lnSpc>
              <a:spcAft>
                <a:spcPts val="0"/>
              </a:spcAft>
            </a:pPr>
            <a:r>
              <a:rPr sz="1100" b="0" i="0">
                <a:solidFill>
                  <a:srgbClr val="B0BED2"/>
                </a:solidFill>
                <a:latin typeface="Aptos"/>
              </a:rPr>
              <a:t>Team: Ramauli Madan Bahadur • Tamang Sajan • Jaiswal Anand Bihari • Sunar Binod • Kaliraj Bikram • Rai Saman • Dahal Sushil • Subedi Chetana • Saad</a:t>
            </a:r>
          </a:p>
        </p:txBody>
      </p:sp>
      <p:sp>
        <p:nvSpPr>
          <p:cNvPr id="17" name="TextBox 16"/>
          <p:cNvSpPr txBox="1"/>
          <p:nvPr/>
        </p:nvSpPr>
        <p:spPr>
          <a:xfrm>
            <a:off x="685800" y="5257800"/>
            <a:ext cx="5486400" cy="365760"/>
          </a:xfrm>
          <a:prstGeom prst="rect">
            <a:avLst/>
          </a:prstGeom>
          <a:noFill/>
        </p:spPr>
        <p:txBody>
          <a:bodyPr wrap="square" lIns="0" rIns="0" tIns="0" bIns="0" anchor="t">
            <a:spAutoFit/>
          </a:bodyPr>
          <a:lstStyle/>
          <a:p>
            <a:pPr algn="l">
              <a:lnSpc>
                <a:spcPct val="100000"/>
              </a:lnSpc>
              <a:spcAft>
                <a:spcPts val="0"/>
              </a:spcAft>
            </a:pPr>
            <a:r>
              <a:rPr sz="1300" b="1" i="0">
                <a:solidFill>
                  <a:srgbClr val="F5F8FC"/>
                </a:solidFill>
                <a:latin typeface="Aptos"/>
              </a:rPr>
              <a:t>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1. Where We Left Off</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Week-1 commitment → what we delivered in Week 2</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2</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Rounded Rectangle 6"/>
          <p:cNvSpPr/>
          <p:nvPr/>
        </p:nvSpPr>
        <p:spPr>
          <a:xfrm>
            <a:off x="548640" y="1417320"/>
            <a:ext cx="5120640" cy="4709160"/>
          </a:xfrm>
          <a:prstGeom prst="roundRect">
            <a:avLst>
              <a:gd name="adj" fmla="val 233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645920"/>
            <a:ext cx="4572000"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LAST WEEK WE COMMITTED TO</a:t>
            </a:r>
          </a:p>
        </p:txBody>
      </p:sp>
      <p:sp>
        <p:nvSpPr>
          <p:cNvPr id="9" name="TextBox 8"/>
          <p:cNvSpPr txBox="1"/>
          <p:nvPr/>
        </p:nvSpPr>
        <p:spPr>
          <a:xfrm>
            <a:off x="822960" y="2011680"/>
            <a:ext cx="4572000" cy="1463040"/>
          </a:xfrm>
          <a:prstGeom prst="rect">
            <a:avLst/>
          </a:prstGeom>
          <a:noFill/>
        </p:spPr>
        <p:txBody>
          <a:bodyPr wrap="square" lIns="0" rIns="0" tIns="0" bIns="0" anchor="t">
            <a:spAutoFit/>
          </a:bodyPr>
          <a:lstStyle/>
          <a:p>
            <a:pPr algn="l">
              <a:lnSpc>
                <a:spcPct val="100000"/>
              </a:lnSpc>
              <a:spcAft>
                <a:spcPts val="0"/>
              </a:spcAft>
            </a:pPr>
            <a:r>
              <a:rPr sz="1700" b="0" i="1">
                <a:solidFill>
                  <a:srgbClr val="F5F8FC"/>
                </a:solidFill>
                <a:latin typeface="Aptos"/>
              </a:rPr>
              <a:t>“Implement the baseline calibration methods — temperature scaling and verbalized confidence — and establish the first evaluation results.”</a:t>
            </a:r>
          </a:p>
        </p:txBody>
      </p:sp>
      <p:sp>
        <p:nvSpPr>
          <p:cNvPr id="10" name="TextBox 9"/>
          <p:cNvSpPr txBox="1"/>
          <p:nvPr/>
        </p:nvSpPr>
        <p:spPr>
          <a:xfrm>
            <a:off x="822960" y="3703320"/>
            <a:ext cx="4572000" cy="274320"/>
          </a:xfrm>
          <a:prstGeom prst="rect">
            <a:avLst/>
          </a:prstGeom>
          <a:noFill/>
        </p:spPr>
        <p:txBody>
          <a:bodyPr wrap="square" lIns="0" rIns="0" tIns="0" bIns="0" anchor="t">
            <a:spAutoFit/>
          </a:bodyPr>
          <a:lstStyle/>
          <a:p>
            <a:pPr algn="l">
              <a:lnSpc>
                <a:spcPct val="100000"/>
              </a:lnSpc>
              <a:spcAft>
                <a:spcPts val="0"/>
              </a:spcAft>
            </a:pPr>
            <a:r>
              <a:rPr sz="1100" b="1" i="0">
                <a:solidFill>
                  <a:srgbClr val="F2C248"/>
                </a:solidFill>
                <a:latin typeface="Aptos"/>
              </a:rPr>
              <a:t>RESEARCH QUESTION</a:t>
            </a:r>
          </a:p>
        </p:txBody>
      </p:sp>
      <p:sp>
        <p:nvSpPr>
          <p:cNvPr id="11" name="TextBox 10"/>
          <p:cNvSpPr txBox="1"/>
          <p:nvPr/>
        </p:nvSpPr>
        <p:spPr>
          <a:xfrm>
            <a:off x="822960" y="4069080"/>
            <a:ext cx="4572000" cy="1463040"/>
          </a:xfrm>
          <a:prstGeom prst="rect">
            <a:avLst/>
          </a:prstGeom>
          <a:noFill/>
        </p:spPr>
        <p:txBody>
          <a:bodyPr wrap="square" lIns="0" rIns="0" tIns="0" bIns="0" anchor="t">
            <a:spAutoFit/>
          </a:bodyPr>
          <a:lstStyle/>
          <a:p>
            <a:pPr algn="l">
              <a:lnSpc>
                <a:spcPct val="100000"/>
              </a:lnSpc>
              <a:spcAft>
                <a:spcPts val="0"/>
              </a:spcAft>
            </a:pPr>
            <a:r>
              <a:rPr sz="1500" b="0" i="0">
                <a:solidFill>
                  <a:srgbClr val="B0BED2"/>
                </a:solidFill>
                <a:latin typeface="Aptos"/>
              </a:rPr>
              <a:t>Can a tiered confidence-triage pipeline reduce overconfident wrong answers while keeping computation practical?</a:t>
            </a:r>
          </a:p>
        </p:txBody>
      </p:sp>
      <p:sp>
        <p:nvSpPr>
          <p:cNvPr id="12" name="Rounded Rectangle 11"/>
          <p:cNvSpPr/>
          <p:nvPr/>
        </p:nvSpPr>
        <p:spPr>
          <a:xfrm>
            <a:off x="5897880" y="1417320"/>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26480" y="1417320"/>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Dataset selected &amp; sampled</a:t>
            </a:r>
          </a:p>
        </p:txBody>
      </p:sp>
      <p:sp>
        <p:nvSpPr>
          <p:cNvPr id="14" name="Rounded Rectangle 13"/>
          <p:cNvSpPr/>
          <p:nvPr/>
        </p:nvSpPr>
        <p:spPr>
          <a:xfrm>
            <a:off x="10012680" y="1417320"/>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12680" y="1417320"/>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 • 400 Qs</a:t>
            </a:r>
          </a:p>
        </p:txBody>
      </p:sp>
      <p:sp>
        <p:nvSpPr>
          <p:cNvPr id="16" name="Rounded Rectangle 15"/>
          <p:cNvSpPr/>
          <p:nvPr/>
        </p:nvSpPr>
        <p:spPr>
          <a:xfrm>
            <a:off x="5897880" y="2212848"/>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26480" y="2212848"/>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Evaluation harness (grading + metrics)</a:t>
            </a:r>
          </a:p>
        </p:txBody>
      </p:sp>
      <p:sp>
        <p:nvSpPr>
          <p:cNvPr id="18" name="Rounded Rectangle 17"/>
          <p:cNvSpPr/>
          <p:nvPr/>
        </p:nvSpPr>
        <p:spPr>
          <a:xfrm>
            <a:off x="10012680" y="2212848"/>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012680" y="2212848"/>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a:t>
            </a:r>
          </a:p>
        </p:txBody>
      </p:sp>
      <p:sp>
        <p:nvSpPr>
          <p:cNvPr id="20" name="Rounded Rectangle 19"/>
          <p:cNvSpPr/>
          <p:nvPr/>
        </p:nvSpPr>
        <p:spPr>
          <a:xfrm>
            <a:off x="5897880" y="3008376"/>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26480" y="3008376"/>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Verbalized confidence baseline</a:t>
            </a:r>
          </a:p>
        </p:txBody>
      </p:sp>
      <p:sp>
        <p:nvSpPr>
          <p:cNvPr id="22" name="Rounded Rectangle 21"/>
          <p:cNvSpPr/>
          <p:nvPr/>
        </p:nvSpPr>
        <p:spPr>
          <a:xfrm>
            <a:off x="10012680" y="3008376"/>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12680" y="3008376"/>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a:t>
            </a:r>
          </a:p>
        </p:txBody>
      </p:sp>
      <p:sp>
        <p:nvSpPr>
          <p:cNvPr id="24" name="Rounded Rectangle 23"/>
          <p:cNvSpPr/>
          <p:nvPr/>
        </p:nvSpPr>
        <p:spPr>
          <a:xfrm>
            <a:off x="5897880" y="3803904"/>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803904"/>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Temperature scaling baseline</a:t>
            </a:r>
          </a:p>
        </p:txBody>
      </p:sp>
      <p:sp>
        <p:nvSpPr>
          <p:cNvPr id="26" name="Rounded Rectangle 25"/>
          <p:cNvSpPr/>
          <p:nvPr/>
        </p:nvSpPr>
        <p:spPr>
          <a:xfrm>
            <a:off x="10012680" y="3803904"/>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012680" y="3803904"/>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a:t>
            </a:r>
          </a:p>
        </p:txBody>
      </p:sp>
      <p:sp>
        <p:nvSpPr>
          <p:cNvPr id="28" name="Rounded Rectangle 27"/>
          <p:cNvSpPr/>
          <p:nvPr/>
        </p:nvSpPr>
        <p:spPr>
          <a:xfrm>
            <a:off x="5897880" y="4599432"/>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126480" y="4599432"/>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Self-consistency (Stage 1 of triage)</a:t>
            </a:r>
          </a:p>
        </p:txBody>
      </p:sp>
      <p:sp>
        <p:nvSpPr>
          <p:cNvPr id="30" name="Rounded Rectangle 29"/>
          <p:cNvSpPr/>
          <p:nvPr/>
        </p:nvSpPr>
        <p:spPr>
          <a:xfrm>
            <a:off x="10012680" y="4599432"/>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12680" y="4599432"/>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 • bonus</a:t>
            </a:r>
          </a:p>
        </p:txBody>
      </p:sp>
      <p:sp>
        <p:nvSpPr>
          <p:cNvPr id="32" name="Rounded Rectangle 31"/>
          <p:cNvSpPr/>
          <p:nvPr/>
        </p:nvSpPr>
        <p:spPr>
          <a:xfrm>
            <a:off x="5897880" y="5394959"/>
            <a:ext cx="3977639"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126480" y="5394959"/>
            <a:ext cx="3657600" cy="640080"/>
          </a:xfrm>
          <a:prstGeom prst="rect">
            <a:avLst/>
          </a:prstGeom>
          <a:noFill/>
        </p:spPr>
        <p:txBody>
          <a:bodyPr wrap="square" lIns="0" rIns="0" tIns="0" bIns="0" anchor="ctr">
            <a:spAutoFit/>
          </a:bodyPr>
          <a:lstStyle/>
          <a:p>
            <a:pPr algn="l">
              <a:lnSpc>
                <a:spcPct val="100000"/>
              </a:lnSpc>
              <a:spcAft>
                <a:spcPts val="0"/>
              </a:spcAft>
            </a:pPr>
            <a:r>
              <a:rPr sz="1400" b="1" i="0">
                <a:solidFill>
                  <a:srgbClr val="F5F8FC"/>
                </a:solidFill>
                <a:latin typeface="Aptos"/>
              </a:rPr>
              <a:t>First evaluation results</a:t>
            </a:r>
          </a:p>
        </p:txBody>
      </p:sp>
      <p:sp>
        <p:nvSpPr>
          <p:cNvPr id="34" name="Rounded Rectangle 33"/>
          <p:cNvSpPr/>
          <p:nvPr/>
        </p:nvSpPr>
        <p:spPr>
          <a:xfrm>
            <a:off x="10012680" y="5394959"/>
            <a:ext cx="1645920" cy="640080"/>
          </a:xfrm>
          <a:prstGeom prst="roundRect">
            <a:avLst>
              <a:gd name="adj" fmla="val 1714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012680" y="5394959"/>
            <a:ext cx="1645920" cy="640080"/>
          </a:xfrm>
          <a:prstGeom prst="rect">
            <a:avLst/>
          </a:prstGeom>
          <a:noFill/>
        </p:spPr>
        <p:txBody>
          <a:bodyPr wrap="square" lIns="0" rIns="0" tIns="0" bIns="0" anchor="ctr">
            <a:spAutoFit/>
          </a:bodyPr>
          <a:lstStyle/>
          <a:p>
            <a:pPr algn="ctr">
              <a:lnSpc>
                <a:spcPct val="100000"/>
              </a:lnSpc>
              <a:spcAft>
                <a:spcPts val="0"/>
              </a:spcAft>
            </a:pPr>
            <a:r>
              <a:rPr sz="1200" b="1" i="0">
                <a:solidFill>
                  <a:srgbClr val="5CC98B"/>
                </a:solidFill>
                <a:latin typeface="Aptos"/>
              </a:rPr>
              <a:t>DONE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2. What We Built This Week</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An end-to-end, reproducible evaluation harness</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3</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Rounded Rectangle 6"/>
          <p:cNvSpPr/>
          <p:nvPr/>
        </p:nvSpPr>
        <p:spPr>
          <a:xfrm>
            <a:off x="548640" y="1508760"/>
            <a:ext cx="1965960" cy="233172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777240" y="1737360"/>
            <a:ext cx="457200" cy="457200"/>
          </a:xfrm>
          <a:prstGeom prst="roundRect">
            <a:avLst>
              <a:gd name="adj" fmla="val 50000"/>
            </a:avLst>
          </a:prstGeom>
          <a:solidFill>
            <a:srgbClr val="0E1828"/>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737360"/>
            <a:ext cx="457200" cy="457200"/>
          </a:xfrm>
          <a:prstGeom prst="rect">
            <a:avLst/>
          </a:prstGeom>
          <a:noFill/>
        </p:spPr>
        <p:txBody>
          <a:bodyPr wrap="square" lIns="0" rIns="0" tIns="0" bIns="0" anchor="ctr">
            <a:spAutoFit/>
          </a:bodyPr>
          <a:lstStyle/>
          <a:p>
            <a:pPr algn="ctr">
              <a:lnSpc>
                <a:spcPct val="100000"/>
              </a:lnSpc>
              <a:spcAft>
                <a:spcPts val="0"/>
              </a:spcAft>
            </a:pPr>
            <a:r>
              <a:rPr sz="1500" b="1" i="0">
                <a:solidFill>
                  <a:srgbClr val="2DC4D3"/>
                </a:solidFill>
                <a:latin typeface="Aptos"/>
              </a:rPr>
              <a:t>1</a:t>
            </a:r>
          </a:p>
        </p:txBody>
      </p:sp>
      <p:sp>
        <p:nvSpPr>
          <p:cNvPr id="10" name="TextBox 9"/>
          <p:cNvSpPr txBox="1"/>
          <p:nvPr/>
        </p:nvSpPr>
        <p:spPr>
          <a:xfrm>
            <a:off x="777240" y="2377440"/>
            <a:ext cx="1554480" cy="365760"/>
          </a:xfrm>
          <a:prstGeom prst="rect">
            <a:avLst/>
          </a:prstGeom>
          <a:noFill/>
        </p:spPr>
        <p:txBody>
          <a:bodyPr wrap="square" lIns="0" rIns="0" tIns="0" bIns="0" anchor="t">
            <a:spAutoFit/>
          </a:bodyPr>
          <a:lstStyle/>
          <a:p>
            <a:pPr algn="l">
              <a:lnSpc>
                <a:spcPct val="100000"/>
              </a:lnSpc>
              <a:spcAft>
                <a:spcPts val="0"/>
              </a:spcAft>
            </a:pPr>
            <a:r>
              <a:rPr sz="1700" b="1" i="0">
                <a:solidFill>
                  <a:srgbClr val="F5F8FC"/>
                </a:solidFill>
                <a:latin typeface="Aptos"/>
              </a:rPr>
              <a:t>Sample</a:t>
            </a:r>
          </a:p>
        </p:txBody>
      </p:sp>
      <p:sp>
        <p:nvSpPr>
          <p:cNvPr id="11" name="TextBox 10"/>
          <p:cNvSpPr txBox="1"/>
          <p:nvPr/>
        </p:nvSpPr>
        <p:spPr>
          <a:xfrm>
            <a:off x="777240" y="2816352"/>
            <a:ext cx="1600200" cy="9601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400 questions, fixed random seed</a:t>
            </a:r>
          </a:p>
        </p:txBody>
      </p:sp>
      <p:sp>
        <p:nvSpPr>
          <p:cNvPr id="12" name="Right Arrow 11"/>
          <p:cNvSpPr/>
          <p:nvPr/>
        </p:nvSpPr>
        <p:spPr>
          <a:xfrm>
            <a:off x="2569464" y="2560320"/>
            <a:ext cx="219456" cy="237744"/>
          </a:xfrm>
          <a:prstGeom prst="rightArrow">
            <a:avLst/>
          </a:prstGeom>
          <a:solidFill>
            <a:srgbClr val="2DC4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43784" y="1508760"/>
            <a:ext cx="1965960" cy="233172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072384" y="1737360"/>
            <a:ext cx="457200" cy="457200"/>
          </a:xfrm>
          <a:prstGeom prst="roundRect">
            <a:avLst>
              <a:gd name="adj" fmla="val 50000"/>
            </a:avLst>
          </a:prstGeom>
          <a:solidFill>
            <a:srgbClr val="0E1828"/>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72384" y="1737360"/>
            <a:ext cx="457200" cy="457200"/>
          </a:xfrm>
          <a:prstGeom prst="rect">
            <a:avLst/>
          </a:prstGeom>
          <a:noFill/>
        </p:spPr>
        <p:txBody>
          <a:bodyPr wrap="square" lIns="0" rIns="0" tIns="0" bIns="0" anchor="ctr">
            <a:spAutoFit/>
          </a:bodyPr>
          <a:lstStyle/>
          <a:p>
            <a:pPr algn="ctr">
              <a:lnSpc>
                <a:spcPct val="100000"/>
              </a:lnSpc>
              <a:spcAft>
                <a:spcPts val="0"/>
              </a:spcAft>
            </a:pPr>
            <a:r>
              <a:rPr sz="1500" b="1" i="0">
                <a:solidFill>
                  <a:srgbClr val="2DC4D3"/>
                </a:solidFill>
                <a:latin typeface="Aptos"/>
              </a:rPr>
              <a:t>2</a:t>
            </a:r>
          </a:p>
        </p:txBody>
      </p:sp>
      <p:sp>
        <p:nvSpPr>
          <p:cNvPr id="16" name="TextBox 15"/>
          <p:cNvSpPr txBox="1"/>
          <p:nvPr/>
        </p:nvSpPr>
        <p:spPr>
          <a:xfrm>
            <a:off x="3072384" y="2377440"/>
            <a:ext cx="1554480" cy="365760"/>
          </a:xfrm>
          <a:prstGeom prst="rect">
            <a:avLst/>
          </a:prstGeom>
          <a:noFill/>
        </p:spPr>
        <p:txBody>
          <a:bodyPr wrap="square" lIns="0" rIns="0" tIns="0" bIns="0" anchor="t">
            <a:spAutoFit/>
          </a:bodyPr>
          <a:lstStyle/>
          <a:p>
            <a:pPr algn="l">
              <a:lnSpc>
                <a:spcPct val="100000"/>
              </a:lnSpc>
              <a:spcAft>
                <a:spcPts val="0"/>
              </a:spcAft>
            </a:pPr>
            <a:r>
              <a:rPr sz="1700" b="1" i="0">
                <a:solidFill>
                  <a:srgbClr val="F5F8FC"/>
                </a:solidFill>
                <a:latin typeface="Aptos"/>
              </a:rPr>
              <a:t>Query LLM</a:t>
            </a:r>
          </a:p>
        </p:txBody>
      </p:sp>
      <p:sp>
        <p:nvSpPr>
          <p:cNvPr id="17" name="TextBox 16"/>
          <p:cNvSpPr txBox="1"/>
          <p:nvPr/>
        </p:nvSpPr>
        <p:spPr>
          <a:xfrm>
            <a:off x="3072384" y="2816352"/>
            <a:ext cx="1600200" cy="9601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Greedy answer,
5 samples,
verbalized conf.</a:t>
            </a:r>
          </a:p>
        </p:txBody>
      </p:sp>
      <p:sp>
        <p:nvSpPr>
          <p:cNvPr id="18" name="Right Arrow 17"/>
          <p:cNvSpPr/>
          <p:nvPr/>
        </p:nvSpPr>
        <p:spPr>
          <a:xfrm>
            <a:off x="4864607" y="2560320"/>
            <a:ext cx="219456" cy="237744"/>
          </a:xfrm>
          <a:prstGeom prst="rightArrow">
            <a:avLst/>
          </a:prstGeom>
          <a:solidFill>
            <a:srgbClr val="2DC4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38927" y="1508760"/>
            <a:ext cx="1965960" cy="233172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5367527" y="1737360"/>
            <a:ext cx="457200" cy="457200"/>
          </a:xfrm>
          <a:prstGeom prst="roundRect">
            <a:avLst>
              <a:gd name="adj" fmla="val 50000"/>
            </a:avLst>
          </a:prstGeom>
          <a:solidFill>
            <a:srgbClr val="0E1828"/>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367527" y="1737360"/>
            <a:ext cx="457200" cy="457200"/>
          </a:xfrm>
          <a:prstGeom prst="rect">
            <a:avLst/>
          </a:prstGeom>
          <a:noFill/>
        </p:spPr>
        <p:txBody>
          <a:bodyPr wrap="square" lIns="0" rIns="0" tIns="0" bIns="0" anchor="ctr">
            <a:spAutoFit/>
          </a:bodyPr>
          <a:lstStyle/>
          <a:p>
            <a:pPr algn="ctr">
              <a:lnSpc>
                <a:spcPct val="100000"/>
              </a:lnSpc>
              <a:spcAft>
                <a:spcPts val="0"/>
              </a:spcAft>
            </a:pPr>
            <a:r>
              <a:rPr sz="1500" b="1" i="0">
                <a:solidFill>
                  <a:srgbClr val="2DC4D3"/>
                </a:solidFill>
                <a:latin typeface="Aptos"/>
              </a:rPr>
              <a:t>3</a:t>
            </a:r>
          </a:p>
        </p:txBody>
      </p:sp>
      <p:sp>
        <p:nvSpPr>
          <p:cNvPr id="22" name="TextBox 21"/>
          <p:cNvSpPr txBox="1"/>
          <p:nvPr/>
        </p:nvSpPr>
        <p:spPr>
          <a:xfrm>
            <a:off x="5367527" y="2377440"/>
            <a:ext cx="1554480" cy="365760"/>
          </a:xfrm>
          <a:prstGeom prst="rect">
            <a:avLst/>
          </a:prstGeom>
          <a:noFill/>
        </p:spPr>
        <p:txBody>
          <a:bodyPr wrap="square" lIns="0" rIns="0" tIns="0" bIns="0" anchor="t">
            <a:spAutoFit/>
          </a:bodyPr>
          <a:lstStyle/>
          <a:p>
            <a:pPr algn="l">
              <a:lnSpc>
                <a:spcPct val="100000"/>
              </a:lnSpc>
              <a:spcAft>
                <a:spcPts val="0"/>
              </a:spcAft>
            </a:pPr>
            <a:r>
              <a:rPr sz="1700" b="1" i="0">
                <a:solidFill>
                  <a:srgbClr val="F5F8FC"/>
                </a:solidFill>
                <a:latin typeface="Aptos"/>
              </a:rPr>
              <a:t>Auto-grade</a:t>
            </a:r>
          </a:p>
        </p:txBody>
      </p:sp>
      <p:sp>
        <p:nvSpPr>
          <p:cNvPr id="23" name="TextBox 22"/>
          <p:cNvSpPr txBox="1"/>
          <p:nvPr/>
        </p:nvSpPr>
        <p:spPr>
          <a:xfrm>
            <a:off x="5367527" y="2816352"/>
            <a:ext cx="1600200" cy="9601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Normalized match against all gold answer aliases</a:t>
            </a:r>
          </a:p>
        </p:txBody>
      </p:sp>
      <p:sp>
        <p:nvSpPr>
          <p:cNvPr id="24" name="Right Arrow 23"/>
          <p:cNvSpPr/>
          <p:nvPr/>
        </p:nvSpPr>
        <p:spPr>
          <a:xfrm>
            <a:off x="7159751" y="2560320"/>
            <a:ext cx="219456" cy="237744"/>
          </a:xfrm>
          <a:prstGeom prst="rightArrow">
            <a:avLst/>
          </a:prstGeom>
          <a:solidFill>
            <a:srgbClr val="2DC4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4071" y="1508760"/>
            <a:ext cx="1965960" cy="233172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7662671" y="1737360"/>
            <a:ext cx="457200" cy="457200"/>
          </a:xfrm>
          <a:prstGeom prst="roundRect">
            <a:avLst>
              <a:gd name="adj" fmla="val 50000"/>
            </a:avLst>
          </a:prstGeom>
          <a:solidFill>
            <a:srgbClr val="0E1828"/>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662671" y="1737360"/>
            <a:ext cx="457200" cy="457200"/>
          </a:xfrm>
          <a:prstGeom prst="rect">
            <a:avLst/>
          </a:prstGeom>
          <a:noFill/>
        </p:spPr>
        <p:txBody>
          <a:bodyPr wrap="square" lIns="0" rIns="0" tIns="0" bIns="0" anchor="ctr">
            <a:spAutoFit/>
          </a:bodyPr>
          <a:lstStyle/>
          <a:p>
            <a:pPr algn="ctr">
              <a:lnSpc>
                <a:spcPct val="100000"/>
              </a:lnSpc>
              <a:spcAft>
                <a:spcPts val="0"/>
              </a:spcAft>
            </a:pPr>
            <a:r>
              <a:rPr sz="1500" b="1" i="0">
                <a:solidFill>
                  <a:srgbClr val="2DC4D3"/>
                </a:solidFill>
                <a:latin typeface="Aptos"/>
              </a:rPr>
              <a:t>4</a:t>
            </a:r>
          </a:p>
        </p:txBody>
      </p:sp>
      <p:sp>
        <p:nvSpPr>
          <p:cNvPr id="28" name="TextBox 27"/>
          <p:cNvSpPr txBox="1"/>
          <p:nvPr/>
        </p:nvSpPr>
        <p:spPr>
          <a:xfrm>
            <a:off x="7662671" y="2377440"/>
            <a:ext cx="1554480" cy="365760"/>
          </a:xfrm>
          <a:prstGeom prst="rect">
            <a:avLst/>
          </a:prstGeom>
          <a:noFill/>
        </p:spPr>
        <p:txBody>
          <a:bodyPr wrap="square" lIns="0" rIns="0" tIns="0" bIns="0" anchor="t">
            <a:spAutoFit/>
          </a:bodyPr>
          <a:lstStyle/>
          <a:p>
            <a:pPr algn="l">
              <a:lnSpc>
                <a:spcPct val="100000"/>
              </a:lnSpc>
              <a:spcAft>
                <a:spcPts val="0"/>
              </a:spcAft>
            </a:pPr>
            <a:r>
              <a:rPr sz="1700" b="1" i="0">
                <a:solidFill>
                  <a:srgbClr val="F5F8FC"/>
                </a:solidFill>
                <a:latin typeface="Aptos"/>
              </a:rPr>
              <a:t>Calibrate</a:t>
            </a:r>
          </a:p>
        </p:txBody>
      </p:sp>
      <p:sp>
        <p:nvSpPr>
          <p:cNvPr id="29" name="TextBox 28"/>
          <p:cNvSpPr txBox="1"/>
          <p:nvPr/>
        </p:nvSpPr>
        <p:spPr>
          <a:xfrm>
            <a:off x="7662671" y="2816352"/>
            <a:ext cx="1600200" cy="9601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Temperature scaling,
5-fold cross-fitted</a:t>
            </a:r>
          </a:p>
        </p:txBody>
      </p:sp>
      <p:sp>
        <p:nvSpPr>
          <p:cNvPr id="30" name="Right Arrow 29"/>
          <p:cNvSpPr/>
          <p:nvPr/>
        </p:nvSpPr>
        <p:spPr>
          <a:xfrm>
            <a:off x="9454896" y="2560320"/>
            <a:ext cx="219456" cy="237744"/>
          </a:xfrm>
          <a:prstGeom prst="rightArrow">
            <a:avLst/>
          </a:prstGeom>
          <a:solidFill>
            <a:srgbClr val="2DC4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729215" y="1508760"/>
            <a:ext cx="1965960" cy="233172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9957815" y="1737360"/>
            <a:ext cx="457200" cy="457200"/>
          </a:xfrm>
          <a:prstGeom prst="roundRect">
            <a:avLst>
              <a:gd name="adj" fmla="val 50000"/>
            </a:avLst>
          </a:prstGeom>
          <a:solidFill>
            <a:srgbClr val="0E1828"/>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57815" y="1737360"/>
            <a:ext cx="457200" cy="457200"/>
          </a:xfrm>
          <a:prstGeom prst="rect">
            <a:avLst/>
          </a:prstGeom>
          <a:noFill/>
        </p:spPr>
        <p:txBody>
          <a:bodyPr wrap="square" lIns="0" rIns="0" tIns="0" bIns="0" anchor="ctr">
            <a:spAutoFit/>
          </a:bodyPr>
          <a:lstStyle/>
          <a:p>
            <a:pPr algn="ctr">
              <a:lnSpc>
                <a:spcPct val="100000"/>
              </a:lnSpc>
              <a:spcAft>
                <a:spcPts val="0"/>
              </a:spcAft>
            </a:pPr>
            <a:r>
              <a:rPr sz="1500" b="1" i="0">
                <a:solidFill>
                  <a:srgbClr val="2DC4D3"/>
                </a:solidFill>
                <a:latin typeface="Aptos"/>
              </a:rPr>
              <a:t>5</a:t>
            </a:r>
          </a:p>
        </p:txBody>
      </p:sp>
      <p:sp>
        <p:nvSpPr>
          <p:cNvPr id="34" name="TextBox 33"/>
          <p:cNvSpPr txBox="1"/>
          <p:nvPr/>
        </p:nvSpPr>
        <p:spPr>
          <a:xfrm>
            <a:off x="9957815" y="2377440"/>
            <a:ext cx="1554480" cy="365760"/>
          </a:xfrm>
          <a:prstGeom prst="rect">
            <a:avLst/>
          </a:prstGeom>
          <a:noFill/>
        </p:spPr>
        <p:txBody>
          <a:bodyPr wrap="square" lIns="0" rIns="0" tIns="0" bIns="0" anchor="t">
            <a:spAutoFit/>
          </a:bodyPr>
          <a:lstStyle/>
          <a:p>
            <a:pPr algn="l">
              <a:lnSpc>
                <a:spcPct val="100000"/>
              </a:lnSpc>
              <a:spcAft>
                <a:spcPts val="0"/>
              </a:spcAft>
            </a:pPr>
            <a:r>
              <a:rPr sz="1700" b="1" i="0">
                <a:solidFill>
                  <a:srgbClr val="F5F8FC"/>
                </a:solidFill>
                <a:latin typeface="Aptos"/>
              </a:rPr>
              <a:t>Measure</a:t>
            </a:r>
          </a:p>
        </p:txBody>
      </p:sp>
      <p:sp>
        <p:nvSpPr>
          <p:cNvPr id="35" name="TextBox 34"/>
          <p:cNvSpPr txBox="1"/>
          <p:nvPr/>
        </p:nvSpPr>
        <p:spPr>
          <a:xfrm>
            <a:off x="9957815" y="2816352"/>
            <a:ext cx="1600200" cy="9601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Accuracy, ECE, Brier, AUROC, risk–coverage</a:t>
            </a:r>
          </a:p>
        </p:txBody>
      </p:sp>
      <p:sp>
        <p:nvSpPr>
          <p:cNvPr id="36" name="Rounded Rectangle 35"/>
          <p:cNvSpPr/>
          <p:nvPr/>
        </p:nvSpPr>
        <p:spPr>
          <a:xfrm>
            <a:off x="548640" y="4160520"/>
            <a:ext cx="5440680" cy="196596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2960" y="4370832"/>
            <a:ext cx="4937760"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WHY THIS MATTERS</a:t>
            </a:r>
          </a:p>
        </p:txBody>
      </p:sp>
      <p:sp>
        <p:nvSpPr>
          <p:cNvPr id="38" name="TextBox 37"/>
          <p:cNvSpPr txBox="1"/>
          <p:nvPr/>
        </p:nvSpPr>
        <p:spPr>
          <a:xfrm>
            <a:off x="822960" y="4736592"/>
            <a:ext cx="4937760" cy="1280160"/>
          </a:xfrm>
          <a:prstGeom prst="rect">
            <a:avLst/>
          </a:prstGeom>
          <a:noFill/>
        </p:spPr>
        <p:txBody>
          <a:bodyPr wrap="square" lIns="0" rIns="0" tIns="0" bIns="0" anchor="t">
            <a:spAutoFit/>
          </a:bodyPr>
          <a:lstStyle/>
          <a:p>
            <a:pPr algn="l">
              <a:lnSpc>
                <a:spcPct val="100000"/>
              </a:lnSpc>
              <a:spcAft>
                <a:spcPts val="600"/>
              </a:spcAft>
            </a:pPr>
            <a:r>
              <a:rPr sz="1350" b="0" i="0">
                <a:solidFill>
                  <a:srgbClr val="F5F8FC"/>
                </a:solidFill>
                <a:latin typeface="Aptos"/>
              </a:rPr>
              <a:t>Same questions, grader and metrics for every method → fair comparison.</a:t>
            </a:r>
          </a:p>
          <a:p>
            <a:pPr algn="l">
              <a:lnSpc>
                <a:spcPct val="100000"/>
              </a:lnSpc>
              <a:spcAft>
                <a:spcPts val="600"/>
              </a:spcAft>
            </a:pPr>
            <a:r>
              <a:rPr sz="1350" b="0" i="0">
                <a:solidFill>
                  <a:srgbClr val="F5F8FC"/>
                </a:solidFill>
                <a:latin typeface="Aptos"/>
              </a:rPr>
              <a:t>Week 3: our triage pipeline plugs in as just one more method.</a:t>
            </a:r>
          </a:p>
        </p:txBody>
      </p:sp>
      <p:sp>
        <p:nvSpPr>
          <p:cNvPr id="39" name="Rounded Rectangle 38"/>
          <p:cNvSpPr/>
          <p:nvPr/>
        </p:nvSpPr>
        <p:spPr>
          <a:xfrm>
            <a:off x="6217920" y="4160520"/>
            <a:ext cx="5440680" cy="1965960"/>
          </a:xfrm>
          <a:prstGeom prst="roundRect">
            <a:avLst>
              <a:gd name="adj" fmla="val 558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92240" y="4370832"/>
            <a:ext cx="4937760" cy="274320"/>
          </a:xfrm>
          <a:prstGeom prst="rect">
            <a:avLst/>
          </a:prstGeom>
          <a:noFill/>
        </p:spPr>
        <p:txBody>
          <a:bodyPr wrap="square" lIns="0" rIns="0" tIns="0" bIns="0" anchor="t">
            <a:spAutoFit/>
          </a:bodyPr>
          <a:lstStyle/>
          <a:p>
            <a:pPr algn="l">
              <a:lnSpc>
                <a:spcPct val="100000"/>
              </a:lnSpc>
              <a:spcAft>
                <a:spcPts val="0"/>
              </a:spcAft>
            </a:pPr>
            <a:r>
              <a:rPr sz="1100" b="1" i="0">
                <a:solidFill>
                  <a:srgbClr val="F2C248"/>
                </a:solidFill>
                <a:latin typeface="Aptos"/>
              </a:rPr>
              <a:t>REPRODUCIBILITY</a:t>
            </a:r>
          </a:p>
        </p:txBody>
      </p:sp>
      <p:sp>
        <p:nvSpPr>
          <p:cNvPr id="41" name="TextBox 40"/>
          <p:cNvSpPr txBox="1"/>
          <p:nvPr/>
        </p:nvSpPr>
        <p:spPr>
          <a:xfrm>
            <a:off x="6492240" y="4736592"/>
            <a:ext cx="4937760" cy="1280160"/>
          </a:xfrm>
          <a:prstGeom prst="rect">
            <a:avLst/>
          </a:prstGeom>
          <a:noFill/>
        </p:spPr>
        <p:txBody>
          <a:bodyPr wrap="square" lIns="0" rIns="0" tIns="0" bIns="0" anchor="t">
            <a:spAutoFit/>
          </a:bodyPr>
          <a:lstStyle/>
          <a:p>
            <a:pPr algn="l">
              <a:lnSpc>
                <a:spcPct val="100000"/>
              </a:lnSpc>
              <a:spcAft>
                <a:spcPts val="600"/>
              </a:spcAft>
            </a:pPr>
            <a:r>
              <a:rPr sz="1350" b="0" i="0">
                <a:solidFill>
                  <a:srgbClr val="F5F8FC"/>
                </a:solidFill>
                <a:latin typeface="Aptos"/>
              </a:rPr>
              <a:t>Every raw model output is logged (one JSON line per question).</a:t>
            </a:r>
          </a:p>
          <a:p>
            <a:pPr algn="l">
              <a:lnSpc>
                <a:spcPct val="100000"/>
              </a:lnSpc>
              <a:spcAft>
                <a:spcPts val="600"/>
              </a:spcAft>
            </a:pPr>
            <a:r>
              <a:rPr sz="1350" b="0" i="0">
                <a:solidFill>
                  <a:srgbClr val="F5F8FC"/>
                </a:solidFill>
                <a:latin typeface="Aptos"/>
              </a:rPr>
              <a:t>Runs are resumable and rate-limit safe; one command re-creates every number and chart.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3. Experimental Setup</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What exactly we ran</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4</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Rounded Rectangle 6"/>
          <p:cNvSpPr/>
          <p:nvPr/>
        </p:nvSpPr>
        <p:spPr>
          <a:xfrm>
            <a:off x="548640" y="141732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167335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DATASET</a:t>
            </a:r>
          </a:p>
        </p:txBody>
      </p:sp>
      <p:sp>
        <p:nvSpPr>
          <p:cNvPr id="9" name="TextBox 8"/>
          <p:cNvSpPr txBox="1"/>
          <p:nvPr/>
        </p:nvSpPr>
        <p:spPr>
          <a:xfrm>
            <a:off x="822959" y="205740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TriviaQA (rc.nocontext, validation)</a:t>
            </a:r>
          </a:p>
        </p:txBody>
      </p:sp>
      <p:sp>
        <p:nvSpPr>
          <p:cNvPr id="10" name="TextBox 9"/>
          <p:cNvSpPr txBox="1"/>
          <p:nvPr/>
        </p:nvSpPr>
        <p:spPr>
          <a:xfrm>
            <a:off x="822959" y="278892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400 questions • random sample (seed 7)</a:t>
            </a:r>
          </a:p>
        </p:txBody>
      </p:sp>
      <p:sp>
        <p:nvSpPr>
          <p:cNvPr id="11" name="Rounded Rectangle 10"/>
          <p:cNvSpPr/>
          <p:nvPr/>
        </p:nvSpPr>
        <p:spPr>
          <a:xfrm>
            <a:off x="4343400" y="141732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167335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MODEL</a:t>
            </a:r>
          </a:p>
        </p:txBody>
      </p:sp>
      <p:sp>
        <p:nvSpPr>
          <p:cNvPr id="13" name="TextBox 12"/>
          <p:cNvSpPr txBox="1"/>
          <p:nvPr/>
        </p:nvSpPr>
        <p:spPr>
          <a:xfrm>
            <a:off x="4617720" y="205740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gpt-4.1-mini</a:t>
            </a:r>
          </a:p>
        </p:txBody>
      </p:sp>
      <p:sp>
        <p:nvSpPr>
          <p:cNvPr id="14" name="TextBox 13"/>
          <p:cNvSpPr txBox="1"/>
          <p:nvPr/>
        </p:nvSpPr>
        <p:spPr>
          <a:xfrm>
            <a:off x="4617720" y="278892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via OpenAI API • token log-probs: not available</a:t>
            </a:r>
          </a:p>
        </p:txBody>
      </p:sp>
      <p:sp>
        <p:nvSpPr>
          <p:cNvPr id="15" name="Rounded Rectangle 14"/>
          <p:cNvSpPr/>
          <p:nvPr/>
        </p:nvSpPr>
        <p:spPr>
          <a:xfrm>
            <a:off x="8138160" y="141732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67335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F2C248"/>
                </a:solidFill>
                <a:latin typeface="Aptos"/>
              </a:rPr>
              <a:t>PROBES PER QUESTION</a:t>
            </a:r>
          </a:p>
        </p:txBody>
      </p:sp>
      <p:sp>
        <p:nvSpPr>
          <p:cNvPr id="17" name="TextBox 16"/>
          <p:cNvSpPr txBox="1"/>
          <p:nvPr/>
        </p:nvSpPr>
        <p:spPr>
          <a:xfrm>
            <a:off x="8412480" y="205740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1 greedy + 5 samples + 1 verbalized</a:t>
            </a:r>
          </a:p>
        </p:txBody>
      </p:sp>
      <p:sp>
        <p:nvSpPr>
          <p:cNvPr id="18" name="TextBox 17"/>
          <p:cNvSpPr txBox="1"/>
          <p:nvPr/>
        </p:nvSpPr>
        <p:spPr>
          <a:xfrm>
            <a:off x="8412480" y="278892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Greedy &amp; verbalized at temperature 0; samples at temperature 1.0</a:t>
            </a:r>
          </a:p>
        </p:txBody>
      </p:sp>
      <p:sp>
        <p:nvSpPr>
          <p:cNvPr id="19" name="Rounded Rectangle 18"/>
          <p:cNvSpPr/>
          <p:nvPr/>
        </p:nvSpPr>
        <p:spPr>
          <a:xfrm>
            <a:off x="548640" y="388620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59" y="414223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F2C248"/>
                </a:solidFill>
                <a:latin typeface="Aptos"/>
              </a:rPr>
              <a:t>GRADING</a:t>
            </a:r>
          </a:p>
        </p:txBody>
      </p:sp>
      <p:sp>
        <p:nvSpPr>
          <p:cNvPr id="21" name="TextBox 20"/>
          <p:cNvSpPr txBox="1"/>
          <p:nvPr/>
        </p:nvSpPr>
        <p:spPr>
          <a:xfrm>
            <a:off x="822959" y="452628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Automatic, lenient alias match</a:t>
            </a:r>
          </a:p>
        </p:txBody>
      </p:sp>
      <p:sp>
        <p:nvSpPr>
          <p:cNvPr id="22" name="TextBox 21"/>
          <p:cNvSpPr txBox="1"/>
          <p:nvPr/>
        </p:nvSpPr>
        <p:spPr>
          <a:xfrm>
            <a:off x="822959" y="525780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Lower-case, strip punctuation/articles; correct if a gold alias appears in the answer</a:t>
            </a:r>
          </a:p>
        </p:txBody>
      </p:sp>
      <p:sp>
        <p:nvSpPr>
          <p:cNvPr id="23" name="Rounded Rectangle 22"/>
          <p:cNvSpPr/>
          <p:nvPr/>
        </p:nvSpPr>
        <p:spPr>
          <a:xfrm>
            <a:off x="4343400" y="388620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17720" y="414223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CALIBRATION</a:t>
            </a:r>
          </a:p>
        </p:txBody>
      </p:sp>
      <p:sp>
        <p:nvSpPr>
          <p:cNvPr id="25" name="TextBox 24"/>
          <p:cNvSpPr txBox="1"/>
          <p:nvPr/>
        </p:nvSpPr>
        <p:spPr>
          <a:xfrm>
            <a:off x="4617720" y="452628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Temperature scaling (1 parameter)</a:t>
            </a:r>
          </a:p>
        </p:txBody>
      </p:sp>
      <p:sp>
        <p:nvSpPr>
          <p:cNvPr id="26" name="TextBox 25"/>
          <p:cNvSpPr txBox="1"/>
          <p:nvPr/>
        </p:nvSpPr>
        <p:spPr>
          <a:xfrm>
            <a:off x="4617720" y="525780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Fitted on 4/5 of questions, applied to the held-out 1/5 (×5 folds)</a:t>
            </a:r>
          </a:p>
        </p:txBody>
      </p:sp>
      <p:sp>
        <p:nvSpPr>
          <p:cNvPr id="27" name="Rounded Rectangle 26"/>
          <p:cNvSpPr/>
          <p:nvPr/>
        </p:nvSpPr>
        <p:spPr>
          <a:xfrm>
            <a:off x="8138160" y="3886200"/>
            <a:ext cx="3566160" cy="2240280"/>
          </a:xfrm>
          <a:prstGeom prst="roundRect">
            <a:avLst>
              <a:gd name="adj" fmla="val 4897"/>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80" y="4142232"/>
            <a:ext cx="3063239"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RUN COST</a:t>
            </a:r>
          </a:p>
        </p:txBody>
      </p:sp>
      <p:sp>
        <p:nvSpPr>
          <p:cNvPr id="29" name="TextBox 28"/>
          <p:cNvSpPr txBox="1"/>
          <p:nvPr/>
        </p:nvSpPr>
        <p:spPr>
          <a:xfrm>
            <a:off x="8412480" y="4526280"/>
            <a:ext cx="3063239" cy="731520"/>
          </a:xfrm>
          <a:prstGeom prst="rect">
            <a:avLst/>
          </a:prstGeom>
          <a:noFill/>
        </p:spPr>
        <p:txBody>
          <a:bodyPr wrap="square" lIns="0" rIns="0" tIns="0" bIns="0" anchor="t">
            <a:spAutoFit/>
          </a:bodyPr>
          <a:lstStyle/>
          <a:p>
            <a:pPr algn="l">
              <a:lnSpc>
                <a:spcPct val="100000"/>
              </a:lnSpc>
              <a:spcAft>
                <a:spcPts val="0"/>
              </a:spcAft>
            </a:pPr>
            <a:r>
              <a:rPr sz="1900" b="1" i="0">
                <a:solidFill>
                  <a:srgbClr val="F5F8FC"/>
                </a:solidFill>
                <a:latin typeface="Aptos"/>
              </a:rPr>
              <a:t>987 API calls</a:t>
            </a:r>
          </a:p>
        </p:txBody>
      </p:sp>
      <p:sp>
        <p:nvSpPr>
          <p:cNvPr id="30" name="TextBox 29"/>
          <p:cNvSpPr txBox="1"/>
          <p:nvPr/>
        </p:nvSpPr>
        <p:spPr>
          <a:xfrm>
            <a:off x="8412480" y="5257800"/>
            <a:ext cx="3063239" cy="777240"/>
          </a:xfrm>
          <a:prstGeom prst="rect">
            <a:avLst/>
          </a:prstGeom>
          <a:noFill/>
        </p:spPr>
        <p:txBody>
          <a:bodyPr wrap="square" lIns="0" rIns="0" tIns="0" bIns="0" anchor="t">
            <a:spAutoFit/>
          </a:bodyPr>
          <a:lstStyle/>
          <a:p>
            <a:pPr algn="l">
              <a:lnSpc>
                <a:spcPct val="100000"/>
              </a:lnSpc>
              <a:spcAft>
                <a:spcPts val="0"/>
              </a:spcAft>
            </a:pPr>
            <a:r>
              <a:rPr sz="1350" b="0" i="0">
                <a:solidFill>
                  <a:srgbClr val="B0BED2"/>
                </a:solidFill>
                <a:latin typeface="Aptos"/>
              </a:rPr>
              <a:t>≈ 89,559 tokens • 2 min wall-clock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4. Confidence Signals Compared</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Every method attaches a confidence score in [0, 1] to an answer</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5</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TextBox 6"/>
          <p:cNvSpPr txBox="1"/>
          <p:nvPr/>
        </p:nvSpPr>
        <p:spPr>
          <a:xfrm>
            <a:off x="731520" y="1463040"/>
            <a:ext cx="3017520" cy="274320"/>
          </a:xfrm>
          <a:prstGeom prst="rect">
            <a:avLst/>
          </a:prstGeom>
          <a:noFill/>
        </p:spPr>
        <p:txBody>
          <a:bodyPr wrap="square" lIns="0" rIns="0" tIns="0" bIns="0" anchor="t">
            <a:spAutoFit/>
          </a:bodyPr>
          <a:lstStyle/>
          <a:p>
            <a:pPr algn="l">
              <a:lnSpc>
                <a:spcPct val="100000"/>
              </a:lnSpc>
              <a:spcAft>
                <a:spcPts val="0"/>
              </a:spcAft>
            </a:pPr>
            <a:r>
              <a:rPr sz="1050" b="1" i="0">
                <a:solidFill>
                  <a:srgbClr val="B0BED2"/>
                </a:solidFill>
                <a:latin typeface="Aptos"/>
              </a:rPr>
              <a:t>METHOD</a:t>
            </a:r>
          </a:p>
        </p:txBody>
      </p:sp>
      <p:sp>
        <p:nvSpPr>
          <p:cNvPr id="8" name="TextBox 7"/>
          <p:cNvSpPr txBox="1"/>
          <p:nvPr/>
        </p:nvSpPr>
        <p:spPr>
          <a:xfrm>
            <a:off x="3840480" y="1463040"/>
            <a:ext cx="6035040" cy="274320"/>
          </a:xfrm>
          <a:prstGeom prst="rect">
            <a:avLst/>
          </a:prstGeom>
          <a:noFill/>
        </p:spPr>
        <p:txBody>
          <a:bodyPr wrap="square" lIns="0" rIns="0" tIns="0" bIns="0" anchor="t">
            <a:spAutoFit/>
          </a:bodyPr>
          <a:lstStyle/>
          <a:p>
            <a:pPr algn="l">
              <a:lnSpc>
                <a:spcPct val="100000"/>
              </a:lnSpc>
              <a:spcAft>
                <a:spcPts val="0"/>
              </a:spcAft>
            </a:pPr>
            <a:r>
              <a:rPr sz="1050" b="1" i="0">
                <a:solidFill>
                  <a:srgbClr val="B0BED2"/>
                </a:solidFill>
                <a:latin typeface="Aptos"/>
              </a:rPr>
              <a:t>HOW THE CONFIDENCE IS OBTAINED</a:t>
            </a:r>
          </a:p>
        </p:txBody>
      </p:sp>
      <p:sp>
        <p:nvSpPr>
          <p:cNvPr id="9" name="TextBox 8"/>
          <p:cNvSpPr txBox="1"/>
          <p:nvPr/>
        </p:nvSpPr>
        <p:spPr>
          <a:xfrm>
            <a:off x="10012680" y="1463040"/>
            <a:ext cx="1828800" cy="274320"/>
          </a:xfrm>
          <a:prstGeom prst="rect">
            <a:avLst/>
          </a:prstGeom>
          <a:noFill/>
        </p:spPr>
        <p:txBody>
          <a:bodyPr wrap="square" lIns="0" rIns="0" tIns="0" bIns="0" anchor="t">
            <a:spAutoFit/>
          </a:bodyPr>
          <a:lstStyle/>
          <a:p>
            <a:pPr algn="l">
              <a:lnSpc>
                <a:spcPct val="100000"/>
              </a:lnSpc>
              <a:spcAft>
                <a:spcPts val="0"/>
              </a:spcAft>
            </a:pPr>
            <a:r>
              <a:rPr sz="1050" b="1" i="0">
                <a:solidFill>
                  <a:srgbClr val="B0BED2"/>
                </a:solidFill>
                <a:latin typeface="Aptos"/>
              </a:rPr>
              <a:t>GENERATIONS / Q</a:t>
            </a:r>
          </a:p>
        </p:txBody>
      </p:sp>
      <p:sp>
        <p:nvSpPr>
          <p:cNvPr id="10" name="Rounded Rectangle 9"/>
          <p:cNvSpPr/>
          <p:nvPr/>
        </p:nvSpPr>
        <p:spPr>
          <a:xfrm>
            <a:off x="548640" y="1828800"/>
            <a:ext cx="11109960" cy="804672"/>
          </a:xfrm>
          <a:prstGeom prst="roundRect">
            <a:avLst>
              <a:gd name="adj" fmla="val 13636"/>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48640" y="1828800"/>
            <a:ext cx="82296" cy="804672"/>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1828800"/>
            <a:ext cx="2834640" cy="804672"/>
          </a:xfrm>
          <a:prstGeom prst="rect">
            <a:avLst/>
          </a:prstGeom>
          <a:noFill/>
        </p:spPr>
        <p:txBody>
          <a:bodyPr wrap="square" lIns="0" rIns="0" tIns="0" bIns="0" anchor="ctr">
            <a:spAutoFit/>
          </a:bodyPr>
          <a:lstStyle/>
          <a:p>
            <a:pPr algn="l">
              <a:lnSpc>
                <a:spcPct val="100000"/>
              </a:lnSpc>
              <a:spcAft>
                <a:spcPts val="0"/>
              </a:spcAft>
            </a:pPr>
            <a:r>
              <a:rPr sz="1450" b="1" i="0">
                <a:solidFill>
                  <a:srgbClr val="F5F8FC"/>
                </a:solidFill>
                <a:latin typeface="Aptos"/>
              </a:rPr>
              <a:t>Verbalized confidence</a:t>
            </a:r>
          </a:p>
        </p:txBody>
      </p:sp>
      <p:sp>
        <p:nvSpPr>
          <p:cNvPr id="13" name="TextBox 12"/>
          <p:cNvSpPr txBox="1"/>
          <p:nvPr/>
        </p:nvSpPr>
        <p:spPr>
          <a:xfrm>
            <a:off x="3840480" y="1828800"/>
            <a:ext cx="5852160" cy="804672"/>
          </a:xfrm>
          <a:prstGeom prst="rect">
            <a:avLst/>
          </a:prstGeom>
          <a:noFill/>
        </p:spPr>
        <p:txBody>
          <a:bodyPr wrap="square" lIns="0" rIns="0" tIns="0" bIns="0" anchor="ctr">
            <a:spAutoFit/>
          </a:bodyPr>
          <a:lstStyle/>
          <a:p>
            <a:pPr algn="l">
              <a:lnSpc>
                <a:spcPct val="100000"/>
              </a:lnSpc>
              <a:spcAft>
                <a:spcPts val="0"/>
              </a:spcAft>
            </a:pPr>
            <a:r>
              <a:rPr sz="1250" b="0" i="0">
                <a:solidFill>
                  <a:srgbClr val="B0BED2"/>
                </a:solidFill>
                <a:latin typeface="Aptos"/>
              </a:rPr>
              <a:t>Model states 'Confidence: NN%' with its answer</a:t>
            </a:r>
          </a:p>
        </p:txBody>
      </p:sp>
      <p:sp>
        <p:nvSpPr>
          <p:cNvPr id="14" name="TextBox 13"/>
          <p:cNvSpPr txBox="1"/>
          <p:nvPr/>
        </p:nvSpPr>
        <p:spPr>
          <a:xfrm>
            <a:off x="9829800" y="1828800"/>
            <a:ext cx="1828800" cy="804672"/>
          </a:xfrm>
          <a:prstGeom prst="rect">
            <a:avLst/>
          </a:prstGeom>
          <a:noFill/>
        </p:spPr>
        <p:txBody>
          <a:bodyPr wrap="square" lIns="0" rIns="0" tIns="0" bIns="0" anchor="ctr">
            <a:spAutoFit/>
          </a:bodyPr>
          <a:lstStyle/>
          <a:p>
            <a:pPr algn="ctr">
              <a:lnSpc>
                <a:spcPct val="100000"/>
              </a:lnSpc>
              <a:spcAft>
                <a:spcPts val="0"/>
              </a:spcAft>
            </a:pPr>
            <a:r>
              <a:rPr sz="1500" b="1" i="0">
                <a:solidFill>
                  <a:srgbClr val="F5F8FC"/>
                </a:solidFill>
                <a:latin typeface="Aptos"/>
              </a:rPr>
              <a:t>1</a:t>
            </a:r>
          </a:p>
        </p:txBody>
      </p:sp>
      <p:sp>
        <p:nvSpPr>
          <p:cNvPr id="15" name="Rounded Rectangle 14"/>
          <p:cNvSpPr/>
          <p:nvPr/>
        </p:nvSpPr>
        <p:spPr>
          <a:xfrm>
            <a:off x="548640" y="2743200"/>
            <a:ext cx="11109960" cy="804672"/>
          </a:xfrm>
          <a:prstGeom prst="roundRect">
            <a:avLst>
              <a:gd name="adj" fmla="val 13636"/>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48640" y="2743200"/>
            <a:ext cx="82296" cy="804672"/>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2743200"/>
            <a:ext cx="2834640" cy="804672"/>
          </a:xfrm>
          <a:prstGeom prst="rect">
            <a:avLst/>
          </a:prstGeom>
          <a:noFill/>
        </p:spPr>
        <p:txBody>
          <a:bodyPr wrap="square" lIns="0" rIns="0" tIns="0" bIns="0" anchor="ctr">
            <a:spAutoFit/>
          </a:bodyPr>
          <a:lstStyle/>
          <a:p>
            <a:pPr algn="l">
              <a:lnSpc>
                <a:spcPct val="100000"/>
              </a:lnSpc>
              <a:spcAft>
                <a:spcPts val="0"/>
              </a:spcAft>
            </a:pPr>
            <a:r>
              <a:rPr sz="1450" b="1" i="0">
                <a:solidFill>
                  <a:srgbClr val="F5F8FC"/>
                </a:solidFill>
                <a:latin typeface="Aptos"/>
              </a:rPr>
              <a:t>Verbalized + TS</a:t>
            </a:r>
          </a:p>
        </p:txBody>
      </p:sp>
      <p:sp>
        <p:nvSpPr>
          <p:cNvPr id="18" name="TextBox 17"/>
          <p:cNvSpPr txBox="1"/>
          <p:nvPr/>
        </p:nvSpPr>
        <p:spPr>
          <a:xfrm>
            <a:off x="3840480" y="2743200"/>
            <a:ext cx="5852160" cy="804672"/>
          </a:xfrm>
          <a:prstGeom prst="rect">
            <a:avLst/>
          </a:prstGeom>
          <a:noFill/>
        </p:spPr>
        <p:txBody>
          <a:bodyPr wrap="square" lIns="0" rIns="0" tIns="0" bIns="0" anchor="ctr">
            <a:spAutoFit/>
          </a:bodyPr>
          <a:lstStyle/>
          <a:p>
            <a:pPr algn="l">
              <a:lnSpc>
                <a:spcPct val="100000"/>
              </a:lnSpc>
              <a:spcAft>
                <a:spcPts val="0"/>
              </a:spcAft>
            </a:pPr>
            <a:r>
              <a:rPr sz="1250" b="0" i="0">
                <a:solidFill>
                  <a:srgbClr val="B0BED2"/>
                </a:solidFill>
                <a:latin typeface="Aptos"/>
              </a:rPr>
              <a:t>Verbalized confidence rescaled by temperature scaling (median T = 4.28, 5-fold CV)</a:t>
            </a:r>
          </a:p>
        </p:txBody>
      </p:sp>
      <p:sp>
        <p:nvSpPr>
          <p:cNvPr id="19" name="TextBox 18"/>
          <p:cNvSpPr txBox="1"/>
          <p:nvPr/>
        </p:nvSpPr>
        <p:spPr>
          <a:xfrm>
            <a:off x="9829800" y="2743200"/>
            <a:ext cx="1828800" cy="804672"/>
          </a:xfrm>
          <a:prstGeom prst="rect">
            <a:avLst/>
          </a:prstGeom>
          <a:noFill/>
        </p:spPr>
        <p:txBody>
          <a:bodyPr wrap="square" lIns="0" rIns="0" tIns="0" bIns="0" anchor="ctr">
            <a:spAutoFit/>
          </a:bodyPr>
          <a:lstStyle/>
          <a:p>
            <a:pPr algn="ctr">
              <a:lnSpc>
                <a:spcPct val="100000"/>
              </a:lnSpc>
              <a:spcAft>
                <a:spcPts val="0"/>
              </a:spcAft>
            </a:pPr>
            <a:r>
              <a:rPr sz="1500" b="1" i="0">
                <a:solidFill>
                  <a:srgbClr val="F5F8FC"/>
                </a:solidFill>
                <a:latin typeface="Aptos"/>
              </a:rPr>
              <a:t>1</a:t>
            </a:r>
          </a:p>
        </p:txBody>
      </p:sp>
      <p:sp>
        <p:nvSpPr>
          <p:cNvPr id="20" name="Rounded Rectangle 19"/>
          <p:cNvSpPr/>
          <p:nvPr/>
        </p:nvSpPr>
        <p:spPr>
          <a:xfrm>
            <a:off x="548640" y="3657600"/>
            <a:ext cx="11109960" cy="804672"/>
          </a:xfrm>
          <a:prstGeom prst="roundRect">
            <a:avLst>
              <a:gd name="adj" fmla="val 13636"/>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3657600"/>
            <a:ext cx="82296" cy="804672"/>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3657600"/>
            <a:ext cx="2834640" cy="804672"/>
          </a:xfrm>
          <a:prstGeom prst="rect">
            <a:avLst/>
          </a:prstGeom>
          <a:noFill/>
        </p:spPr>
        <p:txBody>
          <a:bodyPr wrap="square" lIns="0" rIns="0" tIns="0" bIns="0" anchor="ctr">
            <a:spAutoFit/>
          </a:bodyPr>
          <a:lstStyle/>
          <a:p>
            <a:pPr algn="l">
              <a:lnSpc>
                <a:spcPct val="100000"/>
              </a:lnSpc>
              <a:spcAft>
                <a:spcPts val="0"/>
              </a:spcAft>
            </a:pPr>
            <a:r>
              <a:rPr sz="1450" b="1" i="0">
                <a:solidFill>
                  <a:srgbClr val="F5F8FC"/>
                </a:solidFill>
                <a:latin typeface="Aptos"/>
              </a:rPr>
              <a:t>Self-consistency (k=5)</a:t>
            </a:r>
          </a:p>
        </p:txBody>
      </p:sp>
      <p:sp>
        <p:nvSpPr>
          <p:cNvPr id="23" name="TextBox 22"/>
          <p:cNvSpPr txBox="1"/>
          <p:nvPr/>
        </p:nvSpPr>
        <p:spPr>
          <a:xfrm>
            <a:off x="3840480" y="3657600"/>
            <a:ext cx="5852160" cy="804672"/>
          </a:xfrm>
          <a:prstGeom prst="rect">
            <a:avLst/>
          </a:prstGeom>
          <a:noFill/>
        </p:spPr>
        <p:txBody>
          <a:bodyPr wrap="square" lIns="0" rIns="0" tIns="0" bIns="0" anchor="ctr">
            <a:spAutoFit/>
          </a:bodyPr>
          <a:lstStyle/>
          <a:p>
            <a:pPr algn="l">
              <a:lnSpc>
                <a:spcPct val="100000"/>
              </a:lnSpc>
              <a:spcAft>
                <a:spcPts val="0"/>
              </a:spcAft>
            </a:pPr>
            <a:r>
              <a:rPr sz="1250" b="0" i="0">
                <a:solidFill>
                  <a:srgbClr val="B0BED2"/>
                </a:solidFill>
                <a:latin typeface="Aptos"/>
              </a:rPr>
              <a:t>Share of 5 samples (temperature 1.0) that agree with the greedy answer</a:t>
            </a:r>
          </a:p>
        </p:txBody>
      </p:sp>
      <p:sp>
        <p:nvSpPr>
          <p:cNvPr id="24" name="TextBox 23"/>
          <p:cNvSpPr txBox="1"/>
          <p:nvPr/>
        </p:nvSpPr>
        <p:spPr>
          <a:xfrm>
            <a:off x="9829800" y="3657600"/>
            <a:ext cx="1828800" cy="804672"/>
          </a:xfrm>
          <a:prstGeom prst="rect">
            <a:avLst/>
          </a:prstGeom>
          <a:noFill/>
        </p:spPr>
        <p:txBody>
          <a:bodyPr wrap="square" lIns="0" rIns="0" tIns="0" bIns="0" anchor="ctr">
            <a:spAutoFit/>
          </a:bodyPr>
          <a:lstStyle/>
          <a:p>
            <a:pPr algn="ctr">
              <a:lnSpc>
                <a:spcPct val="100000"/>
              </a:lnSpc>
              <a:spcAft>
                <a:spcPts val="0"/>
              </a:spcAft>
            </a:pPr>
            <a:r>
              <a:rPr sz="1500" b="1" i="0">
                <a:solidFill>
                  <a:srgbClr val="F5F8FC"/>
                </a:solidFill>
                <a:latin typeface="Aptos"/>
              </a:rPr>
              <a:t>6</a:t>
            </a:r>
          </a:p>
        </p:txBody>
      </p:sp>
      <p:sp>
        <p:nvSpPr>
          <p:cNvPr id="25" name="TextBox 24"/>
          <p:cNvSpPr txBox="1"/>
          <p:nvPr/>
        </p:nvSpPr>
        <p:spPr>
          <a:xfrm>
            <a:off x="548640" y="5961888"/>
            <a:ext cx="11064240" cy="320040"/>
          </a:xfrm>
          <a:prstGeom prst="rect">
            <a:avLst/>
          </a:prstGeom>
          <a:noFill/>
        </p:spPr>
        <p:txBody>
          <a:bodyPr wrap="square" lIns="0" rIns="0" tIns="0" bIns="0" anchor="t">
            <a:spAutoFit/>
          </a:bodyPr>
          <a:lstStyle/>
          <a:p>
            <a:pPr algn="l">
              <a:lnSpc>
                <a:spcPct val="100000"/>
              </a:lnSpc>
              <a:spcAft>
                <a:spcPts val="0"/>
              </a:spcAft>
            </a:pPr>
            <a:r>
              <a:rPr sz="1250" b="1" i="0">
                <a:solidFill>
                  <a:srgbClr val="2DC4D3"/>
                </a:solidFill>
                <a:latin typeface="Aptos"/>
              </a:rPr>
              <a:t>Temperature scaling: </a:t>
            </a:r>
            <a:r>
              <a:rPr sz="1250" b="0" i="0">
                <a:solidFill>
                  <a:srgbClr val="F5F8FC"/>
                </a:solidFill>
                <a:latin typeface="Aptos"/>
              </a:rPr>
              <a:t>calibrated = σ( logit(p) / T ).  T &gt; 1 softens over-confident scores; T is learned from held-out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5. Headline Results</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400 questions • gpt-4.1-mini • TriviaQA</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6</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TextBox 6"/>
          <p:cNvSpPr txBox="1"/>
          <p:nvPr/>
        </p:nvSpPr>
        <p:spPr>
          <a:xfrm>
            <a:off x="731520" y="1417320"/>
            <a:ext cx="2971800" cy="274320"/>
          </a:xfrm>
          <a:prstGeom prst="rect">
            <a:avLst/>
          </a:prstGeom>
          <a:noFill/>
        </p:spPr>
        <p:txBody>
          <a:bodyPr wrap="square" lIns="0" rIns="0" tIns="0" bIns="0" anchor="t">
            <a:spAutoFit/>
          </a:bodyPr>
          <a:lstStyle/>
          <a:p>
            <a:pPr algn="l">
              <a:lnSpc>
                <a:spcPct val="100000"/>
              </a:lnSpc>
              <a:spcAft>
                <a:spcPts val="0"/>
              </a:spcAft>
            </a:pPr>
            <a:r>
              <a:rPr sz="1100" b="1" i="0">
                <a:solidFill>
                  <a:srgbClr val="B0BED2"/>
                </a:solidFill>
                <a:latin typeface="Aptos"/>
              </a:rPr>
              <a:t>Method</a:t>
            </a:r>
          </a:p>
        </p:txBody>
      </p:sp>
      <p:sp>
        <p:nvSpPr>
          <p:cNvPr id="8" name="TextBox 7"/>
          <p:cNvSpPr txBox="1"/>
          <p:nvPr/>
        </p:nvSpPr>
        <p:spPr>
          <a:xfrm>
            <a:off x="3520440" y="1417320"/>
            <a:ext cx="118872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Accuracy</a:t>
            </a:r>
          </a:p>
        </p:txBody>
      </p:sp>
      <p:sp>
        <p:nvSpPr>
          <p:cNvPr id="9" name="TextBox 8"/>
          <p:cNvSpPr txBox="1"/>
          <p:nvPr/>
        </p:nvSpPr>
        <p:spPr>
          <a:xfrm>
            <a:off x="4709160" y="1417320"/>
            <a:ext cx="118872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Avg. conf.</a:t>
            </a:r>
          </a:p>
        </p:txBody>
      </p:sp>
      <p:sp>
        <p:nvSpPr>
          <p:cNvPr id="10" name="TextBox 9"/>
          <p:cNvSpPr txBox="1"/>
          <p:nvPr/>
        </p:nvSpPr>
        <p:spPr>
          <a:xfrm>
            <a:off x="5897880" y="1417320"/>
            <a:ext cx="118872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ECE ↓</a:t>
            </a:r>
          </a:p>
        </p:txBody>
      </p:sp>
      <p:sp>
        <p:nvSpPr>
          <p:cNvPr id="11" name="TextBox 10"/>
          <p:cNvSpPr txBox="1"/>
          <p:nvPr/>
        </p:nvSpPr>
        <p:spPr>
          <a:xfrm>
            <a:off x="7086600" y="1417320"/>
            <a:ext cx="118872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Brier ↓</a:t>
            </a:r>
          </a:p>
        </p:txBody>
      </p:sp>
      <p:sp>
        <p:nvSpPr>
          <p:cNvPr id="12" name="TextBox 11"/>
          <p:cNvSpPr txBox="1"/>
          <p:nvPr/>
        </p:nvSpPr>
        <p:spPr>
          <a:xfrm>
            <a:off x="8275320" y="1417320"/>
            <a:ext cx="118872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AUROC ↑</a:t>
            </a:r>
          </a:p>
        </p:txBody>
      </p:sp>
      <p:sp>
        <p:nvSpPr>
          <p:cNvPr id="13" name="TextBox 12"/>
          <p:cNvSpPr txBox="1"/>
          <p:nvPr/>
        </p:nvSpPr>
        <p:spPr>
          <a:xfrm>
            <a:off x="9464040" y="1417320"/>
            <a:ext cx="2194560" cy="274320"/>
          </a:xfrm>
          <a:prstGeom prst="rect">
            <a:avLst/>
          </a:prstGeom>
          <a:noFill/>
        </p:spPr>
        <p:txBody>
          <a:bodyPr wrap="square" lIns="0" rIns="0" tIns="0" bIns="0" anchor="t">
            <a:spAutoFit/>
          </a:bodyPr>
          <a:lstStyle/>
          <a:p>
            <a:pPr algn="ctr">
              <a:lnSpc>
                <a:spcPct val="100000"/>
              </a:lnSpc>
              <a:spcAft>
                <a:spcPts val="0"/>
              </a:spcAft>
            </a:pPr>
            <a:r>
              <a:rPr sz="1100" b="1" i="0">
                <a:solidFill>
                  <a:srgbClr val="B0BED2"/>
                </a:solidFill>
                <a:latin typeface="Aptos"/>
              </a:rPr>
              <a:t>Wrong but ≥90% conf. ↓</a:t>
            </a:r>
          </a:p>
        </p:txBody>
      </p:sp>
      <p:sp>
        <p:nvSpPr>
          <p:cNvPr id="14" name="Rounded Rectangle 13"/>
          <p:cNvSpPr/>
          <p:nvPr/>
        </p:nvSpPr>
        <p:spPr>
          <a:xfrm>
            <a:off x="548640" y="1783080"/>
            <a:ext cx="11109960" cy="457200"/>
          </a:xfrm>
          <a:prstGeom prst="roundRect">
            <a:avLst>
              <a:gd name="adj" fmla="val 240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48640" y="1783080"/>
            <a:ext cx="82296" cy="45720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1783080"/>
            <a:ext cx="2743200" cy="457200"/>
          </a:xfrm>
          <a:prstGeom prst="rect">
            <a:avLst/>
          </a:prstGeom>
          <a:noFill/>
        </p:spPr>
        <p:txBody>
          <a:bodyPr wrap="square" lIns="0" rIns="0" tIns="0" bIns="0" anchor="ctr">
            <a:spAutoFit/>
          </a:bodyPr>
          <a:lstStyle/>
          <a:p>
            <a:pPr algn="l">
              <a:lnSpc>
                <a:spcPct val="100000"/>
              </a:lnSpc>
              <a:spcAft>
                <a:spcPts val="0"/>
              </a:spcAft>
            </a:pPr>
            <a:r>
              <a:rPr sz="1350" b="1" i="0">
                <a:solidFill>
                  <a:srgbClr val="F5F8FC"/>
                </a:solidFill>
                <a:latin typeface="Aptos"/>
              </a:rPr>
              <a:t>Verbalized confidence</a:t>
            </a:r>
          </a:p>
        </p:txBody>
      </p:sp>
      <p:sp>
        <p:nvSpPr>
          <p:cNvPr id="17" name="TextBox 16"/>
          <p:cNvSpPr txBox="1"/>
          <p:nvPr/>
        </p:nvSpPr>
        <p:spPr>
          <a:xfrm>
            <a:off x="3520440" y="1783080"/>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82.0%</a:t>
            </a:r>
          </a:p>
        </p:txBody>
      </p:sp>
      <p:sp>
        <p:nvSpPr>
          <p:cNvPr id="18" name="TextBox 17"/>
          <p:cNvSpPr txBox="1"/>
          <p:nvPr/>
        </p:nvSpPr>
        <p:spPr>
          <a:xfrm>
            <a:off x="4709160" y="1783080"/>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95.8%</a:t>
            </a:r>
          </a:p>
        </p:txBody>
      </p:sp>
      <p:sp>
        <p:nvSpPr>
          <p:cNvPr id="19" name="TextBox 18"/>
          <p:cNvSpPr txBox="1"/>
          <p:nvPr/>
        </p:nvSpPr>
        <p:spPr>
          <a:xfrm>
            <a:off x="5897880" y="1783080"/>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0.138</a:t>
            </a:r>
          </a:p>
        </p:txBody>
      </p:sp>
      <p:sp>
        <p:nvSpPr>
          <p:cNvPr id="20" name="TextBox 19"/>
          <p:cNvSpPr txBox="1"/>
          <p:nvPr/>
        </p:nvSpPr>
        <p:spPr>
          <a:xfrm>
            <a:off x="7086600" y="1783080"/>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0.152</a:t>
            </a:r>
          </a:p>
        </p:txBody>
      </p:sp>
      <p:sp>
        <p:nvSpPr>
          <p:cNvPr id="21" name="TextBox 20"/>
          <p:cNvSpPr txBox="1"/>
          <p:nvPr/>
        </p:nvSpPr>
        <p:spPr>
          <a:xfrm>
            <a:off x="8275320" y="1783080"/>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0.77</a:t>
            </a:r>
          </a:p>
        </p:txBody>
      </p:sp>
      <p:sp>
        <p:nvSpPr>
          <p:cNvPr id="22" name="TextBox 21"/>
          <p:cNvSpPr txBox="1"/>
          <p:nvPr/>
        </p:nvSpPr>
        <p:spPr>
          <a:xfrm>
            <a:off x="9464040" y="1783080"/>
            <a:ext cx="219456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81.9%</a:t>
            </a:r>
          </a:p>
        </p:txBody>
      </p:sp>
      <p:sp>
        <p:nvSpPr>
          <p:cNvPr id="23" name="Rounded Rectangle 22"/>
          <p:cNvSpPr/>
          <p:nvPr/>
        </p:nvSpPr>
        <p:spPr>
          <a:xfrm>
            <a:off x="548640" y="2313432"/>
            <a:ext cx="11109960" cy="457200"/>
          </a:xfrm>
          <a:prstGeom prst="roundRect">
            <a:avLst>
              <a:gd name="adj" fmla="val 24000"/>
            </a:avLst>
          </a:prstGeom>
          <a:solidFill>
            <a:srgbClr val="16243A"/>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2313432"/>
            <a:ext cx="82296" cy="45720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2313432"/>
            <a:ext cx="2743200" cy="457200"/>
          </a:xfrm>
          <a:prstGeom prst="rect">
            <a:avLst/>
          </a:prstGeom>
          <a:noFill/>
        </p:spPr>
        <p:txBody>
          <a:bodyPr wrap="square" lIns="0" rIns="0" tIns="0" bIns="0" anchor="ctr">
            <a:spAutoFit/>
          </a:bodyPr>
          <a:lstStyle/>
          <a:p>
            <a:pPr algn="l">
              <a:lnSpc>
                <a:spcPct val="100000"/>
              </a:lnSpc>
              <a:spcAft>
                <a:spcPts val="0"/>
              </a:spcAft>
            </a:pPr>
            <a:r>
              <a:rPr sz="1350" b="1" i="0">
                <a:solidFill>
                  <a:srgbClr val="F5F8FC"/>
                </a:solidFill>
                <a:latin typeface="Aptos"/>
              </a:rPr>
              <a:t>Verbalized + TS</a:t>
            </a:r>
          </a:p>
        </p:txBody>
      </p:sp>
      <p:sp>
        <p:nvSpPr>
          <p:cNvPr id="26" name="TextBox 25"/>
          <p:cNvSpPr txBox="1"/>
          <p:nvPr/>
        </p:nvSpPr>
        <p:spPr>
          <a:xfrm>
            <a:off x="3520440" y="2313432"/>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82.0%</a:t>
            </a:r>
          </a:p>
        </p:txBody>
      </p:sp>
      <p:sp>
        <p:nvSpPr>
          <p:cNvPr id="27" name="TextBox 26"/>
          <p:cNvSpPr txBox="1"/>
          <p:nvPr/>
        </p:nvSpPr>
        <p:spPr>
          <a:xfrm>
            <a:off x="4709160" y="2313432"/>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78.5%</a:t>
            </a:r>
          </a:p>
        </p:txBody>
      </p:sp>
      <p:sp>
        <p:nvSpPr>
          <p:cNvPr id="28" name="TextBox 27"/>
          <p:cNvSpPr txBox="1"/>
          <p:nvPr/>
        </p:nvSpPr>
        <p:spPr>
          <a:xfrm>
            <a:off x="5897880" y="2313432"/>
            <a:ext cx="1188720" cy="457200"/>
          </a:xfrm>
          <a:prstGeom prst="rect">
            <a:avLst/>
          </a:prstGeom>
          <a:noFill/>
        </p:spPr>
        <p:txBody>
          <a:bodyPr wrap="square" lIns="0" rIns="0" tIns="0" bIns="0" anchor="ctr">
            <a:spAutoFit/>
          </a:bodyPr>
          <a:lstStyle/>
          <a:p>
            <a:pPr algn="ctr">
              <a:lnSpc>
                <a:spcPct val="100000"/>
              </a:lnSpc>
              <a:spcAft>
                <a:spcPts val="0"/>
              </a:spcAft>
            </a:pPr>
            <a:r>
              <a:rPr sz="1400" b="1" i="0">
                <a:solidFill>
                  <a:srgbClr val="5CC98B"/>
                </a:solidFill>
                <a:latin typeface="Aptos"/>
              </a:rPr>
              <a:t>0.081</a:t>
            </a:r>
          </a:p>
        </p:txBody>
      </p:sp>
      <p:sp>
        <p:nvSpPr>
          <p:cNvPr id="29" name="TextBox 28"/>
          <p:cNvSpPr txBox="1"/>
          <p:nvPr/>
        </p:nvSpPr>
        <p:spPr>
          <a:xfrm>
            <a:off x="7086600" y="2313432"/>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0.137</a:t>
            </a:r>
          </a:p>
        </p:txBody>
      </p:sp>
      <p:sp>
        <p:nvSpPr>
          <p:cNvPr id="30" name="TextBox 29"/>
          <p:cNvSpPr txBox="1"/>
          <p:nvPr/>
        </p:nvSpPr>
        <p:spPr>
          <a:xfrm>
            <a:off x="8275320" y="2313432"/>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0.76</a:t>
            </a:r>
          </a:p>
        </p:txBody>
      </p:sp>
      <p:sp>
        <p:nvSpPr>
          <p:cNvPr id="31" name="TextBox 30"/>
          <p:cNvSpPr txBox="1"/>
          <p:nvPr/>
        </p:nvSpPr>
        <p:spPr>
          <a:xfrm>
            <a:off x="9464040" y="2313432"/>
            <a:ext cx="2194560" cy="457200"/>
          </a:xfrm>
          <a:prstGeom prst="rect">
            <a:avLst/>
          </a:prstGeom>
          <a:noFill/>
        </p:spPr>
        <p:txBody>
          <a:bodyPr wrap="square" lIns="0" rIns="0" tIns="0" bIns="0" anchor="ctr">
            <a:spAutoFit/>
          </a:bodyPr>
          <a:lstStyle/>
          <a:p>
            <a:pPr algn="ctr">
              <a:lnSpc>
                <a:spcPct val="100000"/>
              </a:lnSpc>
              <a:spcAft>
                <a:spcPts val="0"/>
              </a:spcAft>
            </a:pPr>
            <a:r>
              <a:rPr sz="1400" b="1" i="0">
                <a:solidFill>
                  <a:srgbClr val="5CC98B"/>
                </a:solidFill>
                <a:latin typeface="Aptos"/>
              </a:rPr>
              <a:t>16.7%</a:t>
            </a:r>
          </a:p>
        </p:txBody>
      </p:sp>
      <p:sp>
        <p:nvSpPr>
          <p:cNvPr id="32" name="Rounded Rectangle 31"/>
          <p:cNvSpPr/>
          <p:nvPr/>
        </p:nvSpPr>
        <p:spPr>
          <a:xfrm>
            <a:off x="548640" y="2843784"/>
            <a:ext cx="11109960" cy="457200"/>
          </a:xfrm>
          <a:prstGeom prst="roundRect">
            <a:avLst>
              <a:gd name="adj" fmla="val 240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48640" y="2843784"/>
            <a:ext cx="82296" cy="457200"/>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2843784"/>
            <a:ext cx="2743200" cy="457200"/>
          </a:xfrm>
          <a:prstGeom prst="rect">
            <a:avLst/>
          </a:prstGeom>
          <a:noFill/>
        </p:spPr>
        <p:txBody>
          <a:bodyPr wrap="square" lIns="0" rIns="0" tIns="0" bIns="0" anchor="ctr">
            <a:spAutoFit/>
          </a:bodyPr>
          <a:lstStyle/>
          <a:p>
            <a:pPr algn="l">
              <a:lnSpc>
                <a:spcPct val="100000"/>
              </a:lnSpc>
              <a:spcAft>
                <a:spcPts val="0"/>
              </a:spcAft>
            </a:pPr>
            <a:r>
              <a:rPr sz="1350" b="1" i="0">
                <a:solidFill>
                  <a:srgbClr val="F5F8FC"/>
                </a:solidFill>
                <a:latin typeface="Aptos"/>
              </a:rPr>
              <a:t>Self-consistency (k=5)</a:t>
            </a:r>
          </a:p>
        </p:txBody>
      </p:sp>
      <p:sp>
        <p:nvSpPr>
          <p:cNvPr id="35" name="TextBox 34"/>
          <p:cNvSpPr txBox="1"/>
          <p:nvPr/>
        </p:nvSpPr>
        <p:spPr>
          <a:xfrm>
            <a:off x="3520440" y="2843784"/>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81.0%</a:t>
            </a:r>
          </a:p>
        </p:txBody>
      </p:sp>
      <p:sp>
        <p:nvSpPr>
          <p:cNvPr id="36" name="TextBox 35"/>
          <p:cNvSpPr txBox="1"/>
          <p:nvPr/>
        </p:nvSpPr>
        <p:spPr>
          <a:xfrm>
            <a:off x="4709160" y="2843784"/>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89.8%</a:t>
            </a:r>
          </a:p>
        </p:txBody>
      </p:sp>
      <p:sp>
        <p:nvSpPr>
          <p:cNvPr id="37" name="TextBox 36"/>
          <p:cNvSpPr txBox="1"/>
          <p:nvPr/>
        </p:nvSpPr>
        <p:spPr>
          <a:xfrm>
            <a:off x="5897880" y="2843784"/>
            <a:ext cx="118872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0.098</a:t>
            </a:r>
          </a:p>
        </p:txBody>
      </p:sp>
      <p:sp>
        <p:nvSpPr>
          <p:cNvPr id="38" name="TextBox 37"/>
          <p:cNvSpPr txBox="1"/>
          <p:nvPr/>
        </p:nvSpPr>
        <p:spPr>
          <a:xfrm>
            <a:off x="7086600" y="2843784"/>
            <a:ext cx="1188720" cy="457200"/>
          </a:xfrm>
          <a:prstGeom prst="rect">
            <a:avLst/>
          </a:prstGeom>
          <a:noFill/>
        </p:spPr>
        <p:txBody>
          <a:bodyPr wrap="square" lIns="0" rIns="0" tIns="0" bIns="0" anchor="ctr">
            <a:spAutoFit/>
          </a:bodyPr>
          <a:lstStyle/>
          <a:p>
            <a:pPr algn="ctr">
              <a:lnSpc>
                <a:spcPct val="100000"/>
              </a:lnSpc>
              <a:spcAft>
                <a:spcPts val="0"/>
              </a:spcAft>
            </a:pPr>
            <a:r>
              <a:rPr sz="1400" b="1" i="0">
                <a:solidFill>
                  <a:srgbClr val="5CC98B"/>
                </a:solidFill>
                <a:latin typeface="Aptos"/>
              </a:rPr>
              <a:t>0.116</a:t>
            </a:r>
          </a:p>
        </p:txBody>
      </p:sp>
      <p:sp>
        <p:nvSpPr>
          <p:cNvPr id="39" name="TextBox 38"/>
          <p:cNvSpPr txBox="1"/>
          <p:nvPr/>
        </p:nvSpPr>
        <p:spPr>
          <a:xfrm>
            <a:off x="8275320" y="2843784"/>
            <a:ext cx="1188720" cy="457200"/>
          </a:xfrm>
          <a:prstGeom prst="rect">
            <a:avLst/>
          </a:prstGeom>
          <a:noFill/>
        </p:spPr>
        <p:txBody>
          <a:bodyPr wrap="square" lIns="0" rIns="0" tIns="0" bIns="0" anchor="ctr">
            <a:spAutoFit/>
          </a:bodyPr>
          <a:lstStyle/>
          <a:p>
            <a:pPr algn="ctr">
              <a:lnSpc>
                <a:spcPct val="100000"/>
              </a:lnSpc>
              <a:spcAft>
                <a:spcPts val="0"/>
              </a:spcAft>
            </a:pPr>
            <a:r>
              <a:rPr sz="1400" b="1" i="0">
                <a:solidFill>
                  <a:srgbClr val="5CC98B"/>
                </a:solidFill>
                <a:latin typeface="Aptos"/>
              </a:rPr>
              <a:t>0.80</a:t>
            </a:r>
          </a:p>
        </p:txBody>
      </p:sp>
      <p:sp>
        <p:nvSpPr>
          <p:cNvPr id="40" name="TextBox 39"/>
          <p:cNvSpPr txBox="1"/>
          <p:nvPr/>
        </p:nvSpPr>
        <p:spPr>
          <a:xfrm>
            <a:off x="9464040" y="2843784"/>
            <a:ext cx="2194560" cy="457200"/>
          </a:xfrm>
          <a:prstGeom prst="rect">
            <a:avLst/>
          </a:prstGeom>
          <a:noFill/>
        </p:spPr>
        <p:txBody>
          <a:bodyPr wrap="square" lIns="0" rIns="0" tIns="0" bIns="0" anchor="ctr">
            <a:spAutoFit/>
          </a:bodyPr>
          <a:lstStyle/>
          <a:p>
            <a:pPr algn="ctr">
              <a:lnSpc>
                <a:spcPct val="100000"/>
              </a:lnSpc>
              <a:spcAft>
                <a:spcPts val="0"/>
              </a:spcAft>
            </a:pPr>
            <a:r>
              <a:rPr sz="1400" b="0" i="0">
                <a:solidFill>
                  <a:srgbClr val="F5F8FC"/>
                </a:solidFill>
                <a:latin typeface="Aptos"/>
              </a:rPr>
              <a:t>32.9%</a:t>
            </a:r>
          </a:p>
        </p:txBody>
      </p:sp>
      <p:sp>
        <p:nvSpPr>
          <p:cNvPr id="41" name="Rounded Rectangle 40"/>
          <p:cNvSpPr/>
          <p:nvPr/>
        </p:nvSpPr>
        <p:spPr>
          <a:xfrm>
            <a:off x="548640" y="3648455"/>
            <a:ext cx="3566160" cy="1737360"/>
          </a:xfrm>
          <a:prstGeom prst="roundRect">
            <a:avLst>
              <a:gd name="adj" fmla="val 6315"/>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2959" y="3813047"/>
            <a:ext cx="3017520" cy="548640"/>
          </a:xfrm>
          <a:prstGeom prst="rect">
            <a:avLst/>
          </a:prstGeom>
          <a:noFill/>
        </p:spPr>
        <p:txBody>
          <a:bodyPr wrap="square" lIns="0" rIns="0" tIns="0" bIns="0" anchor="t">
            <a:spAutoFit/>
          </a:bodyPr>
          <a:lstStyle/>
          <a:p>
            <a:pPr algn="l">
              <a:lnSpc>
                <a:spcPct val="100000"/>
              </a:lnSpc>
              <a:spcAft>
                <a:spcPts val="0"/>
              </a:spcAft>
            </a:pPr>
            <a:r>
              <a:rPr sz="2600" b="1" i="0">
                <a:solidFill>
                  <a:srgbClr val="EB6868"/>
                </a:solidFill>
                <a:latin typeface="Aptos"/>
              </a:rPr>
              <a:t>82%</a:t>
            </a:r>
          </a:p>
        </p:txBody>
      </p:sp>
      <p:sp>
        <p:nvSpPr>
          <p:cNvPr id="43" name="TextBox 42"/>
          <p:cNvSpPr txBox="1"/>
          <p:nvPr/>
        </p:nvSpPr>
        <p:spPr>
          <a:xfrm>
            <a:off x="822959" y="4379975"/>
            <a:ext cx="3017520" cy="914399"/>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of wrong answers came with ≥90% verbalized confidence</a:t>
            </a:r>
          </a:p>
        </p:txBody>
      </p:sp>
      <p:sp>
        <p:nvSpPr>
          <p:cNvPr id="44" name="Rounded Rectangle 43"/>
          <p:cNvSpPr/>
          <p:nvPr/>
        </p:nvSpPr>
        <p:spPr>
          <a:xfrm>
            <a:off x="4320540" y="3648455"/>
            <a:ext cx="3566160" cy="1737360"/>
          </a:xfrm>
          <a:prstGeom prst="roundRect">
            <a:avLst>
              <a:gd name="adj" fmla="val 6315"/>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94859" y="3813047"/>
            <a:ext cx="3017520" cy="548640"/>
          </a:xfrm>
          <a:prstGeom prst="rect">
            <a:avLst/>
          </a:prstGeom>
          <a:noFill/>
        </p:spPr>
        <p:txBody>
          <a:bodyPr wrap="square" lIns="0" rIns="0" tIns="0" bIns="0" anchor="t">
            <a:spAutoFit/>
          </a:bodyPr>
          <a:lstStyle/>
          <a:p>
            <a:pPr algn="l">
              <a:lnSpc>
                <a:spcPct val="100000"/>
              </a:lnSpc>
              <a:spcAft>
                <a:spcPts val="0"/>
              </a:spcAft>
            </a:pPr>
            <a:r>
              <a:rPr sz="2600" b="1" i="0">
                <a:solidFill>
                  <a:srgbClr val="5CC98B"/>
                </a:solidFill>
                <a:latin typeface="Aptos"/>
              </a:rPr>
              <a:t>0.138 → 0.081</a:t>
            </a:r>
          </a:p>
        </p:txBody>
      </p:sp>
      <p:sp>
        <p:nvSpPr>
          <p:cNvPr id="46" name="TextBox 45"/>
          <p:cNvSpPr txBox="1"/>
          <p:nvPr/>
        </p:nvSpPr>
        <p:spPr>
          <a:xfrm>
            <a:off x="4594859" y="4379975"/>
            <a:ext cx="3017520" cy="914399"/>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verbalized ECE before → after temperature scaling</a:t>
            </a:r>
          </a:p>
        </p:txBody>
      </p:sp>
      <p:sp>
        <p:nvSpPr>
          <p:cNvPr id="47" name="Rounded Rectangle 46"/>
          <p:cNvSpPr/>
          <p:nvPr/>
        </p:nvSpPr>
        <p:spPr>
          <a:xfrm>
            <a:off x="8092440" y="3648455"/>
            <a:ext cx="3566160" cy="1737360"/>
          </a:xfrm>
          <a:prstGeom prst="roundRect">
            <a:avLst>
              <a:gd name="adj" fmla="val 6315"/>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366760" y="3813047"/>
            <a:ext cx="3017520" cy="548640"/>
          </a:xfrm>
          <a:prstGeom prst="rect">
            <a:avLst/>
          </a:prstGeom>
          <a:noFill/>
        </p:spPr>
        <p:txBody>
          <a:bodyPr wrap="square" lIns="0" rIns="0" tIns="0" bIns="0" anchor="t">
            <a:spAutoFit/>
          </a:bodyPr>
          <a:lstStyle/>
          <a:p>
            <a:pPr algn="l">
              <a:lnSpc>
                <a:spcPct val="100000"/>
              </a:lnSpc>
              <a:spcAft>
                <a:spcPts val="0"/>
              </a:spcAft>
            </a:pPr>
            <a:r>
              <a:rPr sz="2600" b="1" i="0">
                <a:solidFill>
                  <a:srgbClr val="2DC4D3"/>
                </a:solidFill>
                <a:latin typeface="Aptos"/>
              </a:rPr>
              <a:t>0.80</a:t>
            </a:r>
          </a:p>
        </p:txBody>
      </p:sp>
      <p:sp>
        <p:nvSpPr>
          <p:cNvPr id="49" name="TextBox 48"/>
          <p:cNvSpPr txBox="1"/>
          <p:nvPr/>
        </p:nvSpPr>
        <p:spPr>
          <a:xfrm>
            <a:off x="8366760" y="4379975"/>
            <a:ext cx="3017520" cy="914399"/>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AUROC of self-consistency (5 samples) at flagging wrong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6. Calibration: Stated Confidence vs. Reality</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Reliability diagrams — a perfectly calibrated model sits on the dashed diagonal</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7</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pic>
        <p:nvPicPr>
          <p:cNvPr id="7" name="Picture 6" descr="reliability.png"/>
          <p:cNvPicPr>
            <a:picLocks noChangeAspect="1"/>
          </p:cNvPicPr>
          <p:nvPr/>
        </p:nvPicPr>
        <p:blipFill>
          <a:blip r:embed="rId3"/>
          <a:stretch>
            <a:fillRect/>
          </a:stretch>
        </p:blipFill>
        <p:spPr>
          <a:xfrm>
            <a:off x="1188720" y="1371600"/>
            <a:ext cx="9829799" cy="3931920"/>
          </a:xfrm>
          <a:prstGeom prst="rect">
            <a:avLst/>
          </a:prstGeom>
        </p:spPr>
      </p:pic>
      <p:sp>
        <p:nvSpPr>
          <p:cNvPr id="8" name="Rounded Rectangle 7"/>
          <p:cNvSpPr/>
          <p:nvPr/>
        </p:nvSpPr>
        <p:spPr>
          <a:xfrm>
            <a:off x="548640" y="5440680"/>
            <a:ext cx="11109960" cy="731520"/>
          </a:xfrm>
          <a:prstGeom prst="roundRect">
            <a:avLst>
              <a:gd name="adj" fmla="val 1500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5440680"/>
            <a:ext cx="10607040" cy="731520"/>
          </a:xfrm>
          <a:prstGeom prst="rect">
            <a:avLst/>
          </a:prstGeom>
          <a:noFill/>
        </p:spPr>
        <p:txBody>
          <a:bodyPr wrap="square" lIns="0" rIns="0" tIns="0" bIns="0" anchor="ctr">
            <a:spAutoFit/>
          </a:bodyPr>
          <a:lstStyle/>
          <a:p>
            <a:pPr algn="l">
              <a:lnSpc>
                <a:spcPct val="100000"/>
              </a:lnSpc>
              <a:spcAft>
                <a:spcPts val="0"/>
              </a:spcAft>
            </a:pPr>
            <a:r>
              <a:rPr sz="1350" b="1" i="0">
                <a:solidFill>
                  <a:srgbClr val="2DC4D3"/>
                </a:solidFill>
                <a:latin typeface="Aptos"/>
              </a:rPr>
              <a:t>Reading it: </a:t>
            </a:r>
            <a:r>
              <a:rPr sz="1350" b="0" i="0">
                <a:solidFill>
                  <a:srgbClr val="F5F8FC"/>
                </a:solidFill>
                <a:latin typeface="Aptos"/>
              </a:rPr>
              <a:t>bars below the diagonal = over-confident. </a:t>
            </a:r>
            <a:r>
              <a:rPr sz="1350" b="0" i="0">
                <a:solidFill>
                  <a:srgbClr val="B0BED2"/>
                </a:solidFill>
                <a:latin typeface="Aptos"/>
              </a:rPr>
              <a:t>Largest average gap: Verbalized confidence (+14 pts confidence above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7. Evidence: Confidently Wrong Answers</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Distribution of verbalized confidence for right vs. wrong answers</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8</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pic>
        <p:nvPicPr>
          <p:cNvPr id="7" name="Picture 6" descr="verbal_conf_hist.png"/>
          <p:cNvPicPr>
            <a:picLocks noChangeAspect="1"/>
          </p:cNvPicPr>
          <p:nvPr/>
        </p:nvPicPr>
        <p:blipFill>
          <a:blip r:embed="rId3"/>
          <a:stretch>
            <a:fillRect/>
          </a:stretch>
        </p:blipFill>
        <p:spPr>
          <a:xfrm>
            <a:off x="457200" y="1497330"/>
            <a:ext cx="6035040" cy="3771899"/>
          </a:xfrm>
          <a:prstGeom prst="rect">
            <a:avLst/>
          </a:prstGeom>
        </p:spPr>
      </p:pic>
      <p:sp>
        <p:nvSpPr>
          <p:cNvPr id="8" name="TextBox 7"/>
          <p:cNvSpPr txBox="1"/>
          <p:nvPr/>
        </p:nvSpPr>
        <p:spPr>
          <a:xfrm>
            <a:off x="548640" y="5532120"/>
            <a:ext cx="5852160" cy="685800"/>
          </a:xfrm>
          <a:prstGeom prst="rect">
            <a:avLst/>
          </a:prstGeom>
          <a:noFill/>
        </p:spPr>
        <p:txBody>
          <a:bodyPr wrap="square" lIns="0" rIns="0" tIns="0" bIns="0" anchor="t">
            <a:spAutoFit/>
          </a:bodyPr>
          <a:lstStyle/>
          <a:p>
            <a:pPr algn="l">
              <a:lnSpc>
                <a:spcPct val="100000"/>
              </a:lnSpc>
              <a:spcAft>
                <a:spcPts val="0"/>
              </a:spcAft>
            </a:pPr>
            <a:r>
              <a:rPr sz="1400" b="1" i="0">
                <a:solidFill>
                  <a:srgbClr val="EB6868"/>
                </a:solidFill>
                <a:latin typeface="Aptos"/>
              </a:rPr>
              <a:t>59 of 400</a:t>
            </a:r>
            <a:r>
              <a:rPr sz="1400" b="0" i="0">
                <a:solidFill>
                  <a:srgbClr val="F5F8FC"/>
                </a:solidFill>
                <a:latin typeface="Aptos"/>
              </a:rPr>
              <a:t> answers were wrong while the model claimed ≥90% confidence.</a:t>
            </a:r>
          </a:p>
        </p:txBody>
      </p:sp>
      <p:sp>
        <p:nvSpPr>
          <p:cNvPr id="9" name="Rounded Rectangle 8"/>
          <p:cNvSpPr/>
          <p:nvPr/>
        </p:nvSpPr>
        <p:spPr>
          <a:xfrm>
            <a:off x="6720840" y="1371600"/>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0" y="1508760"/>
            <a:ext cx="4526280" cy="566928"/>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How was President Kennedy assassinated?</a:t>
            </a:r>
          </a:p>
        </p:txBody>
      </p:sp>
      <p:sp>
        <p:nvSpPr>
          <p:cNvPr id="11" name="TextBox 10"/>
          <p:cNvSpPr txBox="1"/>
          <p:nvPr/>
        </p:nvSpPr>
        <p:spPr>
          <a:xfrm>
            <a:off x="6949440" y="2221991"/>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Model: </a:t>
            </a:r>
            <a:r>
              <a:rPr sz="1250" b="1" i="0">
                <a:solidFill>
                  <a:srgbClr val="EB6868"/>
                </a:solidFill>
                <a:latin typeface="Aptos"/>
              </a:rPr>
              <a:t>By gunshot</a:t>
            </a:r>
            <a:r>
              <a:rPr sz="1250" b="0" i="0">
                <a:solidFill>
                  <a:srgbClr val="B0BED2"/>
                </a:solidFill>
                <a:latin typeface="Aptos"/>
              </a:rPr>
              <a:t>   (100% sure)</a:t>
            </a:r>
          </a:p>
        </p:txBody>
      </p:sp>
      <p:sp>
        <p:nvSpPr>
          <p:cNvPr id="12" name="TextBox 11"/>
          <p:cNvSpPr txBox="1"/>
          <p:nvPr/>
        </p:nvSpPr>
        <p:spPr>
          <a:xfrm>
            <a:off x="6949440" y="2514600"/>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Correct: </a:t>
            </a:r>
            <a:r>
              <a:rPr sz="1250" b="1" i="0">
                <a:solidFill>
                  <a:srgbClr val="5CC98B"/>
                </a:solidFill>
                <a:latin typeface="Aptos"/>
              </a:rPr>
              <a:t>Shot</a:t>
            </a:r>
          </a:p>
        </p:txBody>
      </p:sp>
      <p:sp>
        <p:nvSpPr>
          <p:cNvPr id="13" name="Rounded Rectangle 12"/>
          <p:cNvSpPr/>
          <p:nvPr/>
        </p:nvSpPr>
        <p:spPr>
          <a:xfrm>
            <a:off x="6720840" y="3017520"/>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49440" y="3154679"/>
            <a:ext cx="4526280" cy="566928"/>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Of the ten most populated cities of the USA which is furthest north?</a:t>
            </a:r>
          </a:p>
        </p:txBody>
      </p:sp>
      <p:sp>
        <p:nvSpPr>
          <p:cNvPr id="15" name="TextBox 14"/>
          <p:cNvSpPr txBox="1"/>
          <p:nvPr/>
        </p:nvSpPr>
        <p:spPr>
          <a:xfrm>
            <a:off x="6949440" y="3867911"/>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Model: </a:t>
            </a:r>
            <a:r>
              <a:rPr sz="1250" b="1" i="0">
                <a:solidFill>
                  <a:srgbClr val="EB6868"/>
                </a:solidFill>
                <a:latin typeface="Aptos"/>
              </a:rPr>
              <a:t>Chicago</a:t>
            </a:r>
            <a:r>
              <a:rPr sz="1250" b="0" i="0">
                <a:solidFill>
                  <a:srgbClr val="B0BED2"/>
                </a:solidFill>
                <a:latin typeface="Aptos"/>
              </a:rPr>
              <a:t>   (100% sure)</a:t>
            </a:r>
          </a:p>
        </p:txBody>
      </p:sp>
      <p:sp>
        <p:nvSpPr>
          <p:cNvPr id="16" name="TextBox 15"/>
          <p:cNvSpPr txBox="1"/>
          <p:nvPr/>
        </p:nvSpPr>
        <p:spPr>
          <a:xfrm>
            <a:off x="6949440" y="4160519"/>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Correct: </a:t>
            </a:r>
            <a:r>
              <a:rPr sz="1250" b="1" i="0">
                <a:solidFill>
                  <a:srgbClr val="5CC98B"/>
                </a:solidFill>
                <a:latin typeface="Aptos"/>
              </a:rPr>
              <a:t>Detroit</a:t>
            </a:r>
          </a:p>
        </p:txBody>
      </p:sp>
      <p:sp>
        <p:nvSpPr>
          <p:cNvPr id="17" name="Rounded Rectangle 16"/>
          <p:cNvSpPr/>
          <p:nvPr/>
        </p:nvSpPr>
        <p:spPr>
          <a:xfrm>
            <a:off x="6720840" y="4663440"/>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0" y="4800600"/>
            <a:ext cx="4526280" cy="566928"/>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Who was the cartoon adversary of Pixie and Dixie, who would often say I hate those meeces to pieces?</a:t>
            </a:r>
          </a:p>
        </p:txBody>
      </p:sp>
      <p:sp>
        <p:nvSpPr>
          <p:cNvPr id="19" name="TextBox 18"/>
          <p:cNvSpPr txBox="1"/>
          <p:nvPr/>
        </p:nvSpPr>
        <p:spPr>
          <a:xfrm>
            <a:off x="6949440" y="5513832"/>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Model: </a:t>
            </a:r>
            <a:r>
              <a:rPr sz="1250" b="1" i="0">
                <a:solidFill>
                  <a:srgbClr val="EB6868"/>
                </a:solidFill>
                <a:latin typeface="Aptos"/>
              </a:rPr>
              <a:t>Jinks the Cat</a:t>
            </a:r>
            <a:r>
              <a:rPr sz="1250" b="0" i="0">
                <a:solidFill>
                  <a:srgbClr val="B0BED2"/>
                </a:solidFill>
                <a:latin typeface="Aptos"/>
              </a:rPr>
              <a:t>   (100% sure)</a:t>
            </a:r>
          </a:p>
        </p:txBody>
      </p:sp>
      <p:sp>
        <p:nvSpPr>
          <p:cNvPr id="20" name="TextBox 19"/>
          <p:cNvSpPr txBox="1"/>
          <p:nvPr/>
        </p:nvSpPr>
        <p:spPr>
          <a:xfrm>
            <a:off x="6949440" y="5806440"/>
            <a:ext cx="4526280" cy="274320"/>
          </a:xfrm>
          <a:prstGeom prst="rect">
            <a:avLst/>
          </a:prstGeom>
          <a:noFill/>
        </p:spPr>
        <p:txBody>
          <a:bodyPr wrap="square" lIns="0" rIns="0" tIns="0" bIns="0" anchor="t">
            <a:spAutoFit/>
          </a:bodyPr>
          <a:lstStyle/>
          <a:p>
            <a:pPr algn="l">
              <a:lnSpc>
                <a:spcPct val="100000"/>
              </a:lnSpc>
              <a:spcAft>
                <a:spcPts val="0"/>
              </a:spcAft>
            </a:pPr>
            <a:r>
              <a:rPr sz="1250" b="0" i="0">
                <a:solidFill>
                  <a:srgbClr val="B0BED2"/>
                </a:solidFill>
                <a:latin typeface="Aptos"/>
              </a:rPr>
              <a:t>Correct: </a:t>
            </a:r>
            <a:r>
              <a:rPr sz="1250" b="1" i="0">
                <a:solidFill>
                  <a:srgbClr val="5CC98B"/>
                </a:solidFill>
                <a:latin typeface="Aptos"/>
              </a:rPr>
              <a:t>Mr Jinx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8. Early Look: Does Triage Make Sense?</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Stage 1 of our pipeline = self-consistency filter (5 samples)</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9</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pic>
        <p:nvPicPr>
          <p:cNvPr id="7" name="Picture 6" descr="risk_coverage.png"/>
          <p:cNvPicPr>
            <a:picLocks noChangeAspect="1"/>
          </p:cNvPicPr>
          <p:nvPr/>
        </p:nvPicPr>
        <p:blipFill>
          <a:blip r:embed="rId3"/>
          <a:stretch>
            <a:fillRect/>
          </a:stretch>
        </p:blipFill>
        <p:spPr>
          <a:xfrm>
            <a:off x="457200" y="1497330"/>
            <a:ext cx="6035040" cy="3771899"/>
          </a:xfrm>
          <a:prstGeom prst="rect">
            <a:avLst/>
          </a:prstGeom>
        </p:spPr>
      </p:pic>
      <p:sp>
        <p:nvSpPr>
          <p:cNvPr id="8" name="TextBox 7"/>
          <p:cNvSpPr txBox="1"/>
          <p:nvPr/>
        </p:nvSpPr>
        <p:spPr>
          <a:xfrm>
            <a:off x="548640" y="5532120"/>
            <a:ext cx="5852160" cy="6858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Lower curve = fewer errors among the answers we choose to give. White dot = our triage threshold.</a:t>
            </a:r>
          </a:p>
        </p:txBody>
      </p:sp>
      <p:sp>
        <p:nvSpPr>
          <p:cNvPr id="9" name="Rounded Rectangle 8"/>
          <p:cNvSpPr/>
          <p:nvPr/>
        </p:nvSpPr>
        <p:spPr>
          <a:xfrm>
            <a:off x="6720840" y="1371600"/>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95160" y="1554480"/>
            <a:ext cx="1737360" cy="640080"/>
          </a:xfrm>
          <a:prstGeom prst="rect">
            <a:avLst/>
          </a:prstGeom>
          <a:noFill/>
        </p:spPr>
        <p:txBody>
          <a:bodyPr wrap="square" lIns="0" rIns="0" tIns="0" bIns="0" anchor="t">
            <a:spAutoFit/>
          </a:bodyPr>
          <a:lstStyle/>
          <a:p>
            <a:pPr algn="l">
              <a:lnSpc>
                <a:spcPct val="100000"/>
              </a:lnSpc>
              <a:spcAft>
                <a:spcPts val="0"/>
              </a:spcAft>
            </a:pPr>
            <a:r>
              <a:rPr sz="3000" b="1" i="0">
                <a:solidFill>
                  <a:srgbClr val="5CC98B"/>
                </a:solidFill>
                <a:latin typeface="Aptos"/>
              </a:rPr>
              <a:t>86%</a:t>
            </a:r>
          </a:p>
        </p:txBody>
      </p:sp>
      <p:sp>
        <p:nvSpPr>
          <p:cNvPr id="11" name="TextBox 10"/>
          <p:cNvSpPr txBox="1"/>
          <p:nvPr/>
        </p:nvSpPr>
        <p:spPr>
          <a:xfrm>
            <a:off x="8732520" y="1600200"/>
            <a:ext cx="2743200" cy="640080"/>
          </a:xfrm>
          <a:prstGeom prst="rect">
            <a:avLst/>
          </a:prstGeom>
          <a:noFill/>
        </p:spPr>
        <p:txBody>
          <a:bodyPr wrap="square" lIns="0" rIns="0" tIns="0" bIns="0" anchor="t">
            <a:spAutoFit/>
          </a:bodyPr>
          <a:lstStyle/>
          <a:p>
            <a:pPr algn="l">
              <a:lnSpc>
                <a:spcPct val="100000"/>
              </a:lnSpc>
              <a:spcAft>
                <a:spcPts val="0"/>
              </a:spcAft>
            </a:pPr>
            <a:r>
              <a:rPr sz="1300" b="1" i="0">
                <a:solidFill>
                  <a:srgbClr val="F5F8FC"/>
                </a:solidFill>
                <a:latin typeface="Aptos"/>
              </a:rPr>
              <a:t>answered directly (≥4/5 samples agree)</a:t>
            </a:r>
          </a:p>
        </p:txBody>
      </p:sp>
      <p:sp>
        <p:nvSpPr>
          <p:cNvPr id="12" name="TextBox 11"/>
          <p:cNvSpPr txBox="1"/>
          <p:nvPr/>
        </p:nvSpPr>
        <p:spPr>
          <a:xfrm>
            <a:off x="8732520" y="2286000"/>
            <a:ext cx="2743200" cy="457200"/>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accuracy on these: 89%</a:t>
            </a:r>
          </a:p>
        </p:txBody>
      </p:sp>
      <p:sp>
        <p:nvSpPr>
          <p:cNvPr id="13" name="Rounded Rectangle 12"/>
          <p:cNvSpPr/>
          <p:nvPr/>
        </p:nvSpPr>
        <p:spPr>
          <a:xfrm>
            <a:off x="6720840" y="3035808"/>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95160" y="3218688"/>
            <a:ext cx="1737360" cy="640080"/>
          </a:xfrm>
          <a:prstGeom prst="rect">
            <a:avLst/>
          </a:prstGeom>
          <a:noFill/>
        </p:spPr>
        <p:txBody>
          <a:bodyPr wrap="square" lIns="0" rIns="0" tIns="0" bIns="0" anchor="t">
            <a:spAutoFit/>
          </a:bodyPr>
          <a:lstStyle/>
          <a:p>
            <a:pPr algn="l">
              <a:lnSpc>
                <a:spcPct val="100000"/>
              </a:lnSpc>
              <a:spcAft>
                <a:spcPts val="0"/>
              </a:spcAft>
            </a:pPr>
            <a:r>
              <a:rPr sz="3000" b="1" i="0">
                <a:solidFill>
                  <a:srgbClr val="F2C248"/>
                </a:solidFill>
                <a:latin typeface="Aptos"/>
              </a:rPr>
              <a:t>14%</a:t>
            </a:r>
          </a:p>
        </p:txBody>
      </p:sp>
      <p:sp>
        <p:nvSpPr>
          <p:cNvPr id="15" name="TextBox 14"/>
          <p:cNvSpPr txBox="1"/>
          <p:nvPr/>
        </p:nvSpPr>
        <p:spPr>
          <a:xfrm>
            <a:off x="8732520" y="3264408"/>
            <a:ext cx="2743200" cy="640080"/>
          </a:xfrm>
          <a:prstGeom prst="rect">
            <a:avLst/>
          </a:prstGeom>
          <a:noFill/>
        </p:spPr>
        <p:txBody>
          <a:bodyPr wrap="square" lIns="0" rIns="0" tIns="0" bIns="0" anchor="t">
            <a:spAutoFit/>
          </a:bodyPr>
          <a:lstStyle/>
          <a:p>
            <a:pPr algn="l">
              <a:lnSpc>
                <a:spcPct val="100000"/>
              </a:lnSpc>
              <a:spcAft>
                <a:spcPts val="0"/>
              </a:spcAft>
            </a:pPr>
            <a:r>
              <a:rPr sz="1300" b="1" i="0">
                <a:solidFill>
                  <a:srgbClr val="F5F8FC"/>
                </a:solidFill>
                <a:latin typeface="Aptos"/>
              </a:rPr>
              <a:t>escalated to Stage 2 (low agreement)</a:t>
            </a:r>
          </a:p>
        </p:txBody>
      </p:sp>
      <p:sp>
        <p:nvSpPr>
          <p:cNvPr id="16" name="TextBox 15"/>
          <p:cNvSpPr txBox="1"/>
          <p:nvPr/>
        </p:nvSpPr>
        <p:spPr>
          <a:xfrm>
            <a:off x="8732520" y="3950208"/>
            <a:ext cx="2743200" cy="457200"/>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error rate on these: 68%</a:t>
            </a:r>
          </a:p>
        </p:txBody>
      </p:sp>
      <p:sp>
        <p:nvSpPr>
          <p:cNvPr id="17" name="Rounded Rectangle 16"/>
          <p:cNvSpPr/>
          <p:nvPr/>
        </p:nvSpPr>
        <p:spPr>
          <a:xfrm>
            <a:off x="6720840" y="4700016"/>
            <a:ext cx="4937760" cy="1508760"/>
          </a:xfrm>
          <a:prstGeom prst="roundRect">
            <a:avLst>
              <a:gd name="adj" fmla="val 7272"/>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5160" y="4882896"/>
            <a:ext cx="1737360" cy="640080"/>
          </a:xfrm>
          <a:prstGeom prst="rect">
            <a:avLst/>
          </a:prstGeom>
          <a:noFill/>
        </p:spPr>
        <p:txBody>
          <a:bodyPr wrap="square" lIns="0" rIns="0" tIns="0" bIns="0" anchor="t">
            <a:spAutoFit/>
          </a:bodyPr>
          <a:lstStyle/>
          <a:p>
            <a:pPr algn="l">
              <a:lnSpc>
                <a:spcPct val="100000"/>
              </a:lnSpc>
              <a:spcAft>
                <a:spcPts val="0"/>
              </a:spcAft>
            </a:pPr>
            <a:r>
              <a:rPr sz="3000" b="1" i="0">
                <a:solidFill>
                  <a:srgbClr val="2DC4D3"/>
                </a:solidFill>
                <a:latin typeface="Aptos"/>
              </a:rPr>
              <a:t>50%</a:t>
            </a:r>
          </a:p>
        </p:txBody>
      </p:sp>
      <p:sp>
        <p:nvSpPr>
          <p:cNvPr id="19" name="TextBox 18"/>
          <p:cNvSpPr txBox="1"/>
          <p:nvPr/>
        </p:nvSpPr>
        <p:spPr>
          <a:xfrm>
            <a:off x="8732520" y="4928616"/>
            <a:ext cx="2743200" cy="640080"/>
          </a:xfrm>
          <a:prstGeom prst="rect">
            <a:avLst/>
          </a:prstGeom>
          <a:noFill/>
        </p:spPr>
        <p:txBody>
          <a:bodyPr wrap="square" lIns="0" rIns="0" tIns="0" bIns="0" anchor="t">
            <a:spAutoFit/>
          </a:bodyPr>
          <a:lstStyle/>
          <a:p>
            <a:pPr algn="l">
              <a:lnSpc>
                <a:spcPct val="100000"/>
              </a:lnSpc>
              <a:spcAft>
                <a:spcPts val="0"/>
              </a:spcAft>
            </a:pPr>
            <a:r>
              <a:rPr sz="1300" b="1" i="0">
                <a:solidFill>
                  <a:srgbClr val="F5F8FC"/>
                </a:solidFill>
                <a:latin typeface="Aptos"/>
              </a:rPr>
              <a:t>of ALL wrong answers land in the escalated group</a:t>
            </a:r>
          </a:p>
        </p:txBody>
      </p:sp>
      <p:sp>
        <p:nvSpPr>
          <p:cNvPr id="20" name="TextBox 19"/>
          <p:cNvSpPr txBox="1"/>
          <p:nvPr/>
        </p:nvSpPr>
        <p:spPr>
          <a:xfrm>
            <a:off x="8732520" y="5614416"/>
            <a:ext cx="2743200" cy="457200"/>
          </a:xfrm>
          <a:prstGeom prst="rect">
            <a:avLst/>
          </a:prstGeom>
          <a:noFill/>
        </p:spPr>
        <p:txBody>
          <a:bodyPr wrap="square" lIns="0" rIns="0" tIns="0" bIns="0" anchor="t">
            <a:spAutoFit/>
          </a:bodyPr>
          <a:lstStyle/>
          <a:p>
            <a:pPr algn="l">
              <a:lnSpc>
                <a:spcPct val="100000"/>
              </a:lnSpc>
              <a:spcAft>
                <a:spcPts val="0"/>
              </a:spcAft>
            </a:pPr>
            <a:r>
              <a:rPr sz="1150" b="0" i="0">
                <a:solidFill>
                  <a:srgbClr val="B0BED2"/>
                </a:solidFill>
                <a:latin typeface="Aptos"/>
              </a:rPr>
              <a:t>→ verification effort goes where the errors 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9. Key Findings &amp; Lessons Learned</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What the first results tell us</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10</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Rounded Rectangle 6"/>
          <p:cNvSpPr/>
          <p:nvPr/>
        </p:nvSpPr>
        <p:spPr>
          <a:xfrm>
            <a:off x="548640" y="1417320"/>
            <a:ext cx="6400800" cy="4709160"/>
          </a:xfrm>
          <a:prstGeom prst="roundRect">
            <a:avLst>
              <a:gd name="adj" fmla="val 233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627632"/>
            <a:ext cx="5943600"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FINDINGS (FROM OUR DATA)</a:t>
            </a:r>
          </a:p>
        </p:txBody>
      </p:sp>
      <p:sp>
        <p:nvSpPr>
          <p:cNvPr id="9" name="TextBox 8"/>
          <p:cNvSpPr txBox="1"/>
          <p:nvPr/>
        </p:nvSpPr>
        <p:spPr>
          <a:xfrm>
            <a:off x="822960" y="2057400"/>
            <a:ext cx="5897880" cy="3977639"/>
          </a:xfrm>
          <a:prstGeom prst="rect">
            <a:avLst/>
          </a:prstGeom>
          <a:noFill/>
        </p:spPr>
        <p:txBody>
          <a:bodyPr wrap="square" lIns="0" rIns="0" tIns="0" bIns="0" anchor="t">
            <a:spAutoFit/>
          </a:bodyPr>
          <a:lstStyle/>
          <a:p>
            <a:pPr algn="l">
              <a:lnSpc>
                <a:spcPct val="105000"/>
              </a:lnSpc>
              <a:spcAft>
                <a:spcPts val="1600"/>
              </a:spcAft>
            </a:pPr>
            <a:r>
              <a:rPr sz="1600" b="1" i="0">
                <a:solidFill>
                  <a:srgbClr val="5CC98B"/>
                </a:solidFill>
                <a:latin typeface="Aptos"/>
              </a:rPr>
              <a:t>•  </a:t>
            </a:r>
            <a:r>
              <a:rPr sz="1600" b="0" i="0">
                <a:solidFill>
                  <a:srgbClr val="F5F8FC"/>
                </a:solidFill>
                <a:latin typeface="Aptos"/>
              </a:rPr>
              <a:t>The model answered 82% correctly but claimed 96% confidence on average (gap +14 pts).</a:t>
            </a:r>
          </a:p>
          <a:p>
            <a:pPr algn="l">
              <a:lnSpc>
                <a:spcPct val="105000"/>
              </a:lnSpc>
              <a:spcAft>
                <a:spcPts val="1600"/>
              </a:spcAft>
            </a:pPr>
            <a:r>
              <a:rPr sz="1600" b="1" i="0">
                <a:solidFill>
                  <a:srgbClr val="5CC98B"/>
                </a:solidFill>
                <a:latin typeface="Aptos"/>
              </a:rPr>
              <a:t>•  </a:t>
            </a:r>
            <a:r>
              <a:rPr sz="1600" b="0" i="0">
                <a:solidFill>
                  <a:srgbClr val="F5F8FC"/>
                </a:solidFill>
                <a:latin typeface="Aptos"/>
              </a:rPr>
              <a:t>82% of the WRONG answers were stated with ≥90% confidence (avg. 91% when wrong vs 97% when right).</a:t>
            </a:r>
          </a:p>
          <a:p>
            <a:pPr algn="l">
              <a:lnSpc>
                <a:spcPct val="105000"/>
              </a:lnSpc>
              <a:spcAft>
                <a:spcPts val="1600"/>
              </a:spcAft>
            </a:pPr>
            <a:r>
              <a:rPr sz="1600" b="1" i="0">
                <a:solidFill>
                  <a:srgbClr val="5CC98B"/>
                </a:solidFill>
                <a:latin typeface="Aptos"/>
              </a:rPr>
              <a:t>•  </a:t>
            </a:r>
            <a:r>
              <a:rPr sz="1600" b="0" i="0">
                <a:solidFill>
                  <a:srgbClr val="F5F8FC"/>
                </a:solidFill>
                <a:latin typeface="Aptos"/>
              </a:rPr>
              <a:t>Temperature scaling reduced verbalized ECE from 0.138 to 0.081 (42% lower) — calibration can be repaired cheaply.</a:t>
            </a:r>
          </a:p>
          <a:p>
            <a:pPr algn="l">
              <a:lnSpc>
                <a:spcPct val="105000"/>
              </a:lnSpc>
              <a:spcAft>
                <a:spcPts val="1600"/>
              </a:spcAft>
            </a:pPr>
            <a:r>
              <a:rPr sz="1600" b="1" i="0">
                <a:solidFill>
                  <a:srgbClr val="5CC98B"/>
                </a:solidFill>
                <a:latin typeface="Aptos"/>
              </a:rPr>
              <a:t>•  </a:t>
            </a:r>
            <a:r>
              <a:rPr sz="1600" b="0" i="0">
                <a:solidFill>
                  <a:srgbClr val="F5F8FC"/>
                </a:solidFill>
                <a:latin typeface="Aptos"/>
              </a:rPr>
              <a:t>Best at telling right from wrong answers: Self-consistency (k=5) (AUROC 0.80). Temperature scaling barely moves AUROC — it rescales scores, it does not re-rank answers.</a:t>
            </a:r>
          </a:p>
        </p:txBody>
      </p:sp>
      <p:sp>
        <p:nvSpPr>
          <p:cNvPr id="10" name="Rounded Rectangle 9"/>
          <p:cNvSpPr/>
          <p:nvPr/>
        </p:nvSpPr>
        <p:spPr>
          <a:xfrm>
            <a:off x="7178040" y="1417320"/>
            <a:ext cx="4480560" cy="4709160"/>
          </a:xfrm>
          <a:prstGeom prst="roundRect">
            <a:avLst>
              <a:gd name="adj" fmla="val 2448"/>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452360" y="1627632"/>
            <a:ext cx="4023360" cy="274320"/>
          </a:xfrm>
          <a:prstGeom prst="rect">
            <a:avLst/>
          </a:prstGeom>
          <a:noFill/>
        </p:spPr>
        <p:txBody>
          <a:bodyPr wrap="square" lIns="0" rIns="0" tIns="0" bIns="0" anchor="t">
            <a:spAutoFit/>
          </a:bodyPr>
          <a:lstStyle/>
          <a:p>
            <a:pPr algn="l">
              <a:lnSpc>
                <a:spcPct val="100000"/>
              </a:lnSpc>
              <a:spcAft>
                <a:spcPts val="0"/>
              </a:spcAft>
            </a:pPr>
            <a:r>
              <a:rPr sz="1100" b="1" i="0">
                <a:solidFill>
                  <a:srgbClr val="F2C248"/>
                </a:solidFill>
                <a:latin typeface="Aptos"/>
              </a:rPr>
              <a:t>LESSONS &amp; CHALLENGES</a:t>
            </a:r>
          </a:p>
        </p:txBody>
      </p:sp>
      <p:sp>
        <p:nvSpPr>
          <p:cNvPr id="12" name="TextBox 11"/>
          <p:cNvSpPr txBox="1"/>
          <p:nvPr/>
        </p:nvSpPr>
        <p:spPr>
          <a:xfrm>
            <a:off x="7452360" y="2057400"/>
            <a:ext cx="3977639" cy="3977639"/>
          </a:xfrm>
          <a:prstGeom prst="rect">
            <a:avLst/>
          </a:prstGeom>
          <a:noFill/>
        </p:spPr>
        <p:txBody>
          <a:bodyPr wrap="square" lIns="0" rIns="0" tIns="0" bIns="0" anchor="t">
            <a:spAutoFit/>
          </a:bodyPr>
          <a:lstStyle/>
          <a:p>
            <a:pPr algn="l">
              <a:lnSpc>
                <a:spcPct val="105000"/>
              </a:lnSpc>
              <a:spcAft>
                <a:spcPts val="1400"/>
              </a:spcAft>
            </a:pPr>
            <a:r>
              <a:rPr sz="1450" b="1" i="0">
                <a:solidFill>
                  <a:srgbClr val="F2C248"/>
                </a:solidFill>
                <a:latin typeface="Aptos"/>
              </a:rPr>
              <a:t>•  </a:t>
            </a:r>
            <a:r>
              <a:rPr sz="1450" b="0" i="0">
                <a:solidFill>
                  <a:srgbClr val="F5F8FC"/>
                </a:solidFill>
                <a:latin typeface="Aptos"/>
              </a:rPr>
              <a:t>Grading free-text answers is noisy → lenient alias matching + manual spot-checks.</a:t>
            </a:r>
          </a:p>
          <a:p>
            <a:pPr algn="l">
              <a:lnSpc>
                <a:spcPct val="105000"/>
              </a:lnSpc>
              <a:spcAft>
                <a:spcPts val="1400"/>
              </a:spcAft>
            </a:pPr>
            <a:r>
              <a:rPr sz="1450" b="1" i="0">
                <a:solidFill>
                  <a:srgbClr val="F2C248"/>
                </a:solidFill>
                <a:latin typeface="Aptos"/>
              </a:rPr>
              <a:t>•  </a:t>
            </a:r>
            <a:r>
              <a:rPr sz="1450" b="0" i="0">
                <a:solidFill>
                  <a:srgbClr val="F5F8FC"/>
                </a:solidFill>
                <a:latin typeface="Aptos"/>
              </a:rPr>
              <a:t>Calibration ≠ discrimination: TS fixes the confidence scale, but barely changes which answers get trusted.</a:t>
            </a:r>
          </a:p>
          <a:p>
            <a:pPr algn="l">
              <a:lnSpc>
                <a:spcPct val="105000"/>
              </a:lnSpc>
              <a:spcAft>
                <a:spcPts val="1400"/>
              </a:spcAft>
            </a:pPr>
            <a:r>
              <a:rPr sz="1450" b="1" i="0">
                <a:solidFill>
                  <a:srgbClr val="F2C248"/>
                </a:solidFill>
                <a:latin typeface="Aptos"/>
              </a:rPr>
              <a:t>•  </a:t>
            </a:r>
            <a:r>
              <a:rPr sz="1450" b="0" i="0">
                <a:solidFill>
                  <a:srgbClr val="F5F8FC"/>
                </a:solidFill>
                <a:latin typeface="Aptos"/>
              </a:rPr>
              <a:t>Token log-probs are not offered by every API (e.g. reasoning models) → black-box signals matter.</a:t>
            </a:r>
          </a:p>
          <a:p>
            <a:pPr algn="l">
              <a:lnSpc>
                <a:spcPct val="105000"/>
              </a:lnSpc>
              <a:spcAft>
                <a:spcPts val="1400"/>
              </a:spcAft>
            </a:pPr>
            <a:r>
              <a:rPr sz="1450" b="1" i="0">
                <a:solidFill>
                  <a:srgbClr val="F2C248"/>
                </a:solidFill>
                <a:latin typeface="Aptos"/>
              </a:rPr>
              <a:t>•  </a:t>
            </a:r>
            <a:r>
              <a:rPr sz="1450" b="0" i="0">
                <a:solidFill>
                  <a:srgbClr val="F5F8FC"/>
                </a:solidFill>
                <a:latin typeface="Aptos"/>
              </a:rPr>
              <a:t>Rate limits shaped the design: resumable runs, parallel requests, caching.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347472"/>
            <a:ext cx="10241280" cy="548640"/>
          </a:xfrm>
          <a:prstGeom prst="rect">
            <a:avLst/>
          </a:prstGeom>
          <a:noFill/>
        </p:spPr>
        <p:txBody>
          <a:bodyPr wrap="square" lIns="0" rIns="0" tIns="0" bIns="0" anchor="t">
            <a:spAutoFit/>
          </a:bodyPr>
          <a:lstStyle/>
          <a:p>
            <a:pPr algn="l">
              <a:lnSpc>
                <a:spcPct val="100000"/>
              </a:lnSpc>
              <a:spcAft>
                <a:spcPts val="0"/>
              </a:spcAft>
            </a:pPr>
            <a:r>
              <a:rPr sz="2800" b="1" i="0">
                <a:solidFill>
                  <a:srgbClr val="F5F8FC"/>
                </a:solidFill>
                <a:latin typeface="Aptos"/>
              </a:rPr>
              <a:t>10. Next Steps &amp; Timeline</a:t>
            </a:r>
          </a:p>
        </p:txBody>
      </p:sp>
      <p:sp>
        <p:nvSpPr>
          <p:cNvPr id="3" name="TextBox 2"/>
          <p:cNvSpPr txBox="1"/>
          <p:nvPr/>
        </p:nvSpPr>
        <p:spPr>
          <a:xfrm>
            <a:off x="566928" y="896112"/>
            <a:ext cx="10241280" cy="320040"/>
          </a:xfrm>
          <a:prstGeom prst="rect">
            <a:avLst/>
          </a:prstGeom>
          <a:noFill/>
        </p:spPr>
        <p:txBody>
          <a:bodyPr wrap="square" lIns="0" rIns="0" tIns="0" bIns="0" anchor="t">
            <a:spAutoFit/>
          </a:bodyPr>
          <a:lstStyle/>
          <a:p>
            <a:pPr algn="l">
              <a:lnSpc>
                <a:spcPct val="100000"/>
              </a:lnSpc>
              <a:spcAft>
                <a:spcPts val="0"/>
              </a:spcAft>
            </a:pPr>
            <a:r>
              <a:rPr sz="1300" b="0" i="0">
                <a:solidFill>
                  <a:srgbClr val="B0BED2"/>
                </a:solidFill>
                <a:latin typeface="Aptos"/>
              </a:rPr>
              <a:t>We are on schedule — Week 2 milestone complete</a:t>
            </a:r>
          </a:p>
        </p:txBody>
      </p:sp>
      <p:sp>
        <p:nvSpPr>
          <p:cNvPr id="4" name="TextBox 3"/>
          <p:cNvSpPr txBox="1"/>
          <p:nvPr/>
        </p:nvSpPr>
        <p:spPr>
          <a:xfrm>
            <a:off x="11155680" y="384048"/>
            <a:ext cx="502920" cy="274320"/>
          </a:xfrm>
          <a:prstGeom prst="rect">
            <a:avLst/>
          </a:prstGeom>
          <a:noFill/>
        </p:spPr>
        <p:txBody>
          <a:bodyPr wrap="square" lIns="0" rIns="0" tIns="0" bIns="0" anchor="t">
            <a:spAutoFit/>
          </a:bodyPr>
          <a:lstStyle/>
          <a:p>
            <a:pPr algn="r">
              <a:lnSpc>
                <a:spcPct val="100000"/>
              </a:lnSpc>
              <a:spcAft>
                <a:spcPts val="0"/>
              </a:spcAft>
            </a:pPr>
            <a:r>
              <a:rPr sz="1100" b="0" i="0">
                <a:solidFill>
                  <a:srgbClr val="B0BED2"/>
                </a:solidFill>
                <a:latin typeface="Aptos"/>
              </a:rPr>
              <a:t>11</a:t>
            </a:r>
          </a:p>
        </p:txBody>
      </p:sp>
      <p:sp>
        <p:nvSpPr>
          <p:cNvPr id="5" name="TextBox 4"/>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6" name="TextBox 5"/>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7" name="Rounded Rectangle 6"/>
          <p:cNvSpPr/>
          <p:nvPr/>
        </p:nvSpPr>
        <p:spPr>
          <a:xfrm>
            <a:off x="548640" y="1463040"/>
            <a:ext cx="2112264" cy="1417320"/>
          </a:xfrm>
          <a:prstGeom prst="roundRect">
            <a:avLst>
              <a:gd name="adj" fmla="val 7741"/>
            </a:avLst>
          </a:prstGeom>
          <a:solidFill>
            <a:srgbClr val="1B2B43"/>
          </a:solidFill>
          <a:ln w="9525">
            <a:solidFill>
              <a:srgbClr val="5CC9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1627632"/>
            <a:ext cx="1655064" cy="365760"/>
          </a:xfrm>
          <a:prstGeom prst="rect">
            <a:avLst/>
          </a:prstGeom>
          <a:noFill/>
        </p:spPr>
        <p:txBody>
          <a:bodyPr wrap="square" lIns="0" rIns="0" tIns="0" bIns="0" anchor="t">
            <a:spAutoFit/>
          </a:bodyPr>
          <a:lstStyle/>
          <a:p>
            <a:pPr algn="l">
              <a:lnSpc>
                <a:spcPct val="100000"/>
              </a:lnSpc>
              <a:spcAft>
                <a:spcPts val="0"/>
              </a:spcAft>
            </a:pPr>
            <a:r>
              <a:rPr sz="1800" b="1" i="0">
                <a:solidFill>
                  <a:srgbClr val="5CC98B"/>
                </a:solidFill>
                <a:latin typeface="Aptos"/>
              </a:rPr>
              <a:t>W1</a:t>
            </a:r>
          </a:p>
        </p:txBody>
      </p:sp>
      <p:sp>
        <p:nvSpPr>
          <p:cNvPr id="9" name="TextBox 8"/>
          <p:cNvSpPr txBox="1"/>
          <p:nvPr/>
        </p:nvSpPr>
        <p:spPr>
          <a:xfrm>
            <a:off x="777240" y="2011680"/>
            <a:ext cx="1655064" cy="4572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Literature • scope</a:t>
            </a:r>
          </a:p>
        </p:txBody>
      </p:sp>
      <p:sp>
        <p:nvSpPr>
          <p:cNvPr id="10" name="TextBox 9"/>
          <p:cNvSpPr txBox="1"/>
          <p:nvPr/>
        </p:nvSpPr>
        <p:spPr>
          <a:xfrm>
            <a:off x="777240" y="2514600"/>
            <a:ext cx="1655064" cy="274320"/>
          </a:xfrm>
          <a:prstGeom prst="rect">
            <a:avLst/>
          </a:prstGeom>
          <a:noFill/>
        </p:spPr>
        <p:txBody>
          <a:bodyPr wrap="square" lIns="0" rIns="0" tIns="0" bIns="0" anchor="t">
            <a:spAutoFit/>
          </a:bodyPr>
          <a:lstStyle/>
          <a:p>
            <a:pPr algn="l">
              <a:lnSpc>
                <a:spcPct val="100000"/>
              </a:lnSpc>
              <a:spcAft>
                <a:spcPts val="0"/>
              </a:spcAft>
            </a:pPr>
            <a:r>
              <a:rPr sz="1050" b="1" i="0">
                <a:solidFill>
                  <a:srgbClr val="5CC98B"/>
                </a:solidFill>
                <a:latin typeface="Aptos"/>
              </a:rPr>
              <a:t>DONE</a:t>
            </a:r>
          </a:p>
        </p:txBody>
      </p:sp>
      <p:sp>
        <p:nvSpPr>
          <p:cNvPr id="11" name="Rounded Rectangle 10"/>
          <p:cNvSpPr/>
          <p:nvPr/>
        </p:nvSpPr>
        <p:spPr>
          <a:xfrm>
            <a:off x="2798064" y="1463040"/>
            <a:ext cx="2112264" cy="1417320"/>
          </a:xfrm>
          <a:prstGeom prst="roundRect">
            <a:avLst>
              <a:gd name="adj" fmla="val 7741"/>
            </a:avLst>
          </a:prstGeom>
          <a:solidFill>
            <a:srgbClr val="1B2B43"/>
          </a:solidFill>
          <a:ln w="9525">
            <a:solidFill>
              <a:srgbClr val="5CC9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026664" y="1627632"/>
            <a:ext cx="1655064" cy="365760"/>
          </a:xfrm>
          <a:prstGeom prst="rect">
            <a:avLst/>
          </a:prstGeom>
          <a:noFill/>
        </p:spPr>
        <p:txBody>
          <a:bodyPr wrap="square" lIns="0" rIns="0" tIns="0" bIns="0" anchor="t">
            <a:spAutoFit/>
          </a:bodyPr>
          <a:lstStyle/>
          <a:p>
            <a:pPr algn="l">
              <a:lnSpc>
                <a:spcPct val="100000"/>
              </a:lnSpc>
              <a:spcAft>
                <a:spcPts val="0"/>
              </a:spcAft>
            </a:pPr>
            <a:r>
              <a:rPr sz="1800" b="1" i="0">
                <a:solidFill>
                  <a:srgbClr val="5CC98B"/>
                </a:solidFill>
                <a:latin typeface="Aptos"/>
              </a:rPr>
              <a:t>W2</a:t>
            </a:r>
          </a:p>
        </p:txBody>
      </p:sp>
      <p:sp>
        <p:nvSpPr>
          <p:cNvPr id="13" name="TextBox 12"/>
          <p:cNvSpPr txBox="1"/>
          <p:nvPr/>
        </p:nvSpPr>
        <p:spPr>
          <a:xfrm>
            <a:off x="3026664" y="2011680"/>
            <a:ext cx="1655064" cy="4572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Baselines + first results</a:t>
            </a:r>
          </a:p>
        </p:txBody>
      </p:sp>
      <p:sp>
        <p:nvSpPr>
          <p:cNvPr id="14" name="TextBox 13"/>
          <p:cNvSpPr txBox="1"/>
          <p:nvPr/>
        </p:nvSpPr>
        <p:spPr>
          <a:xfrm>
            <a:off x="3026664" y="2514600"/>
            <a:ext cx="1655064" cy="274320"/>
          </a:xfrm>
          <a:prstGeom prst="rect">
            <a:avLst/>
          </a:prstGeom>
          <a:noFill/>
        </p:spPr>
        <p:txBody>
          <a:bodyPr wrap="square" lIns="0" rIns="0" tIns="0" bIns="0" anchor="t">
            <a:spAutoFit/>
          </a:bodyPr>
          <a:lstStyle/>
          <a:p>
            <a:pPr algn="l">
              <a:lnSpc>
                <a:spcPct val="100000"/>
              </a:lnSpc>
              <a:spcAft>
                <a:spcPts val="0"/>
              </a:spcAft>
            </a:pPr>
            <a:r>
              <a:rPr sz="1050" b="1" i="0">
                <a:solidFill>
                  <a:srgbClr val="5CC98B"/>
                </a:solidFill>
                <a:latin typeface="Aptos"/>
              </a:rPr>
              <a:t>DONE</a:t>
            </a:r>
          </a:p>
        </p:txBody>
      </p:sp>
      <p:sp>
        <p:nvSpPr>
          <p:cNvPr id="15" name="Rounded Rectangle 14"/>
          <p:cNvSpPr/>
          <p:nvPr/>
        </p:nvSpPr>
        <p:spPr>
          <a:xfrm>
            <a:off x="5047488" y="1463040"/>
            <a:ext cx="2112264" cy="1417320"/>
          </a:xfrm>
          <a:prstGeom prst="roundRect">
            <a:avLst>
              <a:gd name="adj" fmla="val 7741"/>
            </a:avLst>
          </a:prstGeom>
          <a:solidFill>
            <a:srgbClr val="1B2B43"/>
          </a:solidFill>
          <a:ln w="9525">
            <a:solidFill>
              <a:srgbClr val="2DC4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76088" y="1627632"/>
            <a:ext cx="1655064" cy="365760"/>
          </a:xfrm>
          <a:prstGeom prst="rect">
            <a:avLst/>
          </a:prstGeom>
          <a:noFill/>
        </p:spPr>
        <p:txBody>
          <a:bodyPr wrap="square" lIns="0" rIns="0" tIns="0" bIns="0" anchor="t">
            <a:spAutoFit/>
          </a:bodyPr>
          <a:lstStyle/>
          <a:p>
            <a:pPr algn="l">
              <a:lnSpc>
                <a:spcPct val="100000"/>
              </a:lnSpc>
              <a:spcAft>
                <a:spcPts val="0"/>
              </a:spcAft>
            </a:pPr>
            <a:r>
              <a:rPr sz="1800" b="1" i="0">
                <a:solidFill>
                  <a:srgbClr val="2DC4D3"/>
                </a:solidFill>
                <a:latin typeface="Aptos"/>
              </a:rPr>
              <a:t>W3–4</a:t>
            </a:r>
          </a:p>
        </p:txBody>
      </p:sp>
      <p:sp>
        <p:nvSpPr>
          <p:cNvPr id="17" name="TextBox 16"/>
          <p:cNvSpPr txBox="1"/>
          <p:nvPr/>
        </p:nvSpPr>
        <p:spPr>
          <a:xfrm>
            <a:off x="5276088" y="2011680"/>
            <a:ext cx="1655064" cy="4572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Build &amp; test triage pipeline</a:t>
            </a:r>
          </a:p>
        </p:txBody>
      </p:sp>
      <p:sp>
        <p:nvSpPr>
          <p:cNvPr id="18" name="TextBox 17"/>
          <p:cNvSpPr txBox="1"/>
          <p:nvPr/>
        </p:nvSpPr>
        <p:spPr>
          <a:xfrm>
            <a:off x="5276088" y="2514600"/>
            <a:ext cx="1655064" cy="274320"/>
          </a:xfrm>
          <a:prstGeom prst="rect">
            <a:avLst/>
          </a:prstGeom>
          <a:noFill/>
        </p:spPr>
        <p:txBody>
          <a:bodyPr wrap="square" lIns="0" rIns="0" tIns="0" bIns="0" anchor="t">
            <a:spAutoFit/>
          </a:bodyPr>
          <a:lstStyle/>
          <a:p>
            <a:pPr algn="l">
              <a:lnSpc>
                <a:spcPct val="100000"/>
              </a:lnSpc>
              <a:spcAft>
                <a:spcPts val="0"/>
              </a:spcAft>
            </a:pPr>
            <a:r>
              <a:rPr sz="1050" b="1" i="0">
                <a:solidFill>
                  <a:srgbClr val="2DC4D3"/>
                </a:solidFill>
                <a:latin typeface="Aptos"/>
              </a:rPr>
              <a:t>NEXT</a:t>
            </a:r>
          </a:p>
        </p:txBody>
      </p:sp>
      <p:sp>
        <p:nvSpPr>
          <p:cNvPr id="19" name="Rounded Rectangle 18"/>
          <p:cNvSpPr/>
          <p:nvPr/>
        </p:nvSpPr>
        <p:spPr>
          <a:xfrm>
            <a:off x="7296912" y="1463040"/>
            <a:ext cx="2112264" cy="1417320"/>
          </a:xfrm>
          <a:prstGeom prst="roundRect">
            <a:avLst>
              <a:gd name="adj" fmla="val 774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25512" y="1627632"/>
            <a:ext cx="1655064" cy="365760"/>
          </a:xfrm>
          <a:prstGeom prst="rect">
            <a:avLst/>
          </a:prstGeom>
          <a:noFill/>
        </p:spPr>
        <p:txBody>
          <a:bodyPr wrap="square" lIns="0" rIns="0" tIns="0" bIns="0" anchor="t">
            <a:spAutoFit/>
          </a:bodyPr>
          <a:lstStyle/>
          <a:p>
            <a:pPr algn="l">
              <a:lnSpc>
                <a:spcPct val="100000"/>
              </a:lnSpc>
              <a:spcAft>
                <a:spcPts val="0"/>
              </a:spcAft>
            </a:pPr>
            <a:r>
              <a:rPr sz="1800" b="1" i="0">
                <a:solidFill>
                  <a:srgbClr val="F5F8FC"/>
                </a:solidFill>
                <a:latin typeface="Aptos"/>
              </a:rPr>
              <a:t>W5</a:t>
            </a:r>
          </a:p>
        </p:txBody>
      </p:sp>
      <p:sp>
        <p:nvSpPr>
          <p:cNvPr id="21" name="TextBox 20"/>
          <p:cNvSpPr txBox="1"/>
          <p:nvPr/>
        </p:nvSpPr>
        <p:spPr>
          <a:xfrm>
            <a:off x="7525512" y="2011680"/>
            <a:ext cx="1655064" cy="4572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Evaluate vs. baselines</a:t>
            </a:r>
          </a:p>
        </p:txBody>
      </p:sp>
      <p:sp>
        <p:nvSpPr>
          <p:cNvPr id="22" name="TextBox 21"/>
          <p:cNvSpPr txBox="1"/>
          <p:nvPr/>
        </p:nvSpPr>
        <p:spPr>
          <a:xfrm>
            <a:off x="7525512" y="2514600"/>
            <a:ext cx="1655064" cy="274320"/>
          </a:xfrm>
          <a:prstGeom prst="rect">
            <a:avLst/>
          </a:prstGeom>
          <a:noFill/>
        </p:spPr>
        <p:txBody>
          <a:bodyPr wrap="square" lIns="0" rIns="0" tIns="0" bIns="0" anchor="t">
            <a:spAutoFit/>
          </a:bodyPr>
          <a:lstStyle/>
          <a:p>
            <a:pPr algn="l">
              <a:lnSpc>
                <a:spcPct val="100000"/>
              </a:lnSpc>
              <a:spcAft>
                <a:spcPts val="0"/>
              </a:spcAft>
            </a:pPr>
            <a:r>
              <a:rPr sz="1050" b="1" i="0">
                <a:solidFill>
                  <a:srgbClr val="B0BED2"/>
                </a:solidFill>
                <a:latin typeface="Aptos"/>
              </a:rPr>
              <a:t>PLANNED</a:t>
            </a:r>
          </a:p>
        </p:txBody>
      </p:sp>
      <p:sp>
        <p:nvSpPr>
          <p:cNvPr id="23" name="Rounded Rectangle 22"/>
          <p:cNvSpPr/>
          <p:nvPr/>
        </p:nvSpPr>
        <p:spPr>
          <a:xfrm>
            <a:off x="9546336" y="1463040"/>
            <a:ext cx="2112264" cy="1417320"/>
          </a:xfrm>
          <a:prstGeom prst="roundRect">
            <a:avLst>
              <a:gd name="adj" fmla="val 7741"/>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774936" y="1627632"/>
            <a:ext cx="1655064" cy="365760"/>
          </a:xfrm>
          <a:prstGeom prst="rect">
            <a:avLst/>
          </a:prstGeom>
          <a:noFill/>
        </p:spPr>
        <p:txBody>
          <a:bodyPr wrap="square" lIns="0" rIns="0" tIns="0" bIns="0" anchor="t">
            <a:spAutoFit/>
          </a:bodyPr>
          <a:lstStyle/>
          <a:p>
            <a:pPr algn="l">
              <a:lnSpc>
                <a:spcPct val="100000"/>
              </a:lnSpc>
              <a:spcAft>
                <a:spcPts val="0"/>
              </a:spcAft>
            </a:pPr>
            <a:r>
              <a:rPr sz="1800" b="1" i="0">
                <a:solidFill>
                  <a:srgbClr val="F5F8FC"/>
                </a:solidFill>
                <a:latin typeface="Aptos"/>
              </a:rPr>
              <a:t>W6</a:t>
            </a:r>
          </a:p>
        </p:txBody>
      </p:sp>
      <p:sp>
        <p:nvSpPr>
          <p:cNvPr id="25" name="TextBox 24"/>
          <p:cNvSpPr txBox="1"/>
          <p:nvPr/>
        </p:nvSpPr>
        <p:spPr>
          <a:xfrm>
            <a:off x="9774936" y="2011680"/>
            <a:ext cx="1655064" cy="457200"/>
          </a:xfrm>
          <a:prstGeom prst="rect">
            <a:avLst/>
          </a:prstGeom>
          <a:noFill/>
        </p:spPr>
        <p:txBody>
          <a:bodyPr wrap="square" lIns="0" rIns="0" tIns="0" bIns="0" anchor="t">
            <a:spAutoFit/>
          </a:bodyPr>
          <a:lstStyle/>
          <a:p>
            <a:pPr algn="l">
              <a:lnSpc>
                <a:spcPct val="100000"/>
              </a:lnSpc>
              <a:spcAft>
                <a:spcPts val="0"/>
              </a:spcAft>
            </a:pPr>
            <a:r>
              <a:rPr sz="1200" b="0" i="0">
                <a:solidFill>
                  <a:srgbClr val="B0BED2"/>
                </a:solidFill>
                <a:latin typeface="Aptos"/>
              </a:rPr>
              <a:t>Write-up &amp; final talk</a:t>
            </a:r>
          </a:p>
        </p:txBody>
      </p:sp>
      <p:sp>
        <p:nvSpPr>
          <p:cNvPr id="26" name="TextBox 25"/>
          <p:cNvSpPr txBox="1"/>
          <p:nvPr/>
        </p:nvSpPr>
        <p:spPr>
          <a:xfrm>
            <a:off x="9774936" y="2514600"/>
            <a:ext cx="1655064" cy="274320"/>
          </a:xfrm>
          <a:prstGeom prst="rect">
            <a:avLst/>
          </a:prstGeom>
          <a:noFill/>
        </p:spPr>
        <p:txBody>
          <a:bodyPr wrap="square" lIns="0" rIns="0" tIns="0" bIns="0" anchor="t">
            <a:spAutoFit/>
          </a:bodyPr>
          <a:lstStyle/>
          <a:p>
            <a:pPr algn="l">
              <a:lnSpc>
                <a:spcPct val="100000"/>
              </a:lnSpc>
              <a:spcAft>
                <a:spcPts val="0"/>
              </a:spcAft>
            </a:pPr>
            <a:r>
              <a:rPr sz="1050" b="1" i="0">
                <a:solidFill>
                  <a:srgbClr val="B0BED2"/>
                </a:solidFill>
                <a:latin typeface="Aptos"/>
              </a:rPr>
              <a:t>PLANNED</a:t>
            </a:r>
          </a:p>
        </p:txBody>
      </p:sp>
      <p:sp>
        <p:nvSpPr>
          <p:cNvPr id="27" name="Rounded Rectangle 26"/>
          <p:cNvSpPr/>
          <p:nvPr/>
        </p:nvSpPr>
        <p:spPr>
          <a:xfrm>
            <a:off x="548640" y="3200400"/>
            <a:ext cx="3566160" cy="2926080"/>
          </a:xfrm>
          <a:prstGeom prst="roundRect">
            <a:avLst>
              <a:gd name="adj" fmla="val 375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3456432"/>
            <a:ext cx="30175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NEXT 1</a:t>
            </a:r>
          </a:p>
        </p:txBody>
      </p:sp>
      <p:sp>
        <p:nvSpPr>
          <p:cNvPr id="29" name="TextBox 28"/>
          <p:cNvSpPr txBox="1"/>
          <p:nvPr/>
        </p:nvSpPr>
        <p:spPr>
          <a:xfrm>
            <a:off x="822959" y="3840480"/>
            <a:ext cx="3017520" cy="457200"/>
          </a:xfrm>
          <a:prstGeom prst="rect">
            <a:avLst/>
          </a:prstGeom>
          <a:noFill/>
        </p:spPr>
        <p:txBody>
          <a:bodyPr wrap="square" lIns="0" rIns="0" tIns="0" bIns="0" anchor="t">
            <a:spAutoFit/>
          </a:bodyPr>
          <a:lstStyle/>
          <a:p>
            <a:pPr algn="l">
              <a:lnSpc>
                <a:spcPct val="100000"/>
              </a:lnSpc>
              <a:spcAft>
                <a:spcPts val="0"/>
              </a:spcAft>
            </a:pPr>
            <a:r>
              <a:rPr sz="1800" b="1" i="0">
                <a:solidFill>
                  <a:srgbClr val="F5F8FC"/>
                </a:solidFill>
                <a:latin typeface="Aptos"/>
              </a:rPr>
              <a:t>Build Stage 2 (escalation)</a:t>
            </a:r>
          </a:p>
        </p:txBody>
      </p:sp>
      <p:sp>
        <p:nvSpPr>
          <p:cNvPr id="30" name="TextBox 29"/>
          <p:cNvSpPr txBox="1"/>
          <p:nvPr/>
        </p:nvSpPr>
        <p:spPr>
          <a:xfrm>
            <a:off x="822959" y="4389120"/>
            <a:ext cx="3017520" cy="1645920"/>
          </a:xfrm>
          <a:prstGeom prst="rect">
            <a:avLst/>
          </a:prstGeom>
          <a:noFill/>
        </p:spPr>
        <p:txBody>
          <a:bodyPr wrap="square" lIns="0" rIns="0" tIns="0" bIns="0" anchor="t">
            <a:spAutoFit/>
          </a:bodyPr>
          <a:lstStyle/>
          <a:p>
            <a:pPr algn="l">
              <a:lnSpc>
                <a:spcPct val="105000"/>
              </a:lnSpc>
              <a:spcAft>
                <a:spcPts val="0"/>
              </a:spcAft>
            </a:pPr>
            <a:r>
              <a:rPr sz="1500" b="0" i="0">
                <a:solidFill>
                  <a:srgbClr val="B0BED2"/>
                </a:solidFill>
                <a:latin typeface="Aptos"/>
              </a:rPr>
              <a:t>Retrieval fact-check or multi-agent / stronger-model re-check, applied only to low-agreement questions.</a:t>
            </a:r>
          </a:p>
        </p:txBody>
      </p:sp>
      <p:sp>
        <p:nvSpPr>
          <p:cNvPr id="31" name="Rounded Rectangle 30"/>
          <p:cNvSpPr/>
          <p:nvPr/>
        </p:nvSpPr>
        <p:spPr>
          <a:xfrm>
            <a:off x="4320540" y="3200400"/>
            <a:ext cx="3566160" cy="2926080"/>
          </a:xfrm>
          <a:prstGeom prst="roundRect">
            <a:avLst>
              <a:gd name="adj" fmla="val 375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94859" y="3456432"/>
            <a:ext cx="30175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NEXT 2</a:t>
            </a:r>
          </a:p>
        </p:txBody>
      </p:sp>
      <p:sp>
        <p:nvSpPr>
          <p:cNvPr id="33" name="TextBox 32"/>
          <p:cNvSpPr txBox="1"/>
          <p:nvPr/>
        </p:nvSpPr>
        <p:spPr>
          <a:xfrm>
            <a:off x="4594859" y="3840480"/>
            <a:ext cx="3017520" cy="457200"/>
          </a:xfrm>
          <a:prstGeom prst="rect">
            <a:avLst/>
          </a:prstGeom>
          <a:noFill/>
        </p:spPr>
        <p:txBody>
          <a:bodyPr wrap="square" lIns="0" rIns="0" tIns="0" bIns="0" anchor="t">
            <a:spAutoFit/>
          </a:bodyPr>
          <a:lstStyle/>
          <a:p>
            <a:pPr algn="l">
              <a:lnSpc>
                <a:spcPct val="100000"/>
              </a:lnSpc>
              <a:spcAft>
                <a:spcPts val="0"/>
              </a:spcAft>
            </a:pPr>
            <a:r>
              <a:rPr sz="1800" b="1" i="0">
                <a:solidFill>
                  <a:srgbClr val="F5F8FC"/>
                </a:solidFill>
                <a:latin typeface="Aptos"/>
              </a:rPr>
              <a:t>Measure cost honestly</a:t>
            </a:r>
          </a:p>
        </p:txBody>
      </p:sp>
      <p:sp>
        <p:nvSpPr>
          <p:cNvPr id="34" name="TextBox 33"/>
          <p:cNvSpPr txBox="1"/>
          <p:nvPr/>
        </p:nvSpPr>
        <p:spPr>
          <a:xfrm>
            <a:off x="4594859" y="4389120"/>
            <a:ext cx="3017520" cy="1645920"/>
          </a:xfrm>
          <a:prstGeom prst="rect">
            <a:avLst/>
          </a:prstGeom>
          <a:noFill/>
        </p:spPr>
        <p:txBody>
          <a:bodyPr wrap="square" lIns="0" rIns="0" tIns="0" bIns="0" anchor="t">
            <a:spAutoFit/>
          </a:bodyPr>
          <a:lstStyle/>
          <a:p>
            <a:pPr algn="l">
              <a:lnSpc>
                <a:spcPct val="105000"/>
              </a:lnSpc>
              <a:spcAft>
                <a:spcPts val="0"/>
              </a:spcAft>
            </a:pPr>
            <a:r>
              <a:rPr sz="1500" b="0" i="0">
                <a:solidFill>
                  <a:srgbClr val="B0BED2"/>
                </a:solidFill>
                <a:latin typeface="Aptos"/>
              </a:rPr>
              <a:t>Log tokens &amp; latency: always-answer vs. always-escalate vs. triage; tune the agreement threshold.</a:t>
            </a:r>
          </a:p>
        </p:txBody>
      </p:sp>
      <p:sp>
        <p:nvSpPr>
          <p:cNvPr id="35" name="Rounded Rectangle 34"/>
          <p:cNvSpPr/>
          <p:nvPr/>
        </p:nvSpPr>
        <p:spPr>
          <a:xfrm>
            <a:off x="8092440" y="3200400"/>
            <a:ext cx="3566160" cy="2926080"/>
          </a:xfrm>
          <a:prstGeom prst="roundRect">
            <a:avLst>
              <a:gd name="adj" fmla="val 3750"/>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66760" y="3456432"/>
            <a:ext cx="30175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NEXT 3</a:t>
            </a:r>
          </a:p>
        </p:txBody>
      </p:sp>
      <p:sp>
        <p:nvSpPr>
          <p:cNvPr id="37" name="TextBox 36"/>
          <p:cNvSpPr txBox="1"/>
          <p:nvPr/>
        </p:nvSpPr>
        <p:spPr>
          <a:xfrm>
            <a:off x="8366760" y="3840480"/>
            <a:ext cx="3017520" cy="457200"/>
          </a:xfrm>
          <a:prstGeom prst="rect">
            <a:avLst/>
          </a:prstGeom>
          <a:noFill/>
        </p:spPr>
        <p:txBody>
          <a:bodyPr wrap="square" lIns="0" rIns="0" tIns="0" bIns="0" anchor="t">
            <a:spAutoFit/>
          </a:bodyPr>
          <a:lstStyle/>
          <a:p>
            <a:pPr algn="l">
              <a:lnSpc>
                <a:spcPct val="100000"/>
              </a:lnSpc>
              <a:spcAft>
                <a:spcPts val="0"/>
              </a:spcAft>
            </a:pPr>
            <a:r>
              <a:rPr sz="1800" b="1" i="0">
                <a:solidFill>
                  <a:srgbClr val="F5F8FC"/>
                </a:solidFill>
                <a:latin typeface="Aptos"/>
              </a:rPr>
              <a:t>Test generality</a:t>
            </a:r>
          </a:p>
        </p:txBody>
      </p:sp>
      <p:sp>
        <p:nvSpPr>
          <p:cNvPr id="38" name="TextBox 37"/>
          <p:cNvSpPr txBox="1"/>
          <p:nvPr/>
        </p:nvSpPr>
        <p:spPr>
          <a:xfrm>
            <a:off x="8366760" y="4389120"/>
            <a:ext cx="3017520" cy="1645920"/>
          </a:xfrm>
          <a:prstGeom prst="rect">
            <a:avLst/>
          </a:prstGeom>
          <a:noFill/>
        </p:spPr>
        <p:txBody>
          <a:bodyPr wrap="square" lIns="0" rIns="0" tIns="0" bIns="0" anchor="t">
            <a:spAutoFit/>
          </a:bodyPr>
          <a:lstStyle/>
          <a:p>
            <a:pPr algn="l">
              <a:lnSpc>
                <a:spcPct val="105000"/>
              </a:lnSpc>
              <a:spcAft>
                <a:spcPts val="0"/>
              </a:spcAft>
            </a:pPr>
            <a:r>
              <a:rPr sz="1500" b="0" i="0">
                <a:solidFill>
                  <a:srgbClr val="B0BED2"/>
                </a:solidFill>
                <a:latin typeface="Aptos"/>
              </a:rPr>
              <a:t>Add a harder benchmark (e.g. SimpleQA) and a second model; larger sample for tighter estimates.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828"/>
        </a:solidFill>
        <a:effectLst/>
      </p:bgPr>
    </p:bg>
    <p:spTree>
      <p:nvGrpSpPr>
        <p:cNvPr id="1" name=""/>
        <p:cNvGrpSpPr/>
        <p:nvPr/>
      </p:nvGrpSpPr>
      <p:grpSpPr/>
      <p:sp>
        <p:nvSpPr>
          <p:cNvPr id="2" name="TextBox 1"/>
          <p:cNvSpPr txBox="1"/>
          <p:nvPr/>
        </p:nvSpPr>
        <p:spPr>
          <a:xfrm>
            <a:off x="548640" y="6428232"/>
            <a:ext cx="7315200" cy="228600"/>
          </a:xfrm>
          <a:prstGeom prst="rect">
            <a:avLst/>
          </a:prstGeom>
          <a:noFill/>
        </p:spPr>
        <p:txBody>
          <a:bodyPr wrap="square" lIns="0" rIns="0" tIns="0" bIns="0" anchor="t">
            <a:spAutoFit/>
          </a:bodyPr>
          <a:lstStyle/>
          <a:p>
            <a:pPr algn="l">
              <a:lnSpc>
                <a:spcPct val="100000"/>
              </a:lnSpc>
              <a:spcAft>
                <a:spcPts val="0"/>
              </a:spcAft>
            </a:pPr>
            <a:r>
              <a:rPr sz="900" b="0" i="0">
                <a:solidFill>
                  <a:srgbClr val="B0BED2"/>
                </a:solidFill>
                <a:latin typeface="Aptos"/>
              </a:rPr>
              <a:t>Overconfidence in GenAI Answers  •  Seminar on AI</a:t>
            </a:r>
          </a:p>
        </p:txBody>
      </p:sp>
      <p:sp>
        <p:nvSpPr>
          <p:cNvPr id="3" name="TextBox 2"/>
          <p:cNvSpPr txBox="1"/>
          <p:nvPr/>
        </p:nvSpPr>
        <p:spPr>
          <a:xfrm>
            <a:off x="8869680" y="6428232"/>
            <a:ext cx="2788920" cy="228600"/>
          </a:xfrm>
          <a:prstGeom prst="rect">
            <a:avLst/>
          </a:prstGeom>
          <a:noFill/>
        </p:spPr>
        <p:txBody>
          <a:bodyPr wrap="square" lIns="0" rIns="0" tIns="0" bIns="0" anchor="t">
            <a:spAutoFit/>
          </a:bodyPr>
          <a:lstStyle/>
          <a:p>
            <a:pPr algn="r">
              <a:lnSpc>
                <a:spcPct val="100000"/>
              </a:lnSpc>
              <a:spcAft>
                <a:spcPts val="0"/>
              </a:spcAft>
            </a:pPr>
            <a:r>
              <a:rPr sz="900" b="0" i="0">
                <a:solidFill>
                  <a:srgbClr val="B0BED2"/>
                </a:solidFill>
                <a:latin typeface="Aptos"/>
              </a:rPr>
              <a:t>16 Oct 2026</a:t>
            </a:r>
          </a:p>
        </p:txBody>
      </p:sp>
      <p:sp>
        <p:nvSpPr>
          <p:cNvPr id="4" name="TextBox 3"/>
          <p:cNvSpPr txBox="1"/>
          <p:nvPr/>
        </p:nvSpPr>
        <p:spPr>
          <a:xfrm>
            <a:off x="685800" y="914400"/>
            <a:ext cx="5029200" cy="365760"/>
          </a:xfrm>
          <a:prstGeom prst="rect">
            <a:avLst/>
          </a:prstGeom>
          <a:noFill/>
        </p:spPr>
        <p:txBody>
          <a:bodyPr wrap="square" lIns="0" rIns="0" tIns="0" bIns="0" anchor="t">
            <a:spAutoFit/>
          </a:bodyPr>
          <a:lstStyle/>
          <a:p>
            <a:pPr algn="l">
              <a:lnSpc>
                <a:spcPct val="100000"/>
              </a:lnSpc>
              <a:spcAft>
                <a:spcPts val="0"/>
              </a:spcAft>
            </a:pPr>
            <a:r>
              <a:rPr sz="1300" b="1" i="0">
                <a:solidFill>
                  <a:srgbClr val="2DC4D3"/>
                </a:solidFill>
                <a:latin typeface="Aptos"/>
              </a:rPr>
              <a:t>THANK YOU</a:t>
            </a:r>
          </a:p>
        </p:txBody>
      </p:sp>
      <p:sp>
        <p:nvSpPr>
          <p:cNvPr id="5" name="TextBox 4"/>
          <p:cNvSpPr txBox="1"/>
          <p:nvPr/>
        </p:nvSpPr>
        <p:spPr>
          <a:xfrm>
            <a:off x="685800" y="1325880"/>
            <a:ext cx="5303520" cy="914400"/>
          </a:xfrm>
          <a:prstGeom prst="rect">
            <a:avLst/>
          </a:prstGeom>
          <a:noFill/>
        </p:spPr>
        <p:txBody>
          <a:bodyPr wrap="square" lIns="0" rIns="0" tIns="0" bIns="0" anchor="t">
            <a:spAutoFit/>
          </a:bodyPr>
          <a:lstStyle/>
          <a:p>
            <a:pPr algn="l">
              <a:lnSpc>
                <a:spcPct val="100000"/>
              </a:lnSpc>
              <a:spcAft>
                <a:spcPts val="0"/>
              </a:spcAft>
            </a:pPr>
            <a:r>
              <a:rPr sz="4400" b="1" i="0">
                <a:solidFill>
                  <a:srgbClr val="F5F8FC"/>
                </a:solidFill>
                <a:latin typeface="Aptos"/>
              </a:rPr>
              <a:t>Questions?</a:t>
            </a:r>
          </a:p>
        </p:txBody>
      </p:sp>
      <p:sp>
        <p:nvSpPr>
          <p:cNvPr id="6" name="TextBox 5"/>
          <p:cNvSpPr txBox="1"/>
          <p:nvPr/>
        </p:nvSpPr>
        <p:spPr>
          <a:xfrm>
            <a:off x="704088" y="2331720"/>
            <a:ext cx="4937760" cy="1645920"/>
          </a:xfrm>
          <a:prstGeom prst="rect">
            <a:avLst/>
          </a:prstGeom>
          <a:noFill/>
        </p:spPr>
        <p:txBody>
          <a:bodyPr wrap="square" lIns="0" rIns="0" tIns="0" bIns="0" anchor="t">
            <a:spAutoFit/>
          </a:bodyPr>
          <a:lstStyle/>
          <a:p>
            <a:pPr algn="l">
              <a:lnSpc>
                <a:spcPct val="115000"/>
              </a:lnSpc>
              <a:spcAft>
                <a:spcPts val="0"/>
              </a:spcAft>
            </a:pPr>
            <a:r>
              <a:rPr sz="1500" b="0" i="0">
                <a:solidFill>
                  <a:srgbClr val="B0BED2"/>
                </a:solidFill>
                <a:latin typeface="Aptos"/>
              </a:rPr>
              <a:t>Saman Rai • ID 2317130
Group 7 • Seminar on AI</a:t>
            </a:r>
          </a:p>
        </p:txBody>
      </p:sp>
      <p:sp>
        <p:nvSpPr>
          <p:cNvPr id="7" name="Rounded Rectangle 6"/>
          <p:cNvSpPr/>
          <p:nvPr/>
        </p:nvSpPr>
        <p:spPr>
          <a:xfrm>
            <a:off x="6172200" y="822960"/>
            <a:ext cx="5486400" cy="5303520"/>
          </a:xfrm>
          <a:prstGeom prst="roundRect">
            <a:avLst>
              <a:gd name="adj" fmla="val 2068"/>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46520" y="1051560"/>
            <a:ext cx="5029200" cy="274320"/>
          </a:xfrm>
          <a:prstGeom prst="rect">
            <a:avLst/>
          </a:prstGeom>
          <a:noFill/>
        </p:spPr>
        <p:txBody>
          <a:bodyPr wrap="square" lIns="0" rIns="0" tIns="0" bIns="0" anchor="t">
            <a:spAutoFit/>
          </a:bodyPr>
          <a:lstStyle/>
          <a:p>
            <a:pPr algn="l">
              <a:lnSpc>
                <a:spcPct val="100000"/>
              </a:lnSpc>
              <a:spcAft>
                <a:spcPts val="0"/>
              </a:spcAft>
            </a:pPr>
            <a:r>
              <a:rPr sz="1100" b="1" i="0">
                <a:solidFill>
                  <a:srgbClr val="2DC4D3"/>
                </a:solidFill>
                <a:latin typeface="Aptos"/>
              </a:rPr>
              <a:t>REFERENCES USED THIS WEEK</a:t>
            </a:r>
          </a:p>
        </p:txBody>
      </p:sp>
      <p:sp>
        <p:nvSpPr>
          <p:cNvPr id="9" name="TextBox 8"/>
          <p:cNvSpPr txBox="1"/>
          <p:nvPr/>
        </p:nvSpPr>
        <p:spPr>
          <a:xfrm>
            <a:off x="6446520" y="1508760"/>
            <a:ext cx="4983480" cy="4480560"/>
          </a:xfrm>
          <a:prstGeom prst="rect">
            <a:avLst/>
          </a:prstGeom>
          <a:noFill/>
        </p:spPr>
        <p:txBody>
          <a:bodyPr wrap="square" lIns="0" rIns="0" tIns="0" bIns="0" anchor="t">
            <a:spAutoFit/>
          </a:bodyPr>
          <a:lstStyle/>
          <a:p>
            <a:pPr algn="l">
              <a:lnSpc>
                <a:spcPct val="100000"/>
              </a:lnSpc>
              <a:spcAft>
                <a:spcPts val="300"/>
              </a:spcAft>
            </a:pPr>
            <a:r>
              <a:rPr sz="1300" b="1" i="0">
                <a:solidFill>
                  <a:srgbClr val="F5F8FC"/>
                </a:solidFill>
                <a:latin typeface="Aptos"/>
              </a:rPr>
              <a:t>Guo et al. (ICML 2017)</a:t>
            </a:r>
          </a:p>
          <a:p>
            <a:pPr algn="l">
              <a:lnSpc>
                <a:spcPct val="100000"/>
              </a:lnSpc>
              <a:spcAft>
                <a:spcPts val="1300"/>
              </a:spcAft>
            </a:pPr>
            <a:r>
              <a:rPr sz="1200" b="0" i="0">
                <a:solidFill>
                  <a:srgbClr val="B0BED2"/>
                </a:solidFill>
                <a:latin typeface="Aptos"/>
              </a:rPr>
              <a:t>On Calibration of Modern Neural Networks — temperature scaling.</a:t>
            </a:r>
          </a:p>
          <a:p>
            <a:pPr algn="l">
              <a:lnSpc>
                <a:spcPct val="100000"/>
              </a:lnSpc>
              <a:spcAft>
                <a:spcPts val="300"/>
              </a:spcAft>
            </a:pPr>
            <a:r>
              <a:rPr sz="1300" b="1" i="0">
                <a:solidFill>
                  <a:srgbClr val="F5F8FC"/>
                </a:solidFill>
                <a:latin typeface="Aptos"/>
              </a:rPr>
              <a:t>Tian et al. (EMNLP 2023)</a:t>
            </a:r>
          </a:p>
          <a:p>
            <a:pPr algn="l">
              <a:lnSpc>
                <a:spcPct val="100000"/>
              </a:lnSpc>
              <a:spcAft>
                <a:spcPts val="1300"/>
              </a:spcAft>
            </a:pPr>
            <a:r>
              <a:rPr sz="1200" b="0" i="0">
                <a:solidFill>
                  <a:srgbClr val="B0BED2"/>
                </a:solidFill>
                <a:latin typeface="Aptos"/>
              </a:rPr>
              <a:t>Just Ask for Calibration — verbalized confidence from RLHF-tuned LLMs.</a:t>
            </a:r>
          </a:p>
          <a:p>
            <a:pPr algn="l">
              <a:lnSpc>
                <a:spcPct val="100000"/>
              </a:lnSpc>
              <a:spcAft>
                <a:spcPts val="300"/>
              </a:spcAft>
            </a:pPr>
            <a:r>
              <a:rPr sz="1300" b="1" i="0">
                <a:solidFill>
                  <a:srgbClr val="F5F8FC"/>
                </a:solidFill>
                <a:latin typeface="Aptos"/>
              </a:rPr>
              <a:t>Wang et al. (ICLR 2023)</a:t>
            </a:r>
          </a:p>
          <a:p>
            <a:pPr algn="l">
              <a:lnSpc>
                <a:spcPct val="100000"/>
              </a:lnSpc>
              <a:spcAft>
                <a:spcPts val="1300"/>
              </a:spcAft>
            </a:pPr>
            <a:r>
              <a:rPr sz="1200" b="0" i="0">
                <a:solidFill>
                  <a:srgbClr val="B0BED2"/>
                </a:solidFill>
                <a:latin typeface="Aptos"/>
              </a:rPr>
              <a:t>Self-Consistency Improves Chain of Thought Reasoning in Language Models.</a:t>
            </a:r>
          </a:p>
          <a:p>
            <a:pPr algn="l">
              <a:lnSpc>
                <a:spcPct val="100000"/>
              </a:lnSpc>
              <a:spcAft>
                <a:spcPts val="300"/>
              </a:spcAft>
            </a:pPr>
            <a:r>
              <a:rPr sz="1300" b="1" i="0">
                <a:solidFill>
                  <a:srgbClr val="F5F8FC"/>
                </a:solidFill>
                <a:latin typeface="Aptos"/>
              </a:rPr>
              <a:t>Geifman &amp; El-Yaniv (NeurIPS 2017)</a:t>
            </a:r>
          </a:p>
          <a:p>
            <a:pPr algn="l">
              <a:lnSpc>
                <a:spcPct val="100000"/>
              </a:lnSpc>
              <a:spcAft>
                <a:spcPts val="1300"/>
              </a:spcAft>
            </a:pPr>
            <a:r>
              <a:rPr sz="1200" b="0" i="0">
                <a:solidFill>
                  <a:srgbClr val="B0BED2"/>
                </a:solidFill>
                <a:latin typeface="Aptos"/>
              </a:rPr>
              <a:t>Selective Classification for Deep Neural Networks — risk–coverage.</a:t>
            </a:r>
          </a:p>
          <a:p>
            <a:pPr algn="l">
              <a:lnSpc>
                <a:spcPct val="100000"/>
              </a:lnSpc>
              <a:spcAft>
                <a:spcPts val="300"/>
              </a:spcAft>
            </a:pPr>
            <a:r>
              <a:rPr sz="1300" b="1" i="0">
                <a:solidFill>
                  <a:srgbClr val="F5F8FC"/>
                </a:solidFill>
                <a:latin typeface="Aptos"/>
              </a:rPr>
              <a:t>Joshi et al. (ACL 2017)</a:t>
            </a:r>
          </a:p>
          <a:p>
            <a:pPr algn="l">
              <a:lnSpc>
                <a:spcPct val="100000"/>
              </a:lnSpc>
              <a:spcAft>
                <a:spcPts val="1300"/>
              </a:spcAft>
            </a:pPr>
            <a:r>
              <a:rPr sz="1200" b="0" i="0">
                <a:solidFill>
                  <a:srgbClr val="B0BED2"/>
                </a:solidFill>
                <a:latin typeface="Aptos"/>
              </a:rPr>
              <a:t>TriviaQA: a large-scale distantly supervised challenge dataset for reading comprehension.</a:t>
            </a:r>
          </a:p>
        </p:txBody>
      </p:sp>
      <p:sp>
        <p:nvSpPr>
          <p:cNvPr id="10" name="Rounded Rectangle 9"/>
          <p:cNvSpPr/>
          <p:nvPr/>
        </p:nvSpPr>
        <p:spPr>
          <a:xfrm>
            <a:off x="685800" y="3977639"/>
            <a:ext cx="4937760" cy="2148840"/>
          </a:xfrm>
          <a:prstGeom prst="roundRect">
            <a:avLst>
              <a:gd name="adj" fmla="val 5106"/>
            </a:avLst>
          </a:prstGeom>
          <a:solidFill>
            <a:srgbClr val="1B2B43"/>
          </a:solidFill>
          <a:ln w="9525">
            <a:solidFill>
              <a:srgbClr val="2F41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0120" y="4206240"/>
            <a:ext cx="4480560" cy="274320"/>
          </a:xfrm>
          <a:prstGeom prst="rect">
            <a:avLst/>
          </a:prstGeom>
          <a:noFill/>
        </p:spPr>
        <p:txBody>
          <a:bodyPr wrap="square" lIns="0" rIns="0" tIns="0" bIns="0" anchor="t">
            <a:spAutoFit/>
          </a:bodyPr>
          <a:lstStyle/>
          <a:p>
            <a:pPr algn="l">
              <a:lnSpc>
                <a:spcPct val="100000"/>
              </a:lnSpc>
              <a:spcAft>
                <a:spcPts val="0"/>
              </a:spcAft>
            </a:pPr>
            <a:r>
              <a:rPr sz="1100" b="1" i="0">
                <a:solidFill>
                  <a:srgbClr val="5CC98B"/>
                </a:solidFill>
                <a:latin typeface="Aptos"/>
              </a:rPr>
              <a:t>TAKE-AWAY</a:t>
            </a:r>
          </a:p>
        </p:txBody>
      </p:sp>
      <p:sp>
        <p:nvSpPr>
          <p:cNvPr id="12" name="TextBox 11"/>
          <p:cNvSpPr txBox="1"/>
          <p:nvPr/>
        </p:nvSpPr>
        <p:spPr>
          <a:xfrm>
            <a:off x="960120" y="4572000"/>
            <a:ext cx="4434840" cy="1463040"/>
          </a:xfrm>
          <a:prstGeom prst="rect">
            <a:avLst/>
          </a:prstGeom>
          <a:noFill/>
        </p:spPr>
        <p:txBody>
          <a:bodyPr wrap="square" lIns="0" rIns="0" tIns="0" bIns="0" anchor="t">
            <a:spAutoFit/>
          </a:bodyPr>
          <a:lstStyle/>
          <a:p>
            <a:pPr algn="l">
              <a:lnSpc>
                <a:spcPct val="100000"/>
              </a:lnSpc>
              <a:spcAft>
                <a:spcPts val="0"/>
              </a:spcAft>
            </a:pPr>
            <a:r>
              <a:rPr sz="1500" b="0" i="0">
                <a:solidFill>
                  <a:srgbClr val="F5F8FC"/>
                </a:solidFill>
                <a:latin typeface="Aptos"/>
              </a:rPr>
              <a:t>50% of the model's errors sit in the 14% of questions where its own samples disagree — that is where verification should go.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