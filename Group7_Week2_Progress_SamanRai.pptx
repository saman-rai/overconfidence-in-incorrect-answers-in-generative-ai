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</a:t>
            </a:r>
            <a:r>
              <a:rPr b="0" lang="en-US" sz="2000" spc="-1" strike="noStrike">
                <a:latin typeface="Arial"/>
              </a:rPr>
              <a:t>the notes </a:t>
            </a:r>
            <a:r>
              <a:rPr b="0" lang="en-US" sz="2000" spc="-1" strike="noStrike">
                <a:latin typeface="Arial"/>
              </a:rPr>
              <a:t>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7812D8E-80D7-4570-AE68-0E2E9F5996C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Good </a:t>
            </a:r>
            <a:r>
              <a:rPr b="0" lang="en-US" sz="2000" spc="-1" strike="noStrike">
                <a:latin typeface="Arial"/>
              </a:rPr>
              <a:t>morning. I'm </a:t>
            </a:r>
            <a:r>
              <a:rPr b="0" lang="en-US" sz="2000" spc="-1" strike="noStrike">
                <a:latin typeface="Arial"/>
              </a:rPr>
              <a:t>Saman Rai, </a:t>
            </a:r>
            <a:r>
              <a:rPr b="0" lang="en-US" sz="2000" spc="-1" strike="noStrike">
                <a:latin typeface="Arial"/>
              </a:rPr>
              <a:t>presenting </a:t>
            </a:r>
            <a:r>
              <a:rPr b="0" lang="en-US" sz="2000" spc="-1" strike="noStrike">
                <a:latin typeface="Arial"/>
              </a:rPr>
              <a:t>Group 7's </a:t>
            </a:r>
            <a:r>
              <a:rPr b="0" lang="en-US" sz="2000" spc="-1" strike="noStrike">
                <a:latin typeface="Arial"/>
              </a:rPr>
              <a:t>Week-2 </a:t>
            </a:r>
            <a:r>
              <a:rPr b="0" lang="en-US" sz="2000" spc="-1" strike="noStrike">
                <a:latin typeface="Arial"/>
              </a:rPr>
              <a:t>progress on </a:t>
            </a:r>
            <a:r>
              <a:rPr b="0" lang="en-US" sz="2000" spc="-1" strike="noStrike">
                <a:latin typeface="Arial"/>
              </a:rPr>
              <a:t>overconfide</a:t>
            </a:r>
            <a:r>
              <a:rPr b="0" lang="en-US" sz="2000" spc="-1" strike="noStrike">
                <a:latin typeface="Arial"/>
              </a:rPr>
              <a:t>nce in </a:t>
            </a:r>
            <a:r>
              <a:rPr b="0" lang="en-US" sz="2000" spc="-1" strike="noStrike">
                <a:latin typeface="Arial"/>
              </a:rPr>
              <a:t>GenAI </a:t>
            </a:r>
            <a:r>
              <a:rPr b="0" lang="en-US" sz="2000" spc="-1" strike="noStrike">
                <a:latin typeface="Arial"/>
              </a:rPr>
              <a:t>answers. </a:t>
            </a:r>
            <a:r>
              <a:rPr b="0" lang="en-US" sz="2000" spc="-1" strike="noStrike">
                <a:latin typeface="Arial"/>
              </a:rPr>
              <a:t>Last week </a:t>
            </a:r>
            <a:r>
              <a:rPr b="0" lang="en-US" sz="2000" spc="-1" strike="noStrike">
                <a:latin typeface="Arial"/>
              </a:rPr>
              <a:t>we defined </a:t>
            </a:r>
            <a:r>
              <a:rPr b="0" lang="en-US" sz="2000" spc="-1" strike="noStrike">
                <a:latin typeface="Arial"/>
              </a:rPr>
              <a:t>the problem, </a:t>
            </a:r>
            <a:r>
              <a:rPr b="0" lang="en-US" sz="2000" spc="-1" strike="noStrike">
                <a:latin typeface="Arial"/>
              </a:rPr>
              <a:t>reviewed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literature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proposed a </a:t>
            </a:r>
            <a:r>
              <a:rPr b="0" lang="en-US" sz="2000" spc="-1" strike="noStrike">
                <a:latin typeface="Arial"/>
              </a:rPr>
              <a:t>tiered </a:t>
            </a:r>
            <a:r>
              <a:rPr b="0" lang="en-US" sz="2000" spc="-1" strike="noStrike">
                <a:latin typeface="Arial"/>
              </a:rPr>
              <a:t>confidence-</a:t>
            </a:r>
            <a:r>
              <a:rPr b="0" lang="en-US" sz="2000" spc="-1" strike="noStrike">
                <a:latin typeface="Arial"/>
              </a:rPr>
              <a:t>triage </a:t>
            </a:r>
            <a:r>
              <a:rPr b="0" lang="en-US" sz="2000" spc="-1" strike="noStrike">
                <a:latin typeface="Arial"/>
              </a:rPr>
              <a:t>pipeline. </a:t>
            </a:r>
            <a:r>
              <a:rPr b="0" lang="en-US" sz="2000" spc="-1" strike="noStrike">
                <a:latin typeface="Arial"/>
              </a:rPr>
              <a:t>This week </a:t>
            </a:r>
            <a:r>
              <a:rPr b="0" lang="en-US" sz="2000" spc="-1" strike="noStrike">
                <a:latin typeface="Arial"/>
              </a:rPr>
              <a:t>we moved </a:t>
            </a:r>
            <a:r>
              <a:rPr b="0" lang="en-US" sz="2000" spc="-1" strike="noStrike">
                <a:latin typeface="Arial"/>
              </a:rPr>
              <a:t>from </a:t>
            </a:r>
            <a:r>
              <a:rPr b="0" lang="en-US" sz="2000" spc="-1" strike="noStrike">
                <a:latin typeface="Arial"/>
              </a:rPr>
              <a:t>planning to </a:t>
            </a:r>
            <a:r>
              <a:rPr b="0" lang="en-US" sz="2000" spc="-1" strike="noStrike">
                <a:latin typeface="Arial"/>
              </a:rPr>
              <a:t>evidence: </a:t>
            </a:r>
            <a:r>
              <a:rPr b="0" lang="en-US" sz="2000" spc="-1" strike="noStrike">
                <a:latin typeface="Arial"/>
              </a:rPr>
              <a:t>we built the </a:t>
            </a:r>
            <a:r>
              <a:rPr b="0" lang="en-US" sz="2000" spc="-1" strike="noStrike">
                <a:latin typeface="Arial"/>
              </a:rPr>
              <a:t>evaluation </a:t>
            </a:r>
            <a:r>
              <a:rPr b="0" lang="en-US" sz="2000" spc="-1" strike="noStrike">
                <a:latin typeface="Arial"/>
              </a:rPr>
              <a:t>harness, </a:t>
            </a:r>
            <a:r>
              <a:rPr b="0" lang="en-US" sz="2000" spc="-1" strike="noStrike">
                <a:latin typeface="Arial"/>
              </a:rPr>
              <a:t>implemente</a:t>
            </a:r>
            <a:r>
              <a:rPr b="0" lang="en-US" sz="2000" spc="-1" strike="noStrike">
                <a:latin typeface="Arial"/>
              </a:rPr>
              <a:t>d the </a:t>
            </a:r>
            <a:r>
              <a:rPr b="0" lang="en-US" sz="2000" spc="-1" strike="noStrike">
                <a:latin typeface="Arial"/>
              </a:rPr>
              <a:t>baselines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promised, </a:t>
            </a:r>
            <a:r>
              <a:rPr b="0" lang="en-US" sz="2000" spc="-1" strike="noStrike">
                <a:latin typeface="Arial"/>
              </a:rPr>
              <a:t>and ran our </a:t>
            </a:r>
            <a:r>
              <a:rPr b="0" lang="en-US" sz="2000" spc="-1" strike="noStrike">
                <a:latin typeface="Arial"/>
              </a:rPr>
              <a:t>first </a:t>
            </a:r>
            <a:r>
              <a:rPr b="0" lang="en-US" sz="2000" spc="-1" strike="noStrike">
                <a:latin typeface="Arial"/>
              </a:rPr>
              <a:t>experiment </a:t>
            </a:r>
            <a:r>
              <a:rPr b="0" lang="en-US" sz="2000" spc="-1" strike="noStrike">
                <a:latin typeface="Arial"/>
              </a:rPr>
              <a:t>on a real </a:t>
            </a:r>
            <a:r>
              <a:rPr b="0" lang="en-US" sz="2000" spc="-1" strike="noStrike">
                <a:latin typeface="Arial"/>
              </a:rPr>
              <a:t>benchmark.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01414EA-8462-413A-B045-09F5E85715A8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Quick recap. Our </a:t>
            </a:r>
            <a:r>
              <a:rPr b="0" lang="en-US" sz="2000" spc="-1" strike="noStrike">
                <a:latin typeface="Arial"/>
              </a:rPr>
              <a:t>research question is </a:t>
            </a:r>
            <a:r>
              <a:rPr b="0" lang="en-US" sz="2000" spc="-1" strike="noStrike">
                <a:latin typeface="Arial"/>
              </a:rPr>
              <a:t>whether a tiered </a:t>
            </a:r>
            <a:r>
              <a:rPr b="0" lang="en-US" sz="2000" spc="-1" strike="noStrike">
                <a:latin typeface="Arial"/>
              </a:rPr>
              <a:t>confidence-triage </a:t>
            </a:r>
            <a:r>
              <a:rPr b="0" lang="en-US" sz="2000" spc="-1" strike="noStrike">
                <a:latin typeface="Arial"/>
              </a:rPr>
              <a:t>pipeline can reduce </a:t>
            </a:r>
            <a:r>
              <a:rPr b="0" lang="en-US" sz="2000" spc="-1" strike="noStrike">
                <a:latin typeface="Arial"/>
              </a:rPr>
              <a:t>overconfident wrong </a:t>
            </a:r>
            <a:r>
              <a:rPr b="0" lang="en-US" sz="2000" spc="-1" strike="noStrike">
                <a:latin typeface="Arial"/>
              </a:rPr>
              <a:t>answers at a practical </a:t>
            </a:r>
            <a:r>
              <a:rPr b="0" lang="en-US" sz="2000" spc="-1" strike="noStrike">
                <a:latin typeface="Arial"/>
              </a:rPr>
              <a:t>cost. At the end of </a:t>
            </a:r>
            <a:r>
              <a:rPr b="0" lang="en-US" sz="2000" spc="-1" strike="noStrike">
                <a:latin typeface="Arial"/>
              </a:rPr>
              <a:t>Week 1 we committed </a:t>
            </a:r>
            <a:r>
              <a:rPr b="0" lang="en-US" sz="2000" spc="-1" strike="noStrike">
                <a:latin typeface="Arial"/>
              </a:rPr>
              <a:t>to implementing </a:t>
            </a:r>
            <a:r>
              <a:rPr b="0" lang="en-US" sz="2000" spc="-1" strike="noStrike">
                <a:latin typeface="Arial"/>
              </a:rPr>
              <a:t>temperature scaling </a:t>
            </a:r>
            <a:r>
              <a:rPr b="0" lang="en-US" sz="2000" spc="-1" strike="noStrike">
                <a:latin typeface="Arial"/>
              </a:rPr>
              <a:t>and verbalized </a:t>
            </a:r>
            <a:r>
              <a:rPr b="0" lang="en-US" sz="2000" spc="-1" strike="noStrike">
                <a:latin typeface="Arial"/>
              </a:rPr>
              <a:t>confidence and </a:t>
            </a:r>
            <a:r>
              <a:rPr b="0" lang="en-US" sz="2000" spc="-1" strike="noStrike">
                <a:latin typeface="Arial"/>
              </a:rPr>
              <a:t>getting first results. All </a:t>
            </a:r>
            <a:r>
              <a:rPr b="0" lang="en-US" sz="2000" spc="-1" strike="noStrike">
                <a:latin typeface="Arial"/>
              </a:rPr>
              <a:t>of that is done. We </a:t>
            </a:r>
            <a:r>
              <a:rPr b="0" lang="en-US" sz="2000" spc="-1" strike="noStrike">
                <a:latin typeface="Arial"/>
              </a:rPr>
              <a:t>also added self-</a:t>
            </a:r>
            <a:r>
              <a:rPr b="0" lang="en-US" sz="2000" spc="-1" strike="noStrike">
                <a:latin typeface="Arial"/>
              </a:rPr>
              <a:t>consistency, because </a:t>
            </a:r>
            <a:r>
              <a:rPr b="0" lang="en-US" sz="2000" spc="-1" strike="noStrike">
                <a:latin typeface="Arial"/>
              </a:rPr>
              <a:t>it is Stage 1 of our </a:t>
            </a:r>
            <a:r>
              <a:rPr b="0" lang="en-US" sz="2000" spc="-1" strike="noStrike">
                <a:latin typeface="Arial"/>
              </a:rPr>
              <a:t>own pipeline, so we </a:t>
            </a:r>
            <a:r>
              <a:rPr b="0" lang="en-US" sz="2000" spc="-1" strike="noStrike">
                <a:latin typeface="Arial"/>
              </a:rPr>
              <a:t>can already get an </a:t>
            </a:r>
            <a:r>
              <a:rPr b="0" lang="en-US" sz="2000" spc="-1" strike="noStrike">
                <a:latin typeface="Arial"/>
              </a:rPr>
              <a:t>early signal on </a:t>
            </a:r>
            <a:r>
              <a:rPr b="0" lang="en-US" sz="2000" spc="-1" strike="noStrike">
                <a:latin typeface="Arial"/>
              </a:rPr>
              <a:t>whether triage is </a:t>
            </a:r>
            <a:r>
              <a:rPr b="0" lang="en-US" sz="2000" spc="-1" strike="noStrike">
                <a:latin typeface="Arial"/>
              </a:rPr>
              <a:t>promising. The </a:t>
            </a:r>
            <a:r>
              <a:rPr b="0" lang="en-US" sz="2000" spc="-1" strike="noStrike">
                <a:latin typeface="Arial"/>
              </a:rPr>
              <a:t>experiment covered </a:t>
            </a:r>
            <a:r>
              <a:rPr b="0" lang="en-US" sz="2000" spc="-1" strike="noStrike">
                <a:latin typeface="Arial"/>
              </a:rPr>
              <a:t>400 questions.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8896E83-B322-43B8-935E-2C3F5261E79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th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ha</a:t>
            </a:r>
            <a:r>
              <a:rPr b="0" lang="en-US" sz="2000" spc="-1" strike="noStrike">
                <a:latin typeface="Arial"/>
              </a:rPr>
              <a:t>rn</a:t>
            </a:r>
            <a:r>
              <a:rPr b="0" lang="en-US" sz="2000" spc="-1" strike="noStrike">
                <a:latin typeface="Arial"/>
              </a:rPr>
              <a:t>es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w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bu</a:t>
            </a:r>
            <a:r>
              <a:rPr b="0" lang="en-US" sz="2000" spc="-1" strike="noStrike">
                <a:latin typeface="Arial"/>
              </a:rPr>
              <a:t>ilt. </a:t>
            </a:r>
            <a:r>
              <a:rPr b="0" lang="en-US" sz="2000" spc="-1" strike="noStrike">
                <a:latin typeface="Arial"/>
              </a:rPr>
              <a:t>St</a:t>
            </a:r>
            <a:r>
              <a:rPr b="0" lang="en-US" sz="2000" spc="-1" strike="noStrike">
                <a:latin typeface="Arial"/>
              </a:rPr>
              <a:t>ep </a:t>
            </a:r>
            <a:r>
              <a:rPr b="0" lang="en-US" sz="2000" spc="-1" strike="noStrike">
                <a:latin typeface="Arial"/>
              </a:rPr>
              <a:t>on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sa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pl</a:t>
            </a:r>
            <a:r>
              <a:rPr b="0" lang="en-US" sz="2000" spc="-1" strike="noStrike">
                <a:latin typeface="Arial"/>
              </a:rPr>
              <a:t>es </a:t>
            </a:r>
            <a:r>
              <a:rPr b="0" lang="en-US" sz="2000" spc="-1" strike="noStrike">
                <a:latin typeface="Arial"/>
              </a:rPr>
              <a:t>qu</a:t>
            </a:r>
            <a:r>
              <a:rPr b="0" lang="en-US" sz="2000" spc="-1" strike="noStrike">
                <a:latin typeface="Arial"/>
              </a:rPr>
              <a:t>es</a:t>
            </a:r>
            <a:r>
              <a:rPr b="0" lang="en-US" sz="2000" spc="-1" strike="noStrike">
                <a:latin typeface="Arial"/>
              </a:rPr>
              <a:t>tio</a:t>
            </a:r>
            <a:r>
              <a:rPr b="0" lang="en-US" sz="2000" spc="-1" strike="noStrike">
                <a:latin typeface="Arial"/>
              </a:rPr>
              <a:t>ns </a:t>
            </a:r>
            <a:r>
              <a:rPr b="0" lang="en-US" sz="2000" spc="-1" strike="noStrike">
                <a:latin typeface="Arial"/>
              </a:rPr>
              <a:t>fr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m </a:t>
            </a:r>
            <a:r>
              <a:rPr b="0" lang="en-US" sz="2000" spc="-1" strike="noStrike">
                <a:latin typeface="Arial"/>
              </a:rPr>
              <a:t>th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be</a:t>
            </a:r>
            <a:r>
              <a:rPr b="0" lang="en-US" sz="2000" spc="-1" strike="noStrike">
                <a:latin typeface="Arial"/>
              </a:rPr>
              <a:t>nc</a:t>
            </a:r>
            <a:r>
              <a:rPr b="0" lang="en-US" sz="2000" spc="-1" strike="noStrike">
                <a:latin typeface="Arial"/>
              </a:rPr>
              <a:t>h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ar</a:t>
            </a:r>
            <a:r>
              <a:rPr b="0" lang="en-US" sz="2000" spc="-1" strike="noStrike">
                <a:latin typeface="Arial"/>
              </a:rPr>
              <a:t>k </a:t>
            </a:r>
            <a:r>
              <a:rPr b="0" lang="en-US" sz="2000" spc="-1" strike="noStrike">
                <a:latin typeface="Arial"/>
              </a:rPr>
              <a:t>wi</a:t>
            </a:r>
            <a:r>
              <a:rPr b="0" lang="en-US" sz="2000" spc="-1" strike="noStrike">
                <a:latin typeface="Arial"/>
              </a:rPr>
              <a:t>th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fix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ra</a:t>
            </a:r>
            <a:r>
              <a:rPr b="0" lang="en-US" sz="2000" spc="-1" strike="noStrike">
                <a:latin typeface="Arial"/>
              </a:rPr>
              <a:t>nd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m </a:t>
            </a:r>
            <a:r>
              <a:rPr b="0" lang="en-US" sz="2000" spc="-1" strike="noStrike">
                <a:latin typeface="Arial"/>
              </a:rPr>
              <a:t>se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so </a:t>
            </a:r>
            <a:r>
              <a:rPr b="0" lang="en-US" sz="2000" spc="-1" strike="noStrike">
                <a:latin typeface="Arial"/>
              </a:rPr>
              <a:t>re</a:t>
            </a:r>
            <a:r>
              <a:rPr b="0" lang="en-US" sz="2000" spc="-1" strike="noStrike">
                <a:latin typeface="Arial"/>
              </a:rPr>
              <a:t>su</a:t>
            </a:r>
            <a:r>
              <a:rPr b="0" lang="en-US" sz="2000" spc="-1" strike="noStrike">
                <a:latin typeface="Arial"/>
              </a:rPr>
              <a:t>lts </a:t>
            </a:r>
            <a:r>
              <a:rPr b="0" lang="en-US" sz="2000" spc="-1" strike="noStrike">
                <a:latin typeface="Arial"/>
              </a:rPr>
              <a:t>ar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re</a:t>
            </a:r>
            <a:r>
              <a:rPr b="0" lang="en-US" sz="2000" spc="-1" strike="noStrike">
                <a:latin typeface="Arial"/>
              </a:rPr>
              <a:t>pr</a:t>
            </a:r>
            <a:r>
              <a:rPr b="0" lang="en-US" sz="2000" spc="-1" strike="noStrike">
                <a:latin typeface="Arial"/>
              </a:rPr>
              <a:t>od</a:t>
            </a:r>
            <a:r>
              <a:rPr b="0" lang="en-US" sz="2000" spc="-1" strike="noStrike">
                <a:latin typeface="Arial"/>
              </a:rPr>
              <a:t>uc</a:t>
            </a:r>
            <a:r>
              <a:rPr b="0" lang="en-US" sz="2000" spc="-1" strike="noStrike">
                <a:latin typeface="Arial"/>
              </a:rPr>
              <a:t>ibl</a:t>
            </a:r>
            <a:r>
              <a:rPr b="0" lang="en-US" sz="2000" spc="-1" strike="noStrike">
                <a:latin typeface="Arial"/>
              </a:rPr>
              <a:t>e. </a:t>
            </a:r>
            <a:r>
              <a:rPr b="0" lang="en-US" sz="2000" spc="-1" strike="noStrike">
                <a:latin typeface="Arial"/>
              </a:rPr>
              <a:t>St</a:t>
            </a:r>
            <a:r>
              <a:rPr b="0" lang="en-US" sz="2000" spc="-1" strike="noStrike">
                <a:latin typeface="Arial"/>
              </a:rPr>
              <a:t>ep </a:t>
            </a:r>
            <a:r>
              <a:rPr b="0" lang="en-US" sz="2000" spc="-1" strike="noStrike">
                <a:latin typeface="Arial"/>
              </a:rPr>
              <a:t>tw</a:t>
            </a:r>
            <a:r>
              <a:rPr b="0" lang="en-US" sz="2000" spc="-1" strike="noStrike">
                <a:latin typeface="Arial"/>
              </a:rPr>
              <a:t>o </a:t>
            </a:r>
            <a:r>
              <a:rPr b="0" lang="en-US" sz="2000" spc="-1" strike="noStrike">
                <a:latin typeface="Arial"/>
              </a:rPr>
              <a:t>qu</a:t>
            </a:r>
            <a:r>
              <a:rPr b="0" lang="en-US" sz="2000" spc="-1" strike="noStrike">
                <a:latin typeface="Arial"/>
              </a:rPr>
              <a:t>eri</a:t>
            </a:r>
            <a:r>
              <a:rPr b="0" lang="en-US" sz="2000" spc="-1" strike="noStrike">
                <a:latin typeface="Arial"/>
              </a:rPr>
              <a:t>es </a:t>
            </a:r>
            <a:r>
              <a:rPr b="0" lang="en-US" sz="2000" spc="-1" strike="noStrike">
                <a:latin typeface="Arial"/>
              </a:rPr>
              <a:t>th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od</a:t>
            </a:r>
            <a:r>
              <a:rPr b="0" lang="en-US" sz="2000" spc="-1" strike="noStrike">
                <a:latin typeface="Arial"/>
              </a:rPr>
              <a:t>el </a:t>
            </a:r>
            <a:r>
              <a:rPr b="0" lang="en-US" sz="2000" spc="-1" strike="noStrike">
                <a:latin typeface="Arial"/>
              </a:rPr>
              <a:t>th</a:t>
            </a:r>
            <a:r>
              <a:rPr b="0" lang="en-US" sz="2000" spc="-1" strike="noStrike">
                <a:latin typeface="Arial"/>
              </a:rPr>
              <a:t>re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w</a:t>
            </a:r>
            <a:r>
              <a:rPr b="0" lang="en-US" sz="2000" spc="-1" strike="noStrike">
                <a:latin typeface="Arial"/>
              </a:rPr>
              <a:t>ay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fo</a:t>
            </a:r>
            <a:r>
              <a:rPr b="0" lang="en-US" sz="2000" spc="-1" strike="noStrike">
                <a:latin typeface="Arial"/>
              </a:rPr>
              <a:t>r </a:t>
            </a:r>
            <a:r>
              <a:rPr b="0" lang="en-US" sz="2000" spc="-1" strike="noStrike">
                <a:latin typeface="Arial"/>
              </a:rPr>
              <a:t>ev</a:t>
            </a:r>
            <a:r>
              <a:rPr b="0" lang="en-US" sz="2000" spc="-1" strike="noStrike">
                <a:latin typeface="Arial"/>
              </a:rPr>
              <a:t>er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qu</a:t>
            </a:r>
            <a:r>
              <a:rPr b="0" lang="en-US" sz="2000" spc="-1" strike="noStrike">
                <a:latin typeface="Arial"/>
              </a:rPr>
              <a:t>es</a:t>
            </a:r>
            <a:r>
              <a:rPr b="0" lang="en-US" sz="2000" spc="-1" strike="noStrike">
                <a:latin typeface="Arial"/>
              </a:rPr>
              <a:t>tio</a:t>
            </a:r>
            <a:r>
              <a:rPr b="0" lang="en-US" sz="2000" spc="-1" strike="noStrike">
                <a:latin typeface="Arial"/>
              </a:rPr>
              <a:t>n. </a:t>
            </a:r>
            <a:r>
              <a:rPr b="0" lang="en-US" sz="2000" spc="-1" strike="noStrike">
                <a:latin typeface="Arial"/>
              </a:rPr>
              <a:t>St</a:t>
            </a:r>
            <a:r>
              <a:rPr b="0" lang="en-US" sz="2000" spc="-1" strike="noStrike">
                <a:latin typeface="Arial"/>
              </a:rPr>
              <a:t>ep </a:t>
            </a:r>
            <a:r>
              <a:rPr b="0" lang="en-US" sz="2000" spc="-1" strike="noStrike">
                <a:latin typeface="Arial"/>
              </a:rPr>
              <a:t>th</a:t>
            </a:r>
            <a:r>
              <a:rPr b="0" lang="en-US" sz="2000" spc="-1" strike="noStrike">
                <a:latin typeface="Arial"/>
              </a:rPr>
              <a:t>re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gr</a:t>
            </a:r>
            <a:r>
              <a:rPr b="0" lang="en-US" sz="2000" spc="-1" strike="noStrike">
                <a:latin typeface="Arial"/>
              </a:rPr>
              <a:t>ad</a:t>
            </a:r>
            <a:r>
              <a:rPr b="0" lang="en-US" sz="2000" spc="-1" strike="noStrike">
                <a:latin typeface="Arial"/>
              </a:rPr>
              <a:t>es </a:t>
            </a:r>
            <a:r>
              <a:rPr b="0" lang="en-US" sz="2000" spc="-1" strike="noStrike">
                <a:latin typeface="Arial"/>
              </a:rPr>
              <a:t>an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w</a:t>
            </a:r>
            <a:r>
              <a:rPr b="0" lang="en-US" sz="2000" spc="-1" strike="noStrike">
                <a:latin typeface="Arial"/>
              </a:rPr>
              <a:t>er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au</a:t>
            </a:r>
            <a:r>
              <a:rPr b="0" lang="en-US" sz="2000" spc="-1" strike="noStrike">
                <a:latin typeface="Arial"/>
              </a:rPr>
              <a:t>to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ati</a:t>
            </a:r>
            <a:r>
              <a:rPr b="0" lang="en-US" sz="2000" spc="-1" strike="noStrike">
                <a:latin typeface="Arial"/>
              </a:rPr>
              <a:t>ca</a:t>
            </a:r>
            <a:r>
              <a:rPr b="0" lang="en-US" sz="2000" spc="-1" strike="noStrike">
                <a:latin typeface="Arial"/>
              </a:rPr>
              <a:t>lly </a:t>
            </a:r>
            <a:r>
              <a:rPr b="0" lang="en-US" sz="2000" spc="-1" strike="noStrike">
                <a:latin typeface="Arial"/>
              </a:rPr>
              <a:t>ag</a:t>
            </a:r>
            <a:r>
              <a:rPr b="0" lang="en-US" sz="2000" spc="-1" strike="noStrike">
                <a:latin typeface="Arial"/>
              </a:rPr>
              <a:t>ai</a:t>
            </a:r>
            <a:r>
              <a:rPr b="0" lang="en-US" sz="2000" spc="-1" strike="noStrike">
                <a:latin typeface="Arial"/>
              </a:rPr>
              <a:t>ns</a:t>
            </a:r>
            <a:r>
              <a:rPr b="0" lang="en-US" sz="2000" spc="-1" strike="noStrike">
                <a:latin typeface="Arial"/>
              </a:rPr>
              <a:t>t </a:t>
            </a:r>
            <a:r>
              <a:rPr b="0" lang="en-US" sz="2000" spc="-1" strike="noStrike">
                <a:latin typeface="Arial"/>
              </a:rPr>
              <a:t>all </a:t>
            </a:r>
            <a:r>
              <a:rPr b="0" lang="en-US" sz="2000" spc="-1" strike="noStrike">
                <a:latin typeface="Arial"/>
              </a:rPr>
              <a:t>ac</a:t>
            </a:r>
            <a:r>
              <a:rPr b="0" lang="en-US" sz="2000" spc="-1" strike="noStrike">
                <a:latin typeface="Arial"/>
              </a:rPr>
              <a:t>ce</a:t>
            </a:r>
            <a:r>
              <a:rPr b="0" lang="en-US" sz="2000" spc="-1" strike="noStrike">
                <a:latin typeface="Arial"/>
              </a:rPr>
              <a:t>pt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go</a:t>
            </a:r>
            <a:r>
              <a:rPr b="0" lang="en-US" sz="2000" spc="-1" strike="noStrike">
                <a:latin typeface="Arial"/>
              </a:rPr>
              <a:t>ld </a:t>
            </a:r>
            <a:r>
              <a:rPr b="0" lang="en-US" sz="2000" spc="-1" strike="noStrike">
                <a:latin typeface="Arial"/>
              </a:rPr>
              <a:t>an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w</a:t>
            </a:r>
            <a:r>
              <a:rPr b="0" lang="en-US" sz="2000" spc="-1" strike="noStrike">
                <a:latin typeface="Arial"/>
              </a:rPr>
              <a:t>er</a:t>
            </a:r>
            <a:r>
              <a:rPr b="0" lang="en-US" sz="2000" spc="-1" strike="noStrike">
                <a:latin typeface="Arial"/>
              </a:rPr>
              <a:t>s. </a:t>
            </a:r>
            <a:r>
              <a:rPr b="0" lang="en-US" sz="2000" spc="-1" strike="noStrike">
                <a:latin typeface="Arial"/>
              </a:rPr>
              <a:t>St</a:t>
            </a:r>
            <a:r>
              <a:rPr b="0" lang="en-US" sz="2000" spc="-1" strike="noStrike">
                <a:latin typeface="Arial"/>
              </a:rPr>
              <a:t>ep </a:t>
            </a:r>
            <a:r>
              <a:rPr b="0" lang="en-US" sz="2000" spc="-1" strike="noStrike">
                <a:latin typeface="Arial"/>
              </a:rPr>
              <a:t>fo</a:t>
            </a:r>
            <a:r>
              <a:rPr b="0" lang="en-US" sz="2000" spc="-1" strike="noStrike">
                <a:latin typeface="Arial"/>
              </a:rPr>
              <a:t>ur </a:t>
            </a:r>
            <a:r>
              <a:rPr b="0" lang="en-US" sz="2000" spc="-1" strike="noStrike">
                <a:latin typeface="Arial"/>
              </a:rPr>
              <a:t>fit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te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pe</a:t>
            </a:r>
            <a:r>
              <a:rPr b="0" lang="en-US" sz="2000" spc="-1" strike="noStrike">
                <a:latin typeface="Arial"/>
              </a:rPr>
              <a:t>ra</a:t>
            </a:r>
            <a:r>
              <a:rPr b="0" lang="en-US" sz="2000" spc="-1" strike="noStrike">
                <a:latin typeface="Arial"/>
              </a:rPr>
              <a:t>tu</a:t>
            </a:r>
            <a:r>
              <a:rPr b="0" lang="en-US" sz="2000" spc="-1" strike="noStrike">
                <a:latin typeface="Arial"/>
              </a:rPr>
              <a:t>re </a:t>
            </a:r>
            <a:r>
              <a:rPr b="0" lang="en-US" sz="2000" spc="-1" strike="noStrike">
                <a:latin typeface="Arial"/>
              </a:rPr>
              <a:t>sc</a:t>
            </a:r>
            <a:r>
              <a:rPr b="0" lang="en-US" sz="2000" spc="-1" strike="noStrike">
                <a:latin typeface="Arial"/>
              </a:rPr>
              <a:t>ali</a:t>
            </a:r>
            <a:r>
              <a:rPr b="0" lang="en-US" sz="2000" spc="-1" strike="noStrike">
                <a:latin typeface="Arial"/>
              </a:rPr>
              <a:t>ng </a:t>
            </a:r>
            <a:r>
              <a:rPr b="0" lang="en-US" sz="2000" spc="-1" strike="noStrike">
                <a:latin typeface="Arial"/>
              </a:rPr>
              <a:t>wi</a:t>
            </a:r>
            <a:r>
              <a:rPr b="0" lang="en-US" sz="2000" spc="-1" strike="noStrike">
                <a:latin typeface="Arial"/>
              </a:rPr>
              <a:t>th </a:t>
            </a:r>
            <a:r>
              <a:rPr b="0" lang="en-US" sz="2000" spc="-1" strike="noStrike">
                <a:latin typeface="Arial"/>
              </a:rPr>
              <a:t>5-</a:t>
            </a:r>
            <a:r>
              <a:rPr b="0" lang="en-US" sz="2000" spc="-1" strike="noStrike">
                <a:latin typeface="Arial"/>
              </a:rPr>
              <a:t>fol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cr</a:t>
            </a:r>
            <a:r>
              <a:rPr b="0" lang="en-US" sz="2000" spc="-1" strike="noStrike">
                <a:latin typeface="Arial"/>
              </a:rPr>
              <a:t>os</a:t>
            </a:r>
            <a:r>
              <a:rPr b="0" lang="en-US" sz="2000" spc="-1" strike="noStrike">
                <a:latin typeface="Arial"/>
              </a:rPr>
              <a:t>s-</a:t>
            </a:r>
            <a:r>
              <a:rPr b="0" lang="en-US" sz="2000" spc="-1" strike="noStrike">
                <a:latin typeface="Arial"/>
              </a:rPr>
              <a:t>va</a:t>
            </a:r>
            <a:r>
              <a:rPr b="0" lang="en-US" sz="2000" spc="-1" strike="noStrike">
                <a:latin typeface="Arial"/>
              </a:rPr>
              <a:t>lid</a:t>
            </a:r>
            <a:r>
              <a:rPr b="0" lang="en-US" sz="2000" spc="-1" strike="noStrike">
                <a:latin typeface="Arial"/>
              </a:rPr>
              <a:t>ati</a:t>
            </a:r>
            <a:r>
              <a:rPr b="0" lang="en-US" sz="2000" spc="-1" strike="noStrike">
                <a:latin typeface="Arial"/>
              </a:rPr>
              <a:t>on</a:t>
            </a:r>
            <a:r>
              <a:rPr b="0" lang="en-US" sz="2000" spc="-1" strike="noStrike">
                <a:latin typeface="Arial"/>
              </a:rPr>
              <a:t>, </a:t>
            </a:r>
            <a:r>
              <a:rPr b="0" lang="en-US" sz="2000" spc="-1" strike="noStrike">
                <a:latin typeface="Arial"/>
              </a:rPr>
              <a:t>so </a:t>
            </a:r>
            <a:r>
              <a:rPr b="0" lang="en-US" sz="2000" spc="-1" strike="noStrike">
                <a:latin typeface="Arial"/>
              </a:rPr>
              <a:t>w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ne</a:t>
            </a:r>
            <a:r>
              <a:rPr b="0" lang="en-US" sz="2000" spc="-1" strike="noStrike">
                <a:latin typeface="Arial"/>
              </a:rPr>
              <a:t>ve</a:t>
            </a:r>
            <a:r>
              <a:rPr b="0" lang="en-US" sz="2000" spc="-1" strike="noStrike">
                <a:latin typeface="Arial"/>
              </a:rPr>
              <a:t>r </a:t>
            </a:r>
            <a:r>
              <a:rPr b="0" lang="en-US" sz="2000" spc="-1" strike="noStrike">
                <a:latin typeface="Arial"/>
              </a:rPr>
              <a:t>ev</a:t>
            </a:r>
            <a:r>
              <a:rPr b="0" lang="en-US" sz="2000" spc="-1" strike="noStrike">
                <a:latin typeface="Arial"/>
              </a:rPr>
              <a:t>al</a:t>
            </a:r>
            <a:r>
              <a:rPr b="0" lang="en-US" sz="2000" spc="-1" strike="noStrike">
                <a:latin typeface="Arial"/>
              </a:rPr>
              <a:t>ua</a:t>
            </a:r>
            <a:r>
              <a:rPr b="0" lang="en-US" sz="2000" spc="-1" strike="noStrike">
                <a:latin typeface="Arial"/>
              </a:rPr>
              <a:t>te 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th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da</a:t>
            </a:r>
            <a:r>
              <a:rPr b="0" lang="en-US" sz="2000" spc="-1" strike="noStrike">
                <a:latin typeface="Arial"/>
              </a:rPr>
              <a:t>ta </a:t>
            </a:r>
            <a:r>
              <a:rPr b="0" lang="en-US" sz="2000" spc="-1" strike="noStrike">
                <a:latin typeface="Arial"/>
              </a:rPr>
              <a:t>w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ca</a:t>
            </a:r>
            <a:r>
              <a:rPr b="0" lang="en-US" sz="2000" spc="-1" strike="noStrike">
                <a:latin typeface="Arial"/>
              </a:rPr>
              <a:t>lib</a:t>
            </a:r>
            <a:r>
              <a:rPr b="0" lang="en-US" sz="2000" spc="-1" strike="noStrike">
                <a:latin typeface="Arial"/>
              </a:rPr>
              <a:t>ra</a:t>
            </a:r>
            <a:r>
              <a:rPr b="0" lang="en-US" sz="2000" spc="-1" strike="noStrike">
                <a:latin typeface="Arial"/>
              </a:rPr>
              <a:t>te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on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St</a:t>
            </a:r>
            <a:r>
              <a:rPr b="0" lang="en-US" sz="2000" spc="-1" strike="noStrike">
                <a:latin typeface="Arial"/>
              </a:rPr>
              <a:t>ep </a:t>
            </a:r>
            <a:r>
              <a:rPr b="0" lang="en-US" sz="2000" spc="-1" strike="noStrike">
                <a:latin typeface="Arial"/>
              </a:rPr>
              <a:t>fiv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co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pu</a:t>
            </a:r>
            <a:r>
              <a:rPr b="0" lang="en-US" sz="2000" spc="-1" strike="noStrike">
                <a:latin typeface="Arial"/>
              </a:rPr>
              <a:t>te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all </a:t>
            </a:r>
            <a:r>
              <a:rPr b="0" lang="en-US" sz="2000" spc="-1" strike="noStrike">
                <a:latin typeface="Arial"/>
              </a:rPr>
              <a:t>th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et</a:t>
            </a:r>
            <a:r>
              <a:rPr b="0" lang="en-US" sz="2000" spc="-1" strike="noStrike">
                <a:latin typeface="Arial"/>
              </a:rPr>
              <a:t>ric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fr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m </a:t>
            </a:r>
            <a:r>
              <a:rPr b="0" lang="en-US" sz="2000" spc="-1" strike="noStrike">
                <a:latin typeface="Arial"/>
              </a:rPr>
              <a:t>ou</a:t>
            </a:r>
            <a:r>
              <a:rPr b="0" lang="en-US" sz="2000" spc="-1" strike="noStrike">
                <a:latin typeface="Arial"/>
              </a:rPr>
              <a:t>r </a:t>
            </a:r>
            <a:r>
              <a:rPr b="0" lang="en-US" sz="2000" spc="-1" strike="noStrike">
                <a:latin typeface="Arial"/>
              </a:rPr>
              <a:t>W</a:t>
            </a:r>
            <a:r>
              <a:rPr b="0" lang="en-US" sz="2000" spc="-1" strike="noStrike">
                <a:latin typeface="Arial"/>
              </a:rPr>
              <a:t>ee</a:t>
            </a:r>
            <a:r>
              <a:rPr b="0" lang="en-US" sz="2000" spc="-1" strike="noStrike">
                <a:latin typeface="Arial"/>
              </a:rPr>
              <a:t>k-</a:t>
            </a:r>
            <a:r>
              <a:rPr b="0" lang="en-US" sz="2000" spc="-1" strike="noStrike">
                <a:latin typeface="Arial"/>
              </a:rPr>
              <a:t>1 </a:t>
            </a:r>
            <a:r>
              <a:rPr b="0" lang="en-US" sz="2000" spc="-1" strike="noStrike">
                <a:latin typeface="Arial"/>
              </a:rPr>
              <a:t>pl</a:t>
            </a:r>
            <a:r>
              <a:rPr b="0" lang="en-US" sz="2000" spc="-1" strike="noStrike">
                <a:latin typeface="Arial"/>
              </a:rPr>
              <a:t>an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he </a:t>
            </a:r>
            <a:r>
              <a:rPr b="0" lang="en-US" sz="2000" spc="-1" strike="noStrike">
                <a:latin typeface="Arial"/>
              </a:rPr>
              <a:t>ke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po</a:t>
            </a:r>
            <a:r>
              <a:rPr b="0" lang="en-US" sz="2000" spc="-1" strike="noStrike">
                <a:latin typeface="Arial"/>
              </a:rPr>
              <a:t>int</a:t>
            </a:r>
            <a:r>
              <a:rPr b="0" lang="en-US" sz="2000" spc="-1" strike="noStrike">
                <a:latin typeface="Arial"/>
              </a:rPr>
              <a:t>: </a:t>
            </a:r>
            <a:r>
              <a:rPr b="0" lang="en-US" sz="2000" spc="-1" strike="noStrike">
                <a:latin typeface="Arial"/>
              </a:rPr>
              <a:t>ev</a:t>
            </a:r>
            <a:r>
              <a:rPr b="0" lang="en-US" sz="2000" spc="-1" strike="noStrike">
                <a:latin typeface="Arial"/>
              </a:rPr>
              <a:t>er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et</a:t>
            </a:r>
            <a:r>
              <a:rPr b="0" lang="en-US" sz="2000" spc="-1" strike="noStrike">
                <a:latin typeface="Arial"/>
              </a:rPr>
              <a:t>ho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se</a:t>
            </a:r>
            <a:r>
              <a:rPr b="0" lang="en-US" sz="2000" spc="-1" strike="noStrike">
                <a:latin typeface="Arial"/>
              </a:rPr>
              <a:t>es </a:t>
            </a:r>
            <a:r>
              <a:rPr b="0" lang="en-US" sz="2000" spc="-1" strike="noStrike">
                <a:latin typeface="Arial"/>
              </a:rPr>
              <a:t>th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sa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qu</a:t>
            </a:r>
            <a:r>
              <a:rPr b="0" lang="en-US" sz="2000" spc="-1" strike="noStrike">
                <a:latin typeface="Arial"/>
              </a:rPr>
              <a:t>es</a:t>
            </a:r>
            <a:r>
              <a:rPr b="0" lang="en-US" sz="2000" spc="-1" strike="noStrike">
                <a:latin typeface="Arial"/>
              </a:rPr>
              <a:t>tio</a:t>
            </a:r>
            <a:r>
              <a:rPr b="0" lang="en-US" sz="2000" spc="-1" strike="noStrike">
                <a:latin typeface="Arial"/>
              </a:rPr>
              <a:t>ns</a:t>
            </a:r>
            <a:r>
              <a:rPr b="0" lang="en-US" sz="2000" spc="-1" strike="noStrike">
                <a:latin typeface="Arial"/>
              </a:rPr>
              <a:t>, </a:t>
            </a:r>
            <a:r>
              <a:rPr b="0" lang="en-US" sz="2000" spc="-1" strike="noStrike">
                <a:latin typeface="Arial"/>
              </a:rPr>
              <a:t>gr</a:t>
            </a:r>
            <a:r>
              <a:rPr b="0" lang="en-US" sz="2000" spc="-1" strike="noStrike">
                <a:latin typeface="Arial"/>
              </a:rPr>
              <a:t>ad</a:t>
            </a:r>
            <a:r>
              <a:rPr b="0" lang="en-US" sz="2000" spc="-1" strike="noStrike">
                <a:latin typeface="Arial"/>
              </a:rPr>
              <a:t>er </a:t>
            </a:r>
            <a:r>
              <a:rPr b="0" lang="en-US" sz="2000" spc="-1" strike="noStrike">
                <a:latin typeface="Arial"/>
              </a:rPr>
              <a:t>an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et</a:t>
            </a:r>
            <a:r>
              <a:rPr b="0" lang="en-US" sz="2000" spc="-1" strike="noStrike">
                <a:latin typeface="Arial"/>
              </a:rPr>
              <a:t>ric</a:t>
            </a:r>
            <a:r>
              <a:rPr b="0" lang="en-US" sz="2000" spc="-1" strike="noStrike">
                <a:latin typeface="Arial"/>
              </a:rPr>
              <a:t>s, </a:t>
            </a:r>
            <a:r>
              <a:rPr b="0" lang="en-US" sz="2000" spc="-1" strike="noStrike">
                <a:latin typeface="Arial"/>
              </a:rPr>
              <a:t>so </a:t>
            </a:r>
            <a:r>
              <a:rPr b="0" lang="en-US" sz="2000" spc="-1" strike="noStrike">
                <a:latin typeface="Arial"/>
              </a:rPr>
              <a:t>in </a:t>
            </a:r>
            <a:r>
              <a:rPr b="0" lang="en-US" sz="2000" spc="-1" strike="noStrike">
                <a:latin typeface="Arial"/>
              </a:rPr>
              <a:t>W</a:t>
            </a:r>
            <a:r>
              <a:rPr b="0" lang="en-US" sz="2000" spc="-1" strike="noStrike">
                <a:latin typeface="Arial"/>
              </a:rPr>
              <a:t>ee</a:t>
            </a:r>
            <a:r>
              <a:rPr b="0" lang="en-US" sz="2000" spc="-1" strike="noStrike">
                <a:latin typeface="Arial"/>
              </a:rPr>
              <a:t>k </a:t>
            </a:r>
            <a:r>
              <a:rPr b="0" lang="en-US" sz="2000" spc="-1" strike="noStrike">
                <a:latin typeface="Arial"/>
              </a:rPr>
              <a:t>3 </a:t>
            </a:r>
            <a:r>
              <a:rPr b="0" lang="en-US" sz="2000" spc="-1" strike="noStrike">
                <a:latin typeface="Arial"/>
              </a:rPr>
              <a:t>ou</a:t>
            </a:r>
            <a:r>
              <a:rPr b="0" lang="en-US" sz="2000" spc="-1" strike="noStrike">
                <a:latin typeface="Arial"/>
              </a:rPr>
              <a:t>r </a:t>
            </a:r>
            <a:r>
              <a:rPr b="0" lang="en-US" sz="2000" spc="-1" strike="noStrike">
                <a:latin typeface="Arial"/>
              </a:rPr>
              <a:t>tri</a:t>
            </a:r>
            <a:r>
              <a:rPr b="0" lang="en-US" sz="2000" spc="-1" strike="noStrike">
                <a:latin typeface="Arial"/>
              </a:rPr>
              <a:t>ag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pi</a:t>
            </a:r>
            <a:r>
              <a:rPr b="0" lang="en-US" sz="2000" spc="-1" strike="noStrike">
                <a:latin typeface="Arial"/>
              </a:rPr>
              <a:t>pe</a:t>
            </a:r>
            <a:r>
              <a:rPr b="0" lang="en-US" sz="2000" spc="-1" strike="noStrike">
                <a:latin typeface="Arial"/>
              </a:rPr>
              <a:t>lin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ju</a:t>
            </a:r>
            <a:r>
              <a:rPr b="0" lang="en-US" sz="2000" spc="-1" strike="noStrike">
                <a:latin typeface="Arial"/>
              </a:rPr>
              <a:t>st </a:t>
            </a:r>
            <a:r>
              <a:rPr b="0" lang="en-US" sz="2000" spc="-1" strike="noStrike">
                <a:latin typeface="Arial"/>
              </a:rPr>
              <a:t>pl</a:t>
            </a:r>
            <a:r>
              <a:rPr b="0" lang="en-US" sz="2000" spc="-1" strike="noStrike">
                <a:latin typeface="Arial"/>
              </a:rPr>
              <a:t>ug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in </a:t>
            </a:r>
            <a:r>
              <a:rPr b="0" lang="en-US" sz="2000" spc="-1" strike="noStrike">
                <a:latin typeface="Arial"/>
              </a:rPr>
              <a:t>as </a:t>
            </a:r>
            <a:r>
              <a:rPr b="0" lang="en-US" sz="2000" spc="-1" strike="noStrike">
                <a:latin typeface="Arial"/>
              </a:rPr>
              <a:t>on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or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et</a:t>
            </a:r>
            <a:r>
              <a:rPr b="0" lang="en-US" sz="2000" spc="-1" strike="noStrike">
                <a:latin typeface="Arial"/>
              </a:rPr>
              <a:t>ho</a:t>
            </a:r>
            <a:r>
              <a:rPr b="0" lang="en-US" sz="2000" spc="-1" strike="noStrike">
                <a:latin typeface="Arial"/>
              </a:rPr>
              <a:t>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B4D95B-A383-4D55-90D7-5C796C0997FA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Setup details. We used TriviaQA (rc.nocontext, validation) — factual questions with </a:t>
            </a:r>
            <a:r>
              <a:rPr b="0" lang="en-US" sz="2000" spc="-1" strike="noStrike">
                <a:latin typeface="Arial"/>
              </a:rPr>
              <a:t>ground-truth answers and several accepted aliases, which makes automatic grading </a:t>
            </a:r>
            <a:r>
              <a:rPr b="0" lang="en-US" sz="2000" spc="-1" strike="noStrike">
                <a:latin typeface="Arial"/>
              </a:rPr>
              <a:t>reliable. We sampled 400 questions with a fixed seed. The model is gpt-4.1-mini, </a:t>
            </a:r>
            <a:r>
              <a:rPr b="0" lang="en-US" sz="2000" spc="-1" strike="noStrike">
                <a:latin typeface="Arial"/>
              </a:rPr>
              <a:t>accessed through the openai API. For each question we made a greedy answer at </a:t>
            </a:r>
            <a:r>
              <a:rPr b="0" lang="en-US" sz="2000" spc="-1" strike="noStrike">
                <a:latin typeface="Arial"/>
              </a:rPr>
              <a:t>temperature 0, 5 sampled answers at temperature 1, and a separate prompt asking for </a:t>
            </a:r>
            <a:r>
              <a:rPr b="0" lang="en-US" sz="2000" spc="-1" strike="noStrike">
                <a:latin typeface="Arial"/>
              </a:rPr>
              <a:t>an answer plus a confidence percentage. In total 987 API calls and about 89,559 </a:t>
            </a:r>
            <a:r>
              <a:rPr b="0" lang="en-US" sz="2000" spc="-1" strike="noStrike">
                <a:latin typeface="Arial"/>
              </a:rPr>
              <a:t>tokens — cheap enough to scale up next week.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9435AB4-AC65-45BD-A30E-8512C2874B6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These are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confide</a:t>
            </a:r>
            <a:r>
              <a:rPr b="0" lang="en-US" sz="2000" spc="-1" strike="noStrike">
                <a:latin typeface="Arial"/>
              </a:rPr>
              <a:t>nce </a:t>
            </a:r>
            <a:r>
              <a:rPr b="0" lang="en-US" sz="2000" spc="-1" strike="noStrike">
                <a:latin typeface="Arial"/>
              </a:rPr>
              <a:t>signals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compar</a:t>
            </a:r>
            <a:r>
              <a:rPr b="0" lang="en-US" sz="2000" spc="-1" strike="noStrike">
                <a:latin typeface="Arial"/>
              </a:rPr>
              <a:t>ed. </a:t>
            </a:r>
            <a:r>
              <a:rPr b="0" lang="en-US" sz="2000" spc="-1" strike="noStrike">
                <a:latin typeface="Arial"/>
              </a:rPr>
              <a:t>Verbaliz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confide</a:t>
            </a:r>
            <a:r>
              <a:rPr b="0" lang="en-US" sz="2000" spc="-1" strike="noStrike">
                <a:latin typeface="Arial"/>
              </a:rPr>
              <a:t>nce </a:t>
            </a:r>
            <a:r>
              <a:rPr b="0" lang="en-US" sz="2000" spc="-1" strike="noStrike">
                <a:latin typeface="Arial"/>
              </a:rPr>
              <a:t>simply </a:t>
            </a:r>
            <a:r>
              <a:rPr b="0" lang="en-US" sz="2000" spc="-1" strike="noStrike">
                <a:latin typeface="Arial"/>
              </a:rPr>
              <a:t>asks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model </a:t>
            </a:r>
            <a:r>
              <a:rPr b="0" lang="en-US" sz="2000" spc="-1" strike="noStrike">
                <a:latin typeface="Arial"/>
              </a:rPr>
              <a:t>how </a:t>
            </a:r>
            <a:r>
              <a:rPr b="0" lang="en-US" sz="2000" spc="-1" strike="noStrike">
                <a:latin typeface="Arial"/>
              </a:rPr>
              <a:t>sure it </a:t>
            </a:r>
            <a:r>
              <a:rPr b="0" lang="en-US" sz="2000" spc="-1" strike="noStrike">
                <a:latin typeface="Arial"/>
              </a:rPr>
              <a:t>is. </a:t>
            </a:r>
            <a:r>
              <a:rPr b="0" lang="en-US" sz="2000" spc="-1" strike="noStrike">
                <a:latin typeface="Arial"/>
              </a:rPr>
              <a:t>Temper</a:t>
            </a:r>
            <a:r>
              <a:rPr b="0" lang="en-US" sz="2000" spc="-1" strike="noStrike">
                <a:latin typeface="Arial"/>
              </a:rPr>
              <a:t>ature </a:t>
            </a:r>
            <a:r>
              <a:rPr b="0" lang="en-US" sz="2000" spc="-1" strike="noStrike">
                <a:latin typeface="Arial"/>
              </a:rPr>
              <a:t>scaling </a:t>
            </a:r>
            <a:r>
              <a:rPr b="0" lang="en-US" sz="2000" spc="-1" strike="noStrike">
                <a:latin typeface="Arial"/>
              </a:rPr>
              <a:t>learns a </a:t>
            </a:r>
            <a:r>
              <a:rPr b="0" lang="en-US" sz="2000" spc="-1" strike="noStrike">
                <a:latin typeface="Arial"/>
              </a:rPr>
              <a:t>single </a:t>
            </a:r>
            <a:r>
              <a:rPr b="0" lang="en-US" sz="2000" spc="-1" strike="noStrike">
                <a:latin typeface="Arial"/>
              </a:rPr>
              <a:t>number </a:t>
            </a:r>
            <a:r>
              <a:rPr b="0" lang="en-US" sz="2000" spc="-1" strike="noStrike">
                <a:latin typeface="Arial"/>
              </a:rPr>
              <a:t>T from </a:t>
            </a:r>
            <a:r>
              <a:rPr b="0" lang="en-US" sz="2000" spc="-1" strike="noStrike">
                <a:latin typeface="Arial"/>
              </a:rPr>
              <a:t>held-out </a:t>
            </a:r>
            <a:r>
              <a:rPr b="0" lang="en-US" sz="2000" spc="-1" strike="noStrike">
                <a:latin typeface="Arial"/>
              </a:rPr>
              <a:t>data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rescales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confide</a:t>
            </a:r>
            <a:r>
              <a:rPr b="0" lang="en-US" sz="2000" spc="-1" strike="noStrike">
                <a:latin typeface="Arial"/>
              </a:rPr>
              <a:t>nce; </a:t>
            </a:r>
            <a:r>
              <a:rPr b="0" lang="en-US" sz="2000" spc="-1" strike="noStrike">
                <a:latin typeface="Arial"/>
              </a:rPr>
              <a:t>when T </a:t>
            </a:r>
            <a:r>
              <a:rPr b="0" lang="en-US" sz="2000" spc="-1" strike="noStrike">
                <a:latin typeface="Arial"/>
              </a:rPr>
              <a:t>is above </a:t>
            </a:r>
            <a:r>
              <a:rPr b="0" lang="en-US" sz="2000" spc="-1" strike="noStrike">
                <a:latin typeface="Arial"/>
              </a:rPr>
              <a:t>one it </a:t>
            </a:r>
            <a:r>
              <a:rPr b="0" lang="en-US" sz="2000" spc="-1" strike="noStrike">
                <a:latin typeface="Arial"/>
              </a:rPr>
              <a:t>pulls </a:t>
            </a:r>
            <a:r>
              <a:rPr b="0" lang="en-US" sz="2000" spc="-1" strike="noStrike">
                <a:latin typeface="Arial"/>
              </a:rPr>
              <a:t>overcon</a:t>
            </a:r>
            <a:r>
              <a:rPr b="0" lang="en-US" sz="2000" spc="-1" strike="noStrike">
                <a:latin typeface="Arial"/>
              </a:rPr>
              <a:t>fident </a:t>
            </a:r>
            <a:r>
              <a:rPr b="0" lang="en-US" sz="2000" spc="-1" strike="noStrike">
                <a:latin typeface="Arial"/>
              </a:rPr>
              <a:t>scores </a:t>
            </a:r>
            <a:r>
              <a:rPr b="0" lang="en-US" sz="2000" spc="-1" strike="noStrike">
                <a:latin typeface="Arial"/>
              </a:rPr>
              <a:t>down. </a:t>
            </a:r>
            <a:r>
              <a:rPr b="0" lang="en-US" sz="2000" spc="-1" strike="noStrike">
                <a:latin typeface="Arial"/>
              </a:rPr>
              <a:t>Self-</a:t>
            </a:r>
            <a:r>
              <a:rPr b="0" lang="en-US" sz="2000" spc="-1" strike="noStrike">
                <a:latin typeface="Arial"/>
              </a:rPr>
              <a:t>consiste</a:t>
            </a:r>
            <a:r>
              <a:rPr b="0" lang="en-US" sz="2000" spc="-1" strike="noStrike">
                <a:latin typeface="Arial"/>
              </a:rPr>
              <a:t>ncy </a:t>
            </a:r>
            <a:r>
              <a:rPr b="0" lang="en-US" sz="2000" spc="-1" strike="noStrike">
                <a:latin typeface="Arial"/>
              </a:rPr>
              <a:t>asks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same </a:t>
            </a:r>
            <a:r>
              <a:rPr b="0" lang="en-US" sz="2000" spc="-1" strike="noStrike">
                <a:latin typeface="Arial"/>
              </a:rPr>
              <a:t>questio</a:t>
            </a:r>
            <a:r>
              <a:rPr b="0" lang="en-US" sz="2000" spc="-1" strike="noStrike">
                <a:latin typeface="Arial"/>
              </a:rPr>
              <a:t>n 5 </a:t>
            </a:r>
            <a:r>
              <a:rPr b="0" lang="en-US" sz="2000" spc="-1" strike="noStrike">
                <a:latin typeface="Arial"/>
              </a:rPr>
              <a:t>times </a:t>
            </a:r>
            <a:r>
              <a:rPr b="0" lang="en-US" sz="2000" spc="-1" strike="noStrike">
                <a:latin typeface="Arial"/>
              </a:rPr>
              <a:t>with </a:t>
            </a:r>
            <a:r>
              <a:rPr b="0" lang="en-US" sz="2000" spc="-1" strike="noStrike">
                <a:latin typeface="Arial"/>
              </a:rPr>
              <a:t>random</a:t>
            </a:r>
            <a:r>
              <a:rPr b="0" lang="en-US" sz="2000" spc="-1" strike="noStrike">
                <a:latin typeface="Arial"/>
              </a:rPr>
              <a:t>ness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checks </a:t>
            </a:r>
            <a:r>
              <a:rPr b="0" lang="en-US" sz="2000" spc="-1" strike="noStrike">
                <a:latin typeface="Arial"/>
              </a:rPr>
              <a:t>how </a:t>
            </a:r>
            <a:r>
              <a:rPr b="0" lang="en-US" sz="2000" spc="-1" strike="noStrike">
                <a:latin typeface="Arial"/>
              </a:rPr>
              <a:t>often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answers </a:t>
            </a:r>
            <a:r>
              <a:rPr b="0" lang="en-US" sz="2000" spc="-1" strike="noStrike">
                <a:latin typeface="Arial"/>
              </a:rPr>
              <a:t>agree. </a:t>
            </a:r>
            <a:r>
              <a:rPr b="0" lang="en-US" sz="2000" spc="-1" strike="noStrike">
                <a:latin typeface="Arial"/>
              </a:rPr>
              <a:t>Note </a:t>
            </a:r>
            <a:r>
              <a:rPr b="0" lang="en-US" sz="2000" spc="-1" strike="noStrike">
                <a:latin typeface="Arial"/>
              </a:rPr>
              <a:t>the cost </a:t>
            </a:r>
            <a:r>
              <a:rPr b="0" lang="en-US" sz="2000" spc="-1" strike="noStrike">
                <a:latin typeface="Arial"/>
              </a:rPr>
              <a:t>column: </a:t>
            </a:r>
            <a:r>
              <a:rPr b="0" lang="en-US" sz="2000" spc="-1" strike="noStrike">
                <a:latin typeface="Arial"/>
              </a:rPr>
              <a:t>self-</a:t>
            </a:r>
            <a:r>
              <a:rPr b="0" lang="en-US" sz="2000" spc="-1" strike="noStrike">
                <a:latin typeface="Arial"/>
              </a:rPr>
              <a:t>consiste</a:t>
            </a:r>
            <a:r>
              <a:rPr b="0" lang="en-US" sz="2000" spc="-1" strike="noStrike">
                <a:latin typeface="Arial"/>
              </a:rPr>
              <a:t>ncy is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most </a:t>
            </a:r>
            <a:r>
              <a:rPr b="0" lang="en-US" sz="2000" spc="-1" strike="noStrike">
                <a:latin typeface="Arial"/>
              </a:rPr>
              <a:t>expensi</a:t>
            </a:r>
            <a:r>
              <a:rPr b="0" lang="en-US" sz="2000" spc="-1" strike="noStrike">
                <a:latin typeface="Arial"/>
              </a:rPr>
              <a:t>ve, </a:t>
            </a:r>
            <a:r>
              <a:rPr b="0" lang="en-US" sz="2000" spc="-1" strike="noStrike">
                <a:latin typeface="Arial"/>
              </a:rPr>
              <a:t>which is </a:t>
            </a:r>
            <a:r>
              <a:rPr b="0" lang="en-US" sz="2000" spc="-1" strike="noStrike">
                <a:latin typeface="Arial"/>
              </a:rPr>
              <a:t>exactly </a:t>
            </a:r>
            <a:r>
              <a:rPr b="0" lang="en-US" sz="2000" spc="-1" strike="noStrike">
                <a:latin typeface="Arial"/>
              </a:rPr>
              <a:t>why our </a:t>
            </a:r>
            <a:r>
              <a:rPr b="0" lang="en-US" sz="2000" spc="-1" strike="noStrike">
                <a:latin typeface="Arial"/>
              </a:rPr>
              <a:t>pipeline </a:t>
            </a:r>
            <a:r>
              <a:rPr b="0" lang="en-US" sz="2000" spc="-1" strike="noStrike">
                <a:latin typeface="Arial"/>
              </a:rPr>
              <a:t>uses it </a:t>
            </a:r>
            <a:r>
              <a:rPr b="0" lang="en-US" sz="2000" spc="-1" strike="noStrike">
                <a:latin typeface="Arial"/>
              </a:rPr>
              <a:t>only as </a:t>
            </a:r>
            <a:r>
              <a:rPr b="0" lang="en-US" sz="2000" spc="-1" strike="noStrike">
                <a:latin typeface="Arial"/>
              </a:rPr>
              <a:t>a cheap </a:t>
            </a:r>
            <a:r>
              <a:rPr b="0" lang="en-US" sz="2000" spc="-1" strike="noStrike">
                <a:latin typeface="Arial"/>
              </a:rPr>
              <a:t>first </a:t>
            </a:r>
            <a:r>
              <a:rPr b="0" lang="en-US" sz="2000" spc="-1" strike="noStrike">
                <a:latin typeface="Arial"/>
              </a:rPr>
              <a:t>filter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saves </a:t>
            </a:r>
            <a:r>
              <a:rPr b="0" lang="en-US" sz="2000" spc="-1" strike="noStrike">
                <a:latin typeface="Arial"/>
              </a:rPr>
              <a:t>heavy </a:t>
            </a:r>
            <a:r>
              <a:rPr b="0" lang="en-US" sz="2000" spc="-1" strike="noStrike">
                <a:latin typeface="Arial"/>
              </a:rPr>
              <a:t>verificati</a:t>
            </a:r>
            <a:r>
              <a:rPr b="0" lang="en-US" sz="2000" spc="-1" strike="noStrike">
                <a:latin typeface="Arial"/>
              </a:rPr>
              <a:t>on for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uncertai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cases.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8EA62AA-CB4A-43D3-915B-1DE2CA99FA5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Here are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headline </a:t>
            </a:r>
            <a:r>
              <a:rPr b="0" lang="en-US" sz="2000" spc="-1" strike="noStrike">
                <a:latin typeface="Arial"/>
              </a:rPr>
              <a:t>number</a:t>
            </a:r>
            <a:r>
              <a:rPr b="0" lang="en-US" sz="2000" spc="-1" strike="noStrike">
                <a:latin typeface="Arial"/>
              </a:rPr>
              <a:t>s. </a:t>
            </a:r>
            <a:r>
              <a:rPr b="0" lang="en-US" sz="2000" spc="-1" strike="noStrike">
                <a:latin typeface="Arial"/>
              </a:rPr>
              <a:t>Accurac</a:t>
            </a:r>
            <a:r>
              <a:rPr b="0" lang="en-US" sz="2000" spc="-1" strike="noStrike">
                <a:latin typeface="Arial"/>
              </a:rPr>
              <a:t>y is how </a:t>
            </a:r>
            <a:r>
              <a:rPr b="0" lang="en-US" sz="2000" spc="-1" strike="noStrike">
                <a:latin typeface="Arial"/>
              </a:rPr>
              <a:t>often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answer </a:t>
            </a:r>
            <a:r>
              <a:rPr b="0" lang="en-US" sz="2000" spc="-1" strike="noStrike">
                <a:latin typeface="Arial"/>
              </a:rPr>
              <a:t>is right; </a:t>
            </a:r>
            <a:r>
              <a:rPr b="0" lang="en-US" sz="2000" spc="-1" strike="noStrike">
                <a:latin typeface="Arial"/>
              </a:rPr>
              <a:t>average </a:t>
            </a:r>
            <a:r>
              <a:rPr b="0" lang="en-US" sz="2000" spc="-1" strike="noStrike">
                <a:latin typeface="Arial"/>
              </a:rPr>
              <a:t>confide</a:t>
            </a:r>
            <a:r>
              <a:rPr b="0" lang="en-US" sz="2000" spc="-1" strike="noStrike">
                <a:latin typeface="Arial"/>
              </a:rPr>
              <a:t>nce is </a:t>
            </a:r>
            <a:r>
              <a:rPr b="0" lang="en-US" sz="2000" spc="-1" strike="noStrike">
                <a:latin typeface="Arial"/>
              </a:rPr>
              <a:t>what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model </a:t>
            </a:r>
            <a:r>
              <a:rPr b="0" lang="en-US" sz="2000" spc="-1" strike="noStrike">
                <a:latin typeface="Arial"/>
              </a:rPr>
              <a:t>claims. </a:t>
            </a:r>
            <a:r>
              <a:rPr b="0" lang="en-US" sz="2000" spc="-1" strike="noStrike">
                <a:latin typeface="Arial"/>
              </a:rPr>
              <a:t>ECE — </a:t>
            </a:r>
            <a:r>
              <a:rPr b="0" lang="en-US" sz="2000" spc="-1" strike="noStrike">
                <a:latin typeface="Arial"/>
              </a:rPr>
              <a:t>expecte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calibrati</a:t>
            </a:r>
            <a:r>
              <a:rPr b="0" lang="en-US" sz="2000" spc="-1" strike="noStrike">
                <a:latin typeface="Arial"/>
              </a:rPr>
              <a:t>on error </a:t>
            </a:r>
            <a:r>
              <a:rPr b="0" lang="en-US" sz="2000" spc="-1" strike="noStrike">
                <a:latin typeface="Arial"/>
              </a:rPr>
              <a:t>— is the </a:t>
            </a:r>
            <a:r>
              <a:rPr b="0" lang="en-US" sz="2000" spc="-1" strike="noStrike">
                <a:latin typeface="Arial"/>
              </a:rPr>
              <a:t>gap </a:t>
            </a:r>
            <a:r>
              <a:rPr b="0" lang="en-US" sz="2000" spc="-1" strike="noStrike">
                <a:latin typeface="Arial"/>
              </a:rPr>
              <a:t>between </a:t>
            </a:r>
            <a:r>
              <a:rPr b="0" lang="en-US" sz="2000" spc="-1" strike="noStrike">
                <a:latin typeface="Arial"/>
              </a:rPr>
              <a:t>claimed </a:t>
            </a:r>
            <a:r>
              <a:rPr b="0" lang="en-US" sz="2000" spc="-1" strike="noStrike">
                <a:latin typeface="Arial"/>
              </a:rPr>
              <a:t>confide</a:t>
            </a:r>
            <a:r>
              <a:rPr b="0" lang="en-US" sz="2000" spc="-1" strike="noStrike">
                <a:latin typeface="Arial"/>
              </a:rPr>
              <a:t>nce and </a:t>
            </a:r>
            <a:r>
              <a:rPr b="0" lang="en-US" sz="2000" spc="-1" strike="noStrike">
                <a:latin typeface="Arial"/>
              </a:rPr>
              <a:t>actual </a:t>
            </a:r>
            <a:r>
              <a:rPr b="0" lang="en-US" sz="2000" spc="-1" strike="noStrike">
                <a:latin typeface="Arial"/>
              </a:rPr>
              <a:t>accurac</a:t>
            </a:r>
            <a:r>
              <a:rPr b="0" lang="en-US" sz="2000" spc="-1" strike="noStrike">
                <a:latin typeface="Arial"/>
              </a:rPr>
              <a:t>y; lower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better. </a:t>
            </a:r>
            <a:r>
              <a:rPr b="0" lang="en-US" sz="2000" spc="-1" strike="noStrike">
                <a:latin typeface="Arial"/>
              </a:rPr>
              <a:t>Brier </a:t>
            </a:r>
            <a:r>
              <a:rPr b="0" lang="en-US" sz="2000" spc="-1" strike="noStrike">
                <a:latin typeface="Arial"/>
              </a:rPr>
              <a:t>score </a:t>
            </a:r>
            <a:r>
              <a:rPr b="0" lang="en-US" sz="2000" spc="-1" strike="noStrike">
                <a:latin typeface="Arial"/>
              </a:rPr>
              <a:t>also </a:t>
            </a:r>
            <a:r>
              <a:rPr b="0" lang="en-US" sz="2000" spc="-1" strike="noStrike">
                <a:latin typeface="Arial"/>
              </a:rPr>
              <a:t>measur</a:t>
            </a:r>
            <a:r>
              <a:rPr b="0" lang="en-US" sz="2000" spc="-1" strike="noStrike">
                <a:latin typeface="Arial"/>
              </a:rPr>
              <a:t>es </a:t>
            </a:r>
            <a:r>
              <a:rPr b="0" lang="en-US" sz="2000" spc="-1" strike="noStrike">
                <a:latin typeface="Arial"/>
              </a:rPr>
              <a:t>probabili</a:t>
            </a:r>
            <a:r>
              <a:rPr b="0" lang="en-US" sz="2000" spc="-1" strike="noStrike">
                <a:latin typeface="Arial"/>
              </a:rPr>
              <a:t>ty </a:t>
            </a:r>
            <a:r>
              <a:rPr b="0" lang="en-US" sz="2000" spc="-1" strike="noStrike">
                <a:latin typeface="Arial"/>
              </a:rPr>
              <a:t>quality; </a:t>
            </a:r>
            <a:r>
              <a:rPr b="0" lang="en-US" sz="2000" spc="-1" strike="noStrike">
                <a:latin typeface="Arial"/>
              </a:rPr>
              <a:t>lower is </a:t>
            </a:r>
            <a:r>
              <a:rPr b="0" lang="en-US" sz="2000" spc="-1" strike="noStrike">
                <a:latin typeface="Arial"/>
              </a:rPr>
              <a:t>better. </a:t>
            </a:r>
            <a:r>
              <a:rPr b="0" lang="en-US" sz="2000" spc="-1" strike="noStrike">
                <a:latin typeface="Arial"/>
              </a:rPr>
              <a:t>AUROC </a:t>
            </a:r>
            <a:r>
              <a:rPr b="0" lang="en-US" sz="2000" spc="-1" strike="noStrike">
                <a:latin typeface="Arial"/>
              </a:rPr>
              <a:t>measur</a:t>
            </a:r>
            <a:r>
              <a:rPr b="0" lang="en-US" sz="2000" spc="-1" strike="noStrike">
                <a:latin typeface="Arial"/>
              </a:rPr>
              <a:t>es </a:t>
            </a:r>
            <a:r>
              <a:rPr b="0" lang="en-US" sz="2000" spc="-1" strike="noStrike">
                <a:latin typeface="Arial"/>
              </a:rPr>
              <a:t>whether </a:t>
            </a:r>
            <a:r>
              <a:rPr b="0" lang="en-US" sz="2000" spc="-1" strike="noStrike">
                <a:latin typeface="Arial"/>
              </a:rPr>
              <a:t>confide</a:t>
            </a:r>
            <a:r>
              <a:rPr b="0" lang="en-US" sz="2000" spc="-1" strike="noStrike">
                <a:latin typeface="Arial"/>
              </a:rPr>
              <a:t>nce </a:t>
            </a:r>
            <a:r>
              <a:rPr b="0" lang="en-US" sz="2000" spc="-1" strike="noStrike">
                <a:latin typeface="Arial"/>
              </a:rPr>
              <a:t>separat</a:t>
            </a:r>
            <a:r>
              <a:rPr b="0" lang="en-US" sz="2000" spc="-1" strike="noStrike">
                <a:latin typeface="Arial"/>
              </a:rPr>
              <a:t>es right </a:t>
            </a:r>
            <a:r>
              <a:rPr b="0" lang="en-US" sz="2000" spc="-1" strike="noStrike">
                <a:latin typeface="Arial"/>
              </a:rPr>
              <a:t>from </a:t>
            </a:r>
            <a:r>
              <a:rPr b="0" lang="en-US" sz="2000" spc="-1" strike="noStrike">
                <a:latin typeface="Arial"/>
              </a:rPr>
              <a:t>wrong </a:t>
            </a:r>
            <a:r>
              <a:rPr b="0" lang="en-US" sz="2000" spc="-1" strike="noStrike">
                <a:latin typeface="Arial"/>
              </a:rPr>
              <a:t>answers</a:t>
            </a:r>
            <a:r>
              <a:rPr b="0" lang="en-US" sz="2000" spc="-1" strike="noStrike">
                <a:latin typeface="Arial"/>
              </a:rPr>
              <a:t>; 0.5 is </a:t>
            </a:r>
            <a:r>
              <a:rPr b="0" lang="en-US" sz="2000" spc="-1" strike="noStrike">
                <a:latin typeface="Arial"/>
              </a:rPr>
              <a:t>random, </a:t>
            </a:r>
            <a:r>
              <a:rPr b="0" lang="en-US" sz="2000" spc="-1" strike="noStrike">
                <a:latin typeface="Arial"/>
              </a:rPr>
              <a:t>1.0 is </a:t>
            </a:r>
            <a:r>
              <a:rPr b="0" lang="en-US" sz="2000" spc="-1" strike="noStrike">
                <a:latin typeface="Arial"/>
              </a:rPr>
              <a:t>perfect. </a:t>
            </a:r>
            <a:r>
              <a:rPr b="0" lang="en-US" sz="2000" spc="-1" strike="noStrike">
                <a:latin typeface="Arial"/>
              </a:rPr>
              <a:t>The last </a:t>
            </a:r>
            <a:r>
              <a:rPr b="0" lang="en-US" sz="2000" spc="-1" strike="noStrike">
                <a:latin typeface="Arial"/>
              </a:rPr>
              <a:t>column </a:t>
            </a:r>
            <a:r>
              <a:rPr b="0" lang="en-US" sz="2000" spc="-1" strike="noStrike">
                <a:latin typeface="Arial"/>
              </a:rPr>
              <a:t>is our </a:t>
            </a:r>
            <a:r>
              <a:rPr b="0" lang="en-US" sz="2000" spc="-1" strike="noStrike">
                <a:latin typeface="Arial"/>
              </a:rPr>
              <a:t>headline </a:t>
            </a:r>
            <a:r>
              <a:rPr b="0" lang="en-US" sz="2000" spc="-1" strike="noStrike">
                <a:latin typeface="Arial"/>
              </a:rPr>
              <a:t>overcon</a:t>
            </a:r>
            <a:r>
              <a:rPr b="0" lang="en-US" sz="2000" spc="-1" strike="noStrike">
                <a:latin typeface="Arial"/>
              </a:rPr>
              <a:t>fidence </a:t>
            </a:r>
            <a:r>
              <a:rPr b="0" lang="en-US" sz="2000" spc="-1" strike="noStrike">
                <a:latin typeface="Arial"/>
              </a:rPr>
              <a:t>measur</a:t>
            </a:r>
            <a:r>
              <a:rPr b="0" lang="en-US" sz="2000" spc="-1" strike="noStrike">
                <a:latin typeface="Arial"/>
              </a:rPr>
              <a:t>e: of the </a:t>
            </a:r>
            <a:r>
              <a:rPr b="0" lang="en-US" sz="2000" spc="-1" strike="noStrike">
                <a:latin typeface="Arial"/>
              </a:rPr>
              <a:t>answers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were </a:t>
            </a:r>
            <a:r>
              <a:rPr b="0" lang="en-US" sz="2000" spc="-1" strike="noStrike">
                <a:latin typeface="Arial"/>
              </a:rPr>
              <a:t>WRON</a:t>
            </a:r>
            <a:r>
              <a:rPr b="0" lang="en-US" sz="2000" spc="-1" strike="noStrike">
                <a:latin typeface="Arial"/>
              </a:rPr>
              <a:t>G, what </a:t>
            </a:r>
            <a:r>
              <a:rPr b="0" lang="en-US" sz="2000" spc="-1" strike="noStrike">
                <a:latin typeface="Arial"/>
              </a:rPr>
              <a:t>share </a:t>
            </a:r>
            <a:r>
              <a:rPr b="0" lang="en-US" sz="2000" spc="-1" strike="noStrike">
                <a:latin typeface="Arial"/>
              </a:rPr>
              <a:t>were </a:t>
            </a:r>
            <a:r>
              <a:rPr b="0" lang="en-US" sz="2000" spc="-1" strike="noStrike">
                <a:latin typeface="Arial"/>
              </a:rPr>
              <a:t>stated </a:t>
            </a:r>
            <a:r>
              <a:rPr b="0" lang="en-US" sz="2000" spc="-1" strike="noStrike">
                <a:latin typeface="Arial"/>
              </a:rPr>
              <a:t>with at </a:t>
            </a:r>
            <a:r>
              <a:rPr b="0" lang="en-US" sz="2000" spc="-1" strike="noStrike">
                <a:latin typeface="Arial"/>
              </a:rPr>
              <a:t>least </a:t>
            </a:r>
            <a:r>
              <a:rPr b="0" lang="en-US" sz="2000" spc="-1" strike="noStrike">
                <a:latin typeface="Arial"/>
              </a:rPr>
              <a:t>90% </a:t>
            </a:r>
            <a:r>
              <a:rPr b="0" lang="en-US" sz="2000" spc="-1" strike="noStrike">
                <a:latin typeface="Arial"/>
              </a:rPr>
              <a:t>confide</a:t>
            </a:r>
            <a:r>
              <a:rPr b="0" lang="en-US" sz="2000" spc="-1" strike="noStrike">
                <a:latin typeface="Arial"/>
              </a:rPr>
              <a:t>nce. For </a:t>
            </a:r>
            <a:r>
              <a:rPr b="0" lang="en-US" sz="2000" spc="-1" strike="noStrike">
                <a:latin typeface="Arial"/>
              </a:rPr>
              <a:t>verbaliz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confide</a:t>
            </a:r>
            <a:r>
              <a:rPr b="0" lang="en-US" sz="2000" spc="-1" strike="noStrike">
                <a:latin typeface="Arial"/>
              </a:rPr>
              <a:t>nce that </a:t>
            </a:r>
            <a:r>
              <a:rPr b="0" lang="en-US" sz="2000" spc="-1" strike="noStrike">
                <a:latin typeface="Arial"/>
              </a:rPr>
              <a:t>is 82%. </a:t>
            </a:r>
            <a:r>
              <a:rPr b="0" lang="en-US" sz="2000" spc="-1" strike="noStrike">
                <a:latin typeface="Arial"/>
              </a:rPr>
              <a:t>Green </a:t>
            </a:r>
            <a:r>
              <a:rPr b="0" lang="en-US" sz="2000" spc="-1" strike="noStrike">
                <a:latin typeface="Arial"/>
              </a:rPr>
              <a:t>marks </a:t>
            </a:r>
            <a:r>
              <a:rPr b="0" lang="en-US" sz="2000" spc="-1" strike="noStrike">
                <a:latin typeface="Arial"/>
              </a:rPr>
              <a:t>the best </a:t>
            </a:r>
            <a:r>
              <a:rPr b="0" lang="en-US" sz="2000" spc="-1" strike="noStrike">
                <a:latin typeface="Arial"/>
              </a:rPr>
              <a:t>value in </a:t>
            </a:r>
            <a:r>
              <a:rPr b="0" lang="en-US" sz="2000" spc="-1" strike="noStrike">
                <a:latin typeface="Arial"/>
              </a:rPr>
              <a:t>each </a:t>
            </a:r>
            <a:r>
              <a:rPr b="0" lang="en-US" sz="2000" spc="-1" strike="noStrike">
                <a:latin typeface="Arial"/>
              </a:rPr>
              <a:t>column.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98A556B-4AD3-484C-8CD5-ABB23968C20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How to read these: we </a:t>
            </a:r>
            <a:r>
              <a:rPr b="0" lang="en-US" sz="2000" spc="-1" strike="noStrike">
                <a:latin typeface="Arial"/>
              </a:rPr>
              <a:t>group answers by </a:t>
            </a:r>
            <a:r>
              <a:rPr b="0" lang="en-US" sz="2000" spc="-1" strike="noStrike">
                <a:latin typeface="Arial"/>
              </a:rPr>
              <a:t>stated confidence, </a:t>
            </a:r>
            <a:r>
              <a:rPr b="0" lang="en-US" sz="2000" spc="-1" strike="noStrike">
                <a:latin typeface="Arial"/>
              </a:rPr>
              <a:t>then plot how often </a:t>
            </a:r>
            <a:r>
              <a:rPr b="0" lang="en-US" sz="2000" spc="-1" strike="noStrike">
                <a:latin typeface="Arial"/>
              </a:rPr>
              <a:t>each group was </a:t>
            </a:r>
            <a:r>
              <a:rPr b="0" lang="en-US" sz="2000" spc="-1" strike="noStrike">
                <a:latin typeface="Arial"/>
              </a:rPr>
              <a:t>actually correct. On </a:t>
            </a:r>
            <a:r>
              <a:rPr b="0" lang="en-US" sz="2000" spc="-1" strike="noStrike">
                <a:latin typeface="Arial"/>
              </a:rPr>
              <a:t>the dashed diagonal, </a:t>
            </a:r>
            <a:r>
              <a:rPr b="0" lang="en-US" sz="2000" spc="-1" strike="noStrike">
                <a:latin typeface="Arial"/>
              </a:rPr>
              <a:t>80% confidence </a:t>
            </a:r>
            <a:r>
              <a:rPr b="0" lang="en-US" sz="2000" spc="-1" strike="noStrike">
                <a:latin typeface="Arial"/>
              </a:rPr>
              <a:t>means 80% accuracy. </a:t>
            </a:r>
            <a:r>
              <a:rPr b="0" lang="en-US" sz="2000" spc="-1" strike="noStrike">
                <a:latin typeface="Arial"/>
              </a:rPr>
              <a:t>Bars BELOW the </a:t>
            </a:r>
            <a:r>
              <a:rPr b="0" lang="en-US" sz="2000" spc="-1" strike="noStrike">
                <a:latin typeface="Arial"/>
              </a:rPr>
              <a:t>diagonal mean the </a:t>
            </a:r>
            <a:r>
              <a:rPr b="0" lang="en-US" sz="2000" spc="-1" strike="noStrike">
                <a:latin typeface="Arial"/>
              </a:rPr>
              <a:t>model was less </a:t>
            </a:r>
            <a:r>
              <a:rPr b="0" lang="en-US" sz="2000" spc="-1" strike="noStrike">
                <a:latin typeface="Arial"/>
              </a:rPr>
              <a:t>accurate than it </a:t>
            </a:r>
            <a:r>
              <a:rPr b="0" lang="en-US" sz="2000" spc="-1" strike="noStrike">
                <a:latin typeface="Arial"/>
              </a:rPr>
              <a:t>claimed — that is </a:t>
            </a:r>
            <a:r>
              <a:rPr b="0" lang="en-US" sz="2000" spc="-1" strike="noStrike">
                <a:latin typeface="Arial"/>
              </a:rPr>
              <a:t>overconfidence. Look </a:t>
            </a:r>
            <a:r>
              <a:rPr b="0" lang="en-US" sz="2000" spc="-1" strike="noStrike">
                <a:latin typeface="Arial"/>
              </a:rPr>
              <a:t>at where most </a:t>
            </a:r>
            <a:r>
              <a:rPr b="0" lang="en-US" sz="2000" spc="-1" strike="noStrike">
                <a:latin typeface="Arial"/>
              </a:rPr>
              <a:t>answers sit and how </a:t>
            </a:r>
            <a:r>
              <a:rPr b="0" lang="en-US" sz="2000" spc="-1" strike="noStrike">
                <a:latin typeface="Arial"/>
              </a:rPr>
              <a:t>far they are from the </a:t>
            </a:r>
            <a:r>
              <a:rPr b="0" lang="en-US" sz="2000" spc="-1" strike="noStrike">
                <a:latin typeface="Arial"/>
              </a:rPr>
              <a:t>line, and compare the </a:t>
            </a:r>
            <a:r>
              <a:rPr b="0" lang="en-US" sz="2000" spc="-1" strike="noStrike">
                <a:latin typeface="Arial"/>
              </a:rPr>
              <a:t>raw verbalized panel </a:t>
            </a:r>
            <a:r>
              <a:rPr b="0" lang="en-US" sz="2000" spc="-1" strike="noStrike">
                <a:latin typeface="Arial"/>
              </a:rPr>
              <a:t>with the temperature-</a:t>
            </a:r>
            <a:r>
              <a:rPr b="0" lang="en-US" sz="2000" spc="-1" strike="noStrike">
                <a:latin typeface="Arial"/>
              </a:rPr>
              <a:t>scaled panel. In our </a:t>
            </a:r>
            <a:r>
              <a:rPr b="0" lang="en-US" sz="2000" spc="-1" strike="noStrike">
                <a:latin typeface="Arial"/>
              </a:rPr>
              <a:t>run the largest </a:t>
            </a:r>
            <a:r>
              <a:rPr b="0" lang="en-US" sz="2000" spc="-1" strike="noStrike">
                <a:latin typeface="Arial"/>
              </a:rPr>
              <a:t>average </a:t>
            </a:r>
            <a:r>
              <a:rPr b="0" lang="en-US" sz="2000" spc="-1" strike="noStrike">
                <a:latin typeface="Arial"/>
              </a:rPr>
              <a:t>overconfidence gap </a:t>
            </a:r>
            <a:r>
              <a:rPr b="0" lang="en-US" sz="2000" spc="-1" strike="noStrike">
                <a:latin typeface="Arial"/>
              </a:rPr>
              <a:t>was Verbalized </a:t>
            </a:r>
            <a:r>
              <a:rPr b="0" lang="en-US" sz="2000" spc="-1" strike="noStrike">
                <a:latin typeface="Arial"/>
              </a:rPr>
              <a:t>confidence, at +14 </a:t>
            </a:r>
            <a:r>
              <a:rPr b="0" lang="en-US" sz="2000" spc="-1" strike="noStrike">
                <a:latin typeface="Arial"/>
              </a:rPr>
              <a:t>percentage points.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26FB8E-7549-432C-AE95-2463FAE78D15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ch</a:t>
            </a:r>
            <a:r>
              <a:rPr b="0" lang="en-US" sz="2000" spc="-1" strike="noStrike">
                <a:latin typeface="Arial"/>
              </a:rPr>
              <a:t>ar</a:t>
            </a:r>
            <a:r>
              <a:rPr b="0" lang="en-US" sz="2000" spc="-1" strike="noStrike">
                <a:latin typeface="Arial"/>
              </a:rPr>
              <a:t>t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th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co</a:t>
            </a:r>
            <a:r>
              <a:rPr b="0" lang="en-US" sz="2000" spc="-1" strike="noStrike">
                <a:latin typeface="Arial"/>
              </a:rPr>
              <a:t>re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ou</a:t>
            </a:r>
            <a:r>
              <a:rPr b="0" lang="en-US" sz="2000" spc="-1" strike="noStrike">
                <a:latin typeface="Arial"/>
              </a:rPr>
              <a:t>r </a:t>
            </a:r>
            <a:r>
              <a:rPr b="0" lang="en-US" sz="2000" spc="-1" strike="noStrike">
                <a:latin typeface="Arial"/>
              </a:rPr>
              <a:t>to</a:t>
            </a:r>
            <a:r>
              <a:rPr b="0" lang="en-US" sz="2000" spc="-1" strike="noStrike">
                <a:latin typeface="Arial"/>
              </a:rPr>
              <a:t>pi</a:t>
            </a:r>
            <a:r>
              <a:rPr b="0" lang="en-US" sz="2000" spc="-1" strike="noStrike">
                <a:latin typeface="Arial"/>
              </a:rPr>
              <a:t>c. </a:t>
            </a:r>
            <a:r>
              <a:rPr b="0" lang="en-US" sz="2000" spc="-1" strike="noStrike">
                <a:latin typeface="Arial"/>
              </a:rPr>
              <a:t>Gr</a:t>
            </a:r>
            <a:r>
              <a:rPr b="0" lang="en-US" sz="2000" spc="-1" strike="noStrike">
                <a:latin typeface="Arial"/>
              </a:rPr>
              <a:t>ee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ba</a:t>
            </a:r>
            <a:r>
              <a:rPr b="0" lang="en-US" sz="2000" spc="-1" strike="noStrike">
                <a:latin typeface="Arial"/>
              </a:rPr>
              <a:t>rs </a:t>
            </a:r>
            <a:r>
              <a:rPr b="0" lang="en-US" sz="2000" spc="-1" strike="noStrike">
                <a:latin typeface="Arial"/>
              </a:rPr>
              <a:t>ar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co</a:t>
            </a:r>
            <a:r>
              <a:rPr b="0" lang="en-US" sz="2000" spc="-1" strike="noStrike">
                <a:latin typeface="Arial"/>
              </a:rPr>
              <a:t>rr</a:t>
            </a:r>
            <a:r>
              <a:rPr b="0" lang="en-US" sz="2000" spc="-1" strike="noStrike">
                <a:latin typeface="Arial"/>
              </a:rPr>
              <a:t>ec</a:t>
            </a:r>
            <a:r>
              <a:rPr b="0" lang="en-US" sz="2000" spc="-1" strike="noStrike">
                <a:latin typeface="Arial"/>
              </a:rPr>
              <a:t>t </a:t>
            </a:r>
            <a:r>
              <a:rPr b="0" lang="en-US" sz="2000" spc="-1" strike="noStrike">
                <a:latin typeface="Arial"/>
              </a:rPr>
              <a:t>an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w</a:t>
            </a:r>
            <a:r>
              <a:rPr b="0" lang="en-US" sz="2000" spc="-1" strike="noStrike">
                <a:latin typeface="Arial"/>
              </a:rPr>
              <a:t>er</a:t>
            </a:r>
            <a:r>
              <a:rPr b="0" lang="en-US" sz="2000" spc="-1" strike="noStrike">
                <a:latin typeface="Arial"/>
              </a:rPr>
              <a:t>s, </a:t>
            </a:r>
            <a:r>
              <a:rPr b="0" lang="en-US" sz="2000" spc="-1" strike="noStrike">
                <a:latin typeface="Arial"/>
              </a:rPr>
              <a:t>re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ba</a:t>
            </a:r>
            <a:r>
              <a:rPr b="0" lang="en-US" sz="2000" spc="-1" strike="noStrike">
                <a:latin typeface="Arial"/>
              </a:rPr>
              <a:t>rs </a:t>
            </a:r>
            <a:r>
              <a:rPr b="0" lang="en-US" sz="2000" spc="-1" strike="noStrike">
                <a:latin typeface="Arial"/>
              </a:rPr>
              <a:t>ar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wr</a:t>
            </a:r>
            <a:r>
              <a:rPr b="0" lang="en-US" sz="2000" spc="-1" strike="noStrike">
                <a:latin typeface="Arial"/>
              </a:rPr>
              <a:t>on</a:t>
            </a:r>
            <a:r>
              <a:rPr b="0" lang="en-US" sz="2000" spc="-1" strike="noStrike">
                <a:latin typeface="Arial"/>
              </a:rPr>
              <a:t>g </a:t>
            </a:r>
            <a:r>
              <a:rPr b="0" lang="en-US" sz="2000" spc="-1" strike="noStrike">
                <a:latin typeface="Arial"/>
              </a:rPr>
              <a:t>an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w</a:t>
            </a:r>
            <a:r>
              <a:rPr b="0" lang="en-US" sz="2000" spc="-1" strike="noStrike">
                <a:latin typeface="Arial"/>
              </a:rPr>
              <a:t>er</a:t>
            </a:r>
            <a:r>
              <a:rPr b="0" lang="en-US" sz="2000" spc="-1" strike="noStrike">
                <a:latin typeface="Arial"/>
              </a:rPr>
              <a:t>s, </a:t>
            </a:r>
            <a:r>
              <a:rPr b="0" lang="en-US" sz="2000" spc="-1" strike="noStrike">
                <a:latin typeface="Arial"/>
              </a:rPr>
              <a:t>by </a:t>
            </a:r>
            <a:r>
              <a:rPr b="0" lang="en-US" sz="2000" spc="-1" strike="noStrike">
                <a:latin typeface="Arial"/>
              </a:rPr>
              <a:t>th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co</a:t>
            </a:r>
            <a:r>
              <a:rPr b="0" lang="en-US" sz="2000" spc="-1" strike="noStrike">
                <a:latin typeface="Arial"/>
              </a:rPr>
              <a:t>nfi</a:t>
            </a:r>
            <a:r>
              <a:rPr b="0" lang="en-US" sz="2000" spc="-1" strike="noStrike">
                <a:latin typeface="Arial"/>
              </a:rPr>
              <a:t>de</a:t>
            </a:r>
            <a:r>
              <a:rPr b="0" lang="en-US" sz="2000" spc="-1" strike="noStrike">
                <a:latin typeface="Arial"/>
              </a:rPr>
              <a:t>nc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th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od</a:t>
            </a:r>
            <a:r>
              <a:rPr b="0" lang="en-US" sz="2000" spc="-1" strike="noStrike">
                <a:latin typeface="Arial"/>
              </a:rPr>
              <a:t>el </a:t>
            </a:r>
            <a:r>
              <a:rPr b="0" lang="en-US" sz="2000" spc="-1" strike="noStrike">
                <a:latin typeface="Arial"/>
              </a:rPr>
              <a:t>st</a:t>
            </a:r>
            <a:r>
              <a:rPr b="0" lang="en-US" sz="2000" spc="-1" strike="noStrike">
                <a:latin typeface="Arial"/>
              </a:rPr>
              <a:t>at</a:t>
            </a:r>
            <a:r>
              <a:rPr b="0" lang="en-US" sz="2000" spc="-1" strike="noStrike">
                <a:latin typeface="Arial"/>
              </a:rPr>
              <a:t>ed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If </a:t>
            </a:r>
            <a:r>
              <a:rPr b="0" lang="en-US" sz="2000" spc="-1" strike="noStrike">
                <a:latin typeface="Arial"/>
              </a:rPr>
              <a:t>th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od</a:t>
            </a:r>
            <a:r>
              <a:rPr b="0" lang="en-US" sz="2000" spc="-1" strike="noStrike">
                <a:latin typeface="Arial"/>
              </a:rPr>
              <a:t>el </a:t>
            </a:r>
            <a:r>
              <a:rPr b="0" lang="en-US" sz="2000" spc="-1" strike="noStrike">
                <a:latin typeface="Arial"/>
              </a:rPr>
              <a:t>kn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w </a:t>
            </a:r>
            <a:r>
              <a:rPr b="0" lang="en-US" sz="2000" spc="-1" strike="noStrike">
                <a:latin typeface="Arial"/>
              </a:rPr>
              <a:t>w</a:t>
            </a:r>
            <a:r>
              <a:rPr b="0" lang="en-US" sz="2000" spc="-1" strike="noStrike">
                <a:latin typeface="Arial"/>
              </a:rPr>
              <a:t>ha</a:t>
            </a:r>
            <a:r>
              <a:rPr b="0" lang="en-US" sz="2000" spc="-1" strike="noStrike">
                <a:latin typeface="Arial"/>
              </a:rPr>
              <a:t>t it </a:t>
            </a:r>
            <a:r>
              <a:rPr b="0" lang="en-US" sz="2000" spc="-1" strike="noStrike">
                <a:latin typeface="Arial"/>
              </a:rPr>
              <a:t>di</a:t>
            </a:r>
            <a:r>
              <a:rPr b="0" lang="en-US" sz="2000" spc="-1" strike="noStrike">
                <a:latin typeface="Arial"/>
              </a:rPr>
              <a:t>dn</a:t>
            </a:r>
            <a:r>
              <a:rPr b="0" lang="en-US" sz="2000" spc="-1" strike="noStrike">
                <a:latin typeface="Arial"/>
              </a:rPr>
              <a:t>'t </a:t>
            </a:r>
            <a:r>
              <a:rPr b="0" lang="en-US" sz="2000" spc="-1" strike="noStrike">
                <a:latin typeface="Arial"/>
              </a:rPr>
              <a:t>kn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w, </a:t>
            </a:r>
            <a:r>
              <a:rPr b="0" lang="en-US" sz="2000" spc="-1" strike="noStrike">
                <a:latin typeface="Arial"/>
              </a:rPr>
              <a:t>th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re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ba</a:t>
            </a:r>
            <a:r>
              <a:rPr b="0" lang="en-US" sz="2000" spc="-1" strike="noStrike">
                <a:latin typeface="Arial"/>
              </a:rPr>
              <a:t>rs </a:t>
            </a:r>
            <a:r>
              <a:rPr b="0" lang="en-US" sz="2000" spc="-1" strike="noStrike">
                <a:latin typeface="Arial"/>
              </a:rPr>
              <a:t>w</a:t>
            </a:r>
            <a:r>
              <a:rPr b="0" lang="en-US" sz="2000" spc="-1" strike="noStrike">
                <a:latin typeface="Arial"/>
              </a:rPr>
              <a:t>ou</a:t>
            </a:r>
            <a:r>
              <a:rPr b="0" lang="en-US" sz="2000" spc="-1" strike="noStrike">
                <a:latin typeface="Arial"/>
              </a:rPr>
              <a:t>ld </a:t>
            </a:r>
            <a:r>
              <a:rPr b="0" lang="en-US" sz="2000" spc="-1" strike="noStrike">
                <a:latin typeface="Arial"/>
              </a:rPr>
              <a:t>sit 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th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lef</a:t>
            </a:r>
            <a:r>
              <a:rPr b="0" lang="en-US" sz="2000" spc="-1" strike="noStrike">
                <a:latin typeface="Arial"/>
              </a:rPr>
              <a:t>t. </a:t>
            </a:r>
            <a:r>
              <a:rPr b="0" lang="en-US" sz="2000" spc="-1" strike="noStrike">
                <a:latin typeface="Arial"/>
              </a:rPr>
              <a:t>In</a:t>
            </a:r>
            <a:r>
              <a:rPr b="0" lang="en-US" sz="2000" spc="-1" strike="noStrike">
                <a:latin typeface="Arial"/>
              </a:rPr>
              <a:t>st</a:t>
            </a:r>
            <a:r>
              <a:rPr b="0" lang="en-US" sz="2000" spc="-1" strike="noStrike">
                <a:latin typeface="Arial"/>
              </a:rPr>
              <a:t>ea</a:t>
            </a:r>
            <a:r>
              <a:rPr b="0" lang="en-US" sz="2000" spc="-1" strike="noStrike">
                <a:latin typeface="Arial"/>
              </a:rPr>
              <a:t>d, </a:t>
            </a:r>
            <a:r>
              <a:rPr b="0" lang="en-US" sz="2000" spc="-1" strike="noStrike">
                <a:latin typeface="Arial"/>
              </a:rPr>
              <a:t>82</a:t>
            </a:r>
            <a:r>
              <a:rPr b="0" lang="en-US" sz="2000" spc="-1" strike="noStrike">
                <a:latin typeface="Arial"/>
              </a:rPr>
              <a:t>%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th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wr</a:t>
            </a:r>
            <a:r>
              <a:rPr b="0" lang="en-US" sz="2000" spc="-1" strike="noStrike">
                <a:latin typeface="Arial"/>
              </a:rPr>
              <a:t>on</a:t>
            </a:r>
            <a:r>
              <a:rPr b="0" lang="en-US" sz="2000" spc="-1" strike="noStrike">
                <a:latin typeface="Arial"/>
              </a:rPr>
              <a:t>g </a:t>
            </a:r>
            <a:r>
              <a:rPr b="0" lang="en-US" sz="2000" spc="-1" strike="noStrike">
                <a:latin typeface="Arial"/>
              </a:rPr>
              <a:t>an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w</a:t>
            </a:r>
            <a:r>
              <a:rPr b="0" lang="en-US" sz="2000" spc="-1" strike="noStrike">
                <a:latin typeface="Arial"/>
              </a:rPr>
              <a:t>er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w</a:t>
            </a:r>
            <a:r>
              <a:rPr b="0" lang="en-US" sz="2000" spc="-1" strike="noStrike">
                <a:latin typeface="Arial"/>
              </a:rPr>
              <a:t>er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st</a:t>
            </a:r>
            <a:r>
              <a:rPr b="0" lang="en-US" sz="2000" spc="-1" strike="noStrike">
                <a:latin typeface="Arial"/>
              </a:rPr>
              <a:t>at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wi</a:t>
            </a:r>
            <a:r>
              <a:rPr b="0" lang="en-US" sz="2000" spc="-1" strike="noStrike">
                <a:latin typeface="Arial"/>
              </a:rPr>
              <a:t>th </a:t>
            </a:r>
            <a:r>
              <a:rPr b="0" lang="en-US" sz="2000" spc="-1" strike="noStrike">
                <a:latin typeface="Arial"/>
              </a:rPr>
              <a:t>at </a:t>
            </a:r>
            <a:r>
              <a:rPr b="0" lang="en-US" sz="2000" spc="-1" strike="noStrike">
                <a:latin typeface="Arial"/>
              </a:rPr>
              <a:t>le</a:t>
            </a:r>
            <a:r>
              <a:rPr b="0" lang="en-US" sz="2000" spc="-1" strike="noStrike">
                <a:latin typeface="Arial"/>
              </a:rPr>
              <a:t>as</a:t>
            </a:r>
            <a:r>
              <a:rPr b="0" lang="en-US" sz="2000" spc="-1" strike="noStrike">
                <a:latin typeface="Arial"/>
              </a:rPr>
              <a:t>t </a:t>
            </a:r>
            <a:r>
              <a:rPr b="0" lang="en-US" sz="2000" spc="-1" strike="noStrike">
                <a:latin typeface="Arial"/>
              </a:rPr>
              <a:t>90</a:t>
            </a:r>
            <a:r>
              <a:rPr b="0" lang="en-US" sz="2000" spc="-1" strike="noStrike">
                <a:latin typeface="Arial"/>
              </a:rPr>
              <a:t>% </a:t>
            </a:r>
            <a:r>
              <a:rPr b="0" lang="en-US" sz="2000" spc="-1" strike="noStrike">
                <a:latin typeface="Arial"/>
              </a:rPr>
              <a:t>co</a:t>
            </a:r>
            <a:r>
              <a:rPr b="0" lang="en-US" sz="2000" spc="-1" strike="noStrike">
                <a:latin typeface="Arial"/>
              </a:rPr>
              <a:t>nfi</a:t>
            </a:r>
            <a:r>
              <a:rPr b="0" lang="en-US" sz="2000" spc="-1" strike="noStrike">
                <a:latin typeface="Arial"/>
              </a:rPr>
              <a:t>de</a:t>
            </a:r>
            <a:r>
              <a:rPr b="0" lang="en-US" sz="2000" spc="-1" strike="noStrike">
                <a:latin typeface="Arial"/>
              </a:rPr>
              <a:t>nc</a:t>
            </a:r>
            <a:r>
              <a:rPr b="0" lang="en-US" sz="2000" spc="-1" strike="noStrike">
                <a:latin typeface="Arial"/>
              </a:rPr>
              <a:t>e. 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th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rig</a:t>
            </a:r>
            <a:r>
              <a:rPr b="0" lang="en-US" sz="2000" spc="-1" strike="noStrike">
                <a:latin typeface="Arial"/>
              </a:rPr>
              <a:t>ht </a:t>
            </a:r>
            <a:r>
              <a:rPr b="0" lang="en-US" sz="2000" spc="-1" strike="noStrike">
                <a:latin typeface="Arial"/>
              </a:rPr>
              <a:t>ar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re</a:t>
            </a:r>
            <a:r>
              <a:rPr b="0" lang="en-US" sz="2000" spc="-1" strike="noStrike">
                <a:latin typeface="Arial"/>
              </a:rPr>
              <a:t>al </a:t>
            </a:r>
            <a:r>
              <a:rPr b="0" lang="en-US" sz="2000" spc="-1" strike="noStrike">
                <a:latin typeface="Arial"/>
              </a:rPr>
              <a:t>ex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pl</a:t>
            </a:r>
            <a:r>
              <a:rPr b="0" lang="en-US" sz="2000" spc="-1" strike="noStrike">
                <a:latin typeface="Arial"/>
              </a:rPr>
              <a:t>es </a:t>
            </a:r>
            <a:r>
              <a:rPr b="0" lang="en-US" sz="2000" spc="-1" strike="noStrike">
                <a:latin typeface="Arial"/>
              </a:rPr>
              <a:t>fr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m </a:t>
            </a:r>
            <a:r>
              <a:rPr b="0" lang="en-US" sz="2000" spc="-1" strike="noStrike">
                <a:latin typeface="Arial"/>
              </a:rPr>
              <a:t>ou</a:t>
            </a:r>
            <a:r>
              <a:rPr b="0" lang="en-US" sz="2000" spc="-1" strike="noStrike">
                <a:latin typeface="Arial"/>
              </a:rPr>
              <a:t>r </a:t>
            </a:r>
            <a:r>
              <a:rPr b="0" lang="en-US" sz="2000" spc="-1" strike="noStrike">
                <a:latin typeface="Arial"/>
              </a:rPr>
              <a:t>ru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— </a:t>
            </a:r>
            <a:r>
              <a:rPr b="0" lang="en-US" sz="2000" spc="-1" strike="noStrike">
                <a:latin typeface="Arial"/>
              </a:rPr>
              <a:t>th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od</a:t>
            </a:r>
            <a:r>
              <a:rPr b="0" lang="en-US" sz="2000" spc="-1" strike="noStrike">
                <a:latin typeface="Arial"/>
              </a:rPr>
              <a:t>el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wr</a:t>
            </a:r>
            <a:r>
              <a:rPr b="0" lang="en-US" sz="2000" spc="-1" strike="noStrike">
                <a:latin typeface="Arial"/>
              </a:rPr>
              <a:t>on</a:t>
            </a:r>
            <a:r>
              <a:rPr b="0" lang="en-US" sz="2000" spc="-1" strike="noStrike">
                <a:latin typeface="Arial"/>
              </a:rPr>
              <a:t>g </a:t>
            </a:r>
            <a:r>
              <a:rPr b="0" lang="en-US" sz="2000" spc="-1" strike="noStrike">
                <a:latin typeface="Arial"/>
              </a:rPr>
              <a:t>an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sti</a:t>
            </a:r>
            <a:r>
              <a:rPr b="0" lang="en-US" sz="2000" spc="-1" strike="noStrike">
                <a:latin typeface="Arial"/>
              </a:rPr>
              <a:t>ll </a:t>
            </a:r>
            <a:r>
              <a:rPr b="0" lang="en-US" sz="2000" spc="-1" strike="noStrike">
                <a:latin typeface="Arial"/>
              </a:rPr>
              <a:t>ve</a:t>
            </a:r>
            <a:r>
              <a:rPr b="0" lang="en-US" sz="2000" spc="-1" strike="noStrike">
                <a:latin typeface="Arial"/>
              </a:rPr>
              <a:t>ry </a:t>
            </a:r>
            <a:r>
              <a:rPr b="0" lang="en-US" sz="2000" spc="-1" strike="noStrike">
                <a:latin typeface="Arial"/>
              </a:rPr>
              <a:t>su</a:t>
            </a:r>
            <a:r>
              <a:rPr b="0" lang="en-US" sz="2000" spc="-1" strike="noStrike">
                <a:latin typeface="Arial"/>
              </a:rPr>
              <a:t>re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ve</a:t>
            </a:r>
            <a:r>
              <a:rPr b="0" lang="en-US" sz="2000" spc="-1" strike="noStrike">
                <a:latin typeface="Arial"/>
              </a:rPr>
              <a:t>ral</a:t>
            </a:r>
            <a:r>
              <a:rPr b="0" lang="en-US" sz="2000" spc="-1" strike="noStrike">
                <a:latin typeface="Arial"/>
              </a:rPr>
              <a:t>l </a:t>
            </a:r>
            <a:r>
              <a:rPr b="0" lang="en-US" sz="2000" spc="-1" strike="noStrike">
                <a:latin typeface="Arial"/>
              </a:rPr>
              <a:t>w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fo</a:t>
            </a:r>
            <a:r>
              <a:rPr b="0" lang="en-US" sz="2000" spc="-1" strike="noStrike">
                <a:latin typeface="Arial"/>
              </a:rPr>
              <a:t>un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59 </a:t>
            </a:r>
            <a:r>
              <a:rPr b="0" lang="en-US" sz="2000" spc="-1" strike="noStrike">
                <a:latin typeface="Arial"/>
              </a:rPr>
              <a:t>co</a:t>
            </a:r>
            <a:r>
              <a:rPr b="0" lang="en-US" sz="2000" spc="-1" strike="noStrike">
                <a:latin typeface="Arial"/>
              </a:rPr>
              <a:t>nfi</a:t>
            </a:r>
            <a:r>
              <a:rPr b="0" lang="en-US" sz="2000" spc="-1" strike="noStrike">
                <a:latin typeface="Arial"/>
              </a:rPr>
              <a:t>de</a:t>
            </a:r>
            <a:r>
              <a:rPr b="0" lang="en-US" sz="2000" spc="-1" strike="noStrike">
                <a:latin typeface="Arial"/>
              </a:rPr>
              <a:t>ntl</a:t>
            </a:r>
            <a:r>
              <a:rPr b="0" lang="en-US" sz="2000" spc="-1" strike="noStrike">
                <a:latin typeface="Arial"/>
              </a:rPr>
              <a:t>y-</a:t>
            </a:r>
            <a:r>
              <a:rPr b="0" lang="en-US" sz="2000" spc="-1" strike="noStrike">
                <a:latin typeface="Arial"/>
              </a:rPr>
              <a:t>wr</a:t>
            </a:r>
            <a:r>
              <a:rPr b="0" lang="en-US" sz="2000" spc="-1" strike="noStrike">
                <a:latin typeface="Arial"/>
              </a:rPr>
              <a:t>on</a:t>
            </a:r>
            <a:r>
              <a:rPr b="0" lang="en-US" sz="2000" spc="-1" strike="noStrike">
                <a:latin typeface="Arial"/>
              </a:rPr>
              <a:t>g </a:t>
            </a:r>
            <a:r>
              <a:rPr b="0" lang="en-US" sz="2000" spc="-1" strike="noStrike">
                <a:latin typeface="Arial"/>
              </a:rPr>
              <a:t>an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w</a:t>
            </a:r>
            <a:r>
              <a:rPr b="0" lang="en-US" sz="2000" spc="-1" strike="noStrike">
                <a:latin typeface="Arial"/>
              </a:rPr>
              <a:t>er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ou</a:t>
            </a:r>
            <a:r>
              <a:rPr b="0" lang="en-US" sz="2000" spc="-1" strike="noStrike">
                <a:latin typeface="Arial"/>
              </a:rPr>
              <a:t>t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40</a:t>
            </a:r>
            <a:r>
              <a:rPr b="0" lang="en-US" sz="2000" spc="-1" strike="noStrike">
                <a:latin typeface="Arial"/>
              </a:rPr>
              <a:t>0 </a:t>
            </a:r>
            <a:r>
              <a:rPr b="0" lang="en-US" sz="2000" spc="-1" strike="noStrike">
                <a:latin typeface="Arial"/>
              </a:rPr>
              <a:t>qu</a:t>
            </a:r>
            <a:r>
              <a:rPr b="0" lang="en-US" sz="2000" spc="-1" strike="noStrike">
                <a:latin typeface="Arial"/>
              </a:rPr>
              <a:t>es</a:t>
            </a:r>
            <a:r>
              <a:rPr b="0" lang="en-US" sz="2000" spc="-1" strike="noStrike">
                <a:latin typeface="Arial"/>
              </a:rPr>
              <a:t>tio</a:t>
            </a:r>
            <a:r>
              <a:rPr b="0" lang="en-US" sz="2000" spc="-1" strike="noStrike">
                <a:latin typeface="Arial"/>
              </a:rPr>
              <a:t>ns</a:t>
            </a:r>
            <a:r>
              <a:rPr b="0" lang="en-US" sz="2000" spc="-1" strike="noStrike">
                <a:latin typeface="Arial"/>
              </a:rPr>
              <a:t>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59E157D-C16E-455B-9329-8BF218FBE750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This is an early test of our own idea, using data we already have. Stage 1 of the pipeline </a:t>
            </a:r>
            <a:r>
              <a:rPr b="0" lang="en-US" sz="2000" spc="-1" strike="noStrike">
                <a:latin typeface="Arial"/>
              </a:rPr>
              <a:t>accepts an answer if at least 4 of the 5 samples agree; otherwise it escalates to an </a:t>
            </a:r>
            <a:r>
              <a:rPr b="0" lang="en-US" sz="2000" spc="-1" strike="noStrike">
                <a:latin typeface="Arial"/>
              </a:rPr>
              <a:t>expensive check. The curve shows error rate against coverage — if we answer only </a:t>
            </a:r>
            <a:r>
              <a:rPr b="0" lang="en-US" sz="2000" spc="-1" strike="noStrike">
                <a:latin typeface="Arial"/>
              </a:rPr>
              <a:t>the most confident questions, how many mistakes remain. A lower curve is better. At </a:t>
            </a:r>
            <a:r>
              <a:rPr b="0" lang="en-US" sz="2000" spc="-1" strike="noStrike">
                <a:latin typeface="Arial"/>
              </a:rPr>
              <a:t>our threshold we would answer 86% of questions directly with 89% accuracy, and </a:t>
            </a:r>
            <a:r>
              <a:rPr b="0" lang="en-US" sz="2000" spc="-1" strike="noStrike">
                <a:latin typeface="Arial"/>
              </a:rPr>
              <a:t>escalate only 14%, which contain 50% of all errors. So expensive verification would </a:t>
            </a:r>
            <a:r>
              <a:rPr b="0" lang="en-US" sz="2000" spc="-1" strike="noStrike">
                <a:latin typeface="Arial"/>
              </a:rPr>
              <a:t>only be needed for a minority of queries. Building and costing that Stage-2 check is our </a:t>
            </a:r>
            <a:r>
              <a:rPr b="0" lang="en-US" sz="2000" spc="-1" strike="noStrike">
                <a:latin typeface="Arial"/>
              </a:rPr>
              <a:t>Week 3–4 work.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B8FE3C0-D42B-4D42-8F4C-07A1AD78A9E9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To summarise the findings: The model answered 82% correctly but claimed 96% confidence on average (gap +14 pts). 82% of the WRONG answers were stated with ≥90% confidence (avg. 91% when wrong vs 97% when right). Temperature scaling reduced verbalized ECE from 0.138 to 0.081 (42% lower) — calibration can be repaired cheaply. Best at telling right from wrong answers: Self-consistency (k=5) (AUROC 0.80). Temperature scaling barely moves AUROC — it rescales scores, it does not re-rank answers. Lessons learned: automatic grading of free-text answers is the biggest source of measurement error, so we spot-check it manually; and temperature scaling fixes the scale of confidence but not which answers get high confidence — that is why we need a stronger signal such as self-consistency plus verification, which is exactly our triage design.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A4C5B59-8A4C-4FF3-BE86-5F7A1FE8266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We are on schedule. Weeks 1 and 2 are done. In Weeks 3 and 4 we build Stage 2 of the pipeline: for low-agreement questions we will try a retrieval-based fact check or a multi-agent / stronger-model re-check, and we will log tokens and latency so we can compare cost against always running the expensive check. We also plan to add a harder dataset and a second model to see whether the findings generalise. Week 5 is the full evaluation against the baselines, and Week 6 is the write-up.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3886116-5D66-4DBF-A333-651B48C79E2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Thank you — happy to take questions.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4C41D25-AD16-4CA2-9CCB-BFB2E7DC2119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9EC103-FE71-4905-B451-4FDF97ED1C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C8BB6C-E383-45AF-9F61-0079FDB216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F89EED-133B-4FAF-B191-316AE5E944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BCE50A-92BA-43D3-959E-F52B17EA84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AFEA5D-6EFE-472D-9C08-B6B62EB102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CE3BCF-F3AA-4A62-A288-E0F5B5D9FF9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A3764B-9F77-4D78-9CCD-DFA325DA62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9A2285-5FCD-490D-8A2D-1BDB359F61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6796E6-4DC0-4378-9513-03EFD71A55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24BE7E-C4BE-40D7-93FA-F6DB9B4AC7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88256E-D073-45B9-A30E-C0B1BBCEA04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1DF81D-00CD-4F15-AA02-E0FA792B491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917F1CA-7D64-4F39-A7D5-71F49B19BCC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548640" y="6428160"/>
            <a:ext cx="73148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Overconfidence in GenAI Answers  •  Seminar on AI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8" name="TextBox 2"/>
          <p:cNvSpPr/>
          <p:nvPr/>
        </p:nvSpPr>
        <p:spPr>
          <a:xfrm>
            <a:off x="8869680" y="6428160"/>
            <a:ext cx="27885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16 Oct 2026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9" name="TextBox 3"/>
          <p:cNvSpPr/>
          <p:nvPr/>
        </p:nvSpPr>
        <p:spPr>
          <a:xfrm>
            <a:off x="685800" y="777240"/>
            <a:ext cx="91436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dc4d3"/>
                </a:solidFill>
                <a:latin typeface="Aptos"/>
              </a:rPr>
              <a:t>WEEKLY PROGRESS REPORT  •  WEEK 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0" name="TextBox 4"/>
          <p:cNvSpPr/>
          <p:nvPr/>
        </p:nvSpPr>
        <p:spPr>
          <a:xfrm>
            <a:off x="685800" y="1234440"/>
            <a:ext cx="105152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5f8fc"/>
                </a:solidFill>
                <a:latin typeface="Aptos"/>
              </a:rPr>
              <a:t>Overconfidence in GenAI Answers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51" name="TextBox 5"/>
          <p:cNvSpPr/>
          <p:nvPr/>
        </p:nvSpPr>
        <p:spPr>
          <a:xfrm>
            <a:off x="704160" y="2103120"/>
            <a:ext cx="105152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b0bed2"/>
                </a:solidFill>
                <a:latin typeface="Aptos"/>
              </a:rPr>
              <a:t>First experiments: how often is an LLM confidently wrong?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Rounded Rectangle 6"/>
          <p:cNvSpPr/>
          <p:nvPr/>
        </p:nvSpPr>
        <p:spPr>
          <a:xfrm>
            <a:off x="685800" y="3017520"/>
            <a:ext cx="3456000" cy="1142640"/>
          </a:xfrm>
          <a:prstGeom prst="roundRect">
            <a:avLst>
              <a:gd name="adj" fmla="val 9600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TextBox 7"/>
          <p:cNvSpPr/>
          <p:nvPr/>
        </p:nvSpPr>
        <p:spPr>
          <a:xfrm>
            <a:off x="941760" y="3218760"/>
            <a:ext cx="29988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2dc4d3"/>
                </a:solidFill>
                <a:latin typeface="Aptos"/>
              </a:rPr>
              <a:t>PRESENTER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4" name="TextBox 8"/>
          <p:cNvSpPr/>
          <p:nvPr/>
        </p:nvSpPr>
        <p:spPr>
          <a:xfrm>
            <a:off x="941760" y="3584520"/>
            <a:ext cx="29988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5f8fc"/>
                </a:solidFill>
                <a:latin typeface="Aptos"/>
              </a:rPr>
              <a:t>Saman Rai  •  ID 2317130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5" name="Rounded Rectangle 9"/>
          <p:cNvSpPr/>
          <p:nvPr/>
        </p:nvSpPr>
        <p:spPr>
          <a:xfrm>
            <a:off x="4325040" y="3017520"/>
            <a:ext cx="3456000" cy="1142640"/>
          </a:xfrm>
          <a:prstGeom prst="roundRect">
            <a:avLst>
              <a:gd name="adj" fmla="val 9600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TextBox 10"/>
          <p:cNvSpPr/>
          <p:nvPr/>
        </p:nvSpPr>
        <p:spPr>
          <a:xfrm>
            <a:off x="4581000" y="3218760"/>
            <a:ext cx="29988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2dc4d3"/>
                </a:solidFill>
                <a:latin typeface="Aptos"/>
              </a:rPr>
              <a:t>GROUP &amp; SUPERVISOR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7" name="TextBox 11"/>
          <p:cNvSpPr/>
          <p:nvPr/>
        </p:nvSpPr>
        <p:spPr>
          <a:xfrm>
            <a:off x="4581000" y="3584520"/>
            <a:ext cx="29988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5f8fc"/>
                </a:solidFill>
                <a:latin typeface="Aptos"/>
              </a:rPr>
              <a:t>Group 7  •  Prof. Simeon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8" name="Rounded Rectangle 12"/>
          <p:cNvSpPr/>
          <p:nvPr/>
        </p:nvSpPr>
        <p:spPr>
          <a:xfrm>
            <a:off x="7964280" y="3017520"/>
            <a:ext cx="3456000" cy="1142640"/>
          </a:xfrm>
          <a:prstGeom prst="roundRect">
            <a:avLst>
              <a:gd name="adj" fmla="val 9600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TextBox 13"/>
          <p:cNvSpPr/>
          <p:nvPr/>
        </p:nvSpPr>
        <p:spPr>
          <a:xfrm>
            <a:off x="8220600" y="3218760"/>
            <a:ext cx="29988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cc98b"/>
                </a:solidFill>
                <a:latin typeface="Aptos"/>
              </a:rPr>
              <a:t>CURRENT MILESTONE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4"/>
          <p:cNvSpPr/>
          <p:nvPr/>
        </p:nvSpPr>
        <p:spPr>
          <a:xfrm>
            <a:off x="8220600" y="3584520"/>
            <a:ext cx="29988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5f8fc"/>
                </a:solidFill>
                <a:latin typeface="Aptos"/>
              </a:rPr>
              <a:t>Week 2 • Baselines + first results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1" name="TextBox 15"/>
          <p:cNvSpPr/>
          <p:nvPr/>
        </p:nvSpPr>
        <p:spPr>
          <a:xfrm>
            <a:off x="685800" y="4480560"/>
            <a:ext cx="1078956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b0bed2"/>
                </a:solidFill>
                <a:latin typeface="Aptos"/>
              </a:rPr>
              <a:t>Team: Ramauli Madan Bahadur • Tamang Sajan • Jaiswal Anand Bihari • Sunar Binod • Kaliraj Bikram • Rai Saman • Dahal Sushil • Subedi Chetana • Saad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TextBox 16"/>
          <p:cNvSpPr/>
          <p:nvPr/>
        </p:nvSpPr>
        <p:spPr>
          <a:xfrm>
            <a:off x="685800" y="5257800"/>
            <a:ext cx="54860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5f8fc"/>
                </a:solidFill>
                <a:latin typeface="Aptos"/>
              </a:rPr>
              <a:t>16 October 2026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548640" y="347400"/>
            <a:ext cx="1024092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5f8fc"/>
                </a:solidFill>
                <a:latin typeface="Aptos"/>
              </a:rPr>
              <a:t>1. Where We Left Off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567000" y="896040"/>
            <a:ext cx="102409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b0bed2"/>
                </a:solidFill>
                <a:latin typeface="Aptos"/>
              </a:rPr>
              <a:t>Week-1 commitment → what we delivered in Week 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11155680" y="384120"/>
            <a:ext cx="5025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b0bed2"/>
                </a:solidFill>
                <a:latin typeface="Apto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548640" y="6428160"/>
            <a:ext cx="73148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Overconfidence in GenAI Answers  •  Seminar on AI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7" name="TextBox 5"/>
          <p:cNvSpPr/>
          <p:nvPr/>
        </p:nvSpPr>
        <p:spPr>
          <a:xfrm>
            <a:off x="8869680" y="6428160"/>
            <a:ext cx="27885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16 Oct 2026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8" name="Rounded Rectangle 6"/>
          <p:cNvSpPr/>
          <p:nvPr/>
        </p:nvSpPr>
        <p:spPr>
          <a:xfrm>
            <a:off x="548640" y="1417320"/>
            <a:ext cx="5120280" cy="4708800"/>
          </a:xfrm>
          <a:prstGeom prst="roundRect">
            <a:avLst>
              <a:gd name="adj" fmla="val 2330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TextBox 7"/>
          <p:cNvSpPr/>
          <p:nvPr/>
        </p:nvSpPr>
        <p:spPr>
          <a:xfrm>
            <a:off x="822960" y="1645920"/>
            <a:ext cx="45716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2dc4d3"/>
                </a:solidFill>
                <a:latin typeface="Aptos"/>
              </a:rPr>
              <a:t>LAST WEEK WE COMMITTED TO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0" name="TextBox 8"/>
          <p:cNvSpPr/>
          <p:nvPr/>
        </p:nvSpPr>
        <p:spPr>
          <a:xfrm>
            <a:off x="822960" y="2011680"/>
            <a:ext cx="457164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700" spc="-1" strike="noStrike">
                <a:solidFill>
                  <a:srgbClr val="f5f8fc"/>
                </a:solidFill>
                <a:latin typeface="Aptos"/>
              </a:rPr>
              <a:t>“</a:t>
            </a:r>
            <a:r>
              <a:rPr b="0" i="1" lang="en-US" sz="1700" spc="-1" strike="noStrike">
                <a:solidFill>
                  <a:srgbClr val="f5f8fc"/>
                </a:solidFill>
                <a:latin typeface="Aptos"/>
              </a:rPr>
              <a:t>Implement the baseline calibration methods — temperature scaling and verbalized confidence — and establish the first evaluation results.”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822960" y="3703320"/>
            <a:ext cx="45716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2c248"/>
                </a:solidFill>
                <a:latin typeface="Aptos"/>
              </a:rPr>
              <a:t>RESEARCH QUESTION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2" name="TextBox 10"/>
          <p:cNvSpPr/>
          <p:nvPr/>
        </p:nvSpPr>
        <p:spPr>
          <a:xfrm>
            <a:off x="822960" y="4069080"/>
            <a:ext cx="45716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b0bed2"/>
                </a:solidFill>
                <a:latin typeface="Aptos"/>
              </a:rPr>
              <a:t>Can a tiered confidence-triage pipeline reduce overconfident wrong answers while keeping computation practical?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3" name="Rounded Rectangle 11"/>
          <p:cNvSpPr/>
          <p:nvPr/>
        </p:nvSpPr>
        <p:spPr>
          <a:xfrm>
            <a:off x="5897880" y="1417320"/>
            <a:ext cx="3977280" cy="639720"/>
          </a:xfrm>
          <a:prstGeom prst="roundRect">
            <a:avLst>
              <a:gd name="adj" fmla="val 17142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TextBox 12"/>
          <p:cNvSpPr/>
          <p:nvPr/>
        </p:nvSpPr>
        <p:spPr>
          <a:xfrm>
            <a:off x="6126480" y="1630080"/>
            <a:ext cx="36572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5f8fc"/>
                </a:solidFill>
                <a:latin typeface="Aptos"/>
              </a:rPr>
              <a:t>Dataset selected &amp; sampled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5" name="Rounded Rectangle 13"/>
          <p:cNvSpPr/>
          <p:nvPr/>
        </p:nvSpPr>
        <p:spPr>
          <a:xfrm>
            <a:off x="10012680" y="1417320"/>
            <a:ext cx="1645560" cy="639720"/>
          </a:xfrm>
          <a:prstGeom prst="roundRect">
            <a:avLst>
              <a:gd name="adj" fmla="val 17142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TextBox 14"/>
          <p:cNvSpPr/>
          <p:nvPr/>
        </p:nvSpPr>
        <p:spPr>
          <a:xfrm>
            <a:off x="10012680" y="1645560"/>
            <a:ext cx="16455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5cc98b"/>
                </a:solidFill>
                <a:latin typeface="Aptos"/>
              </a:rPr>
              <a:t>DONE • 400 Qs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7" name="Rounded Rectangle 15"/>
          <p:cNvSpPr/>
          <p:nvPr/>
        </p:nvSpPr>
        <p:spPr>
          <a:xfrm>
            <a:off x="5897880" y="2212920"/>
            <a:ext cx="3977280" cy="639720"/>
          </a:xfrm>
          <a:prstGeom prst="roundRect">
            <a:avLst>
              <a:gd name="adj" fmla="val 17142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TextBox 16"/>
          <p:cNvSpPr/>
          <p:nvPr/>
        </p:nvSpPr>
        <p:spPr>
          <a:xfrm>
            <a:off x="6126480" y="2319120"/>
            <a:ext cx="3657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5f8fc"/>
                </a:solidFill>
                <a:latin typeface="Aptos"/>
              </a:rPr>
              <a:t>Evaluation harness (grading + metrics)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9" name="Rounded Rectangle 17"/>
          <p:cNvSpPr/>
          <p:nvPr/>
        </p:nvSpPr>
        <p:spPr>
          <a:xfrm>
            <a:off x="10012680" y="2212920"/>
            <a:ext cx="1645560" cy="639720"/>
          </a:xfrm>
          <a:prstGeom prst="roundRect">
            <a:avLst>
              <a:gd name="adj" fmla="val 17142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0" name="TextBox 18"/>
          <p:cNvSpPr/>
          <p:nvPr/>
        </p:nvSpPr>
        <p:spPr>
          <a:xfrm>
            <a:off x="10012680" y="2441160"/>
            <a:ext cx="16455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5cc98b"/>
                </a:solidFill>
                <a:latin typeface="Aptos"/>
              </a:rPr>
              <a:t>DONE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1" name="Rounded Rectangle 19"/>
          <p:cNvSpPr/>
          <p:nvPr/>
        </p:nvSpPr>
        <p:spPr>
          <a:xfrm>
            <a:off x="5897880" y="3008520"/>
            <a:ext cx="3977280" cy="639720"/>
          </a:xfrm>
          <a:prstGeom prst="roundRect">
            <a:avLst>
              <a:gd name="adj" fmla="val 17142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TextBox 20"/>
          <p:cNvSpPr/>
          <p:nvPr/>
        </p:nvSpPr>
        <p:spPr>
          <a:xfrm>
            <a:off x="6126480" y="3221280"/>
            <a:ext cx="36572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5f8fc"/>
                </a:solidFill>
                <a:latin typeface="Aptos"/>
              </a:rPr>
              <a:t>Verbalized confidence baseline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3" name="Rounded Rectangle 21"/>
          <p:cNvSpPr/>
          <p:nvPr/>
        </p:nvSpPr>
        <p:spPr>
          <a:xfrm>
            <a:off x="10012680" y="3008520"/>
            <a:ext cx="1645560" cy="639720"/>
          </a:xfrm>
          <a:prstGeom prst="roundRect">
            <a:avLst>
              <a:gd name="adj" fmla="val 17142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TextBox 22"/>
          <p:cNvSpPr/>
          <p:nvPr/>
        </p:nvSpPr>
        <p:spPr>
          <a:xfrm>
            <a:off x="10012680" y="3236760"/>
            <a:ext cx="16455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5cc98b"/>
                </a:solidFill>
                <a:latin typeface="Aptos"/>
              </a:rPr>
              <a:t>DONE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5" name="Rounded Rectangle 23"/>
          <p:cNvSpPr/>
          <p:nvPr/>
        </p:nvSpPr>
        <p:spPr>
          <a:xfrm>
            <a:off x="5897880" y="3803760"/>
            <a:ext cx="3977280" cy="639720"/>
          </a:xfrm>
          <a:prstGeom prst="roundRect">
            <a:avLst>
              <a:gd name="adj" fmla="val 17142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TextBox 24"/>
          <p:cNvSpPr/>
          <p:nvPr/>
        </p:nvSpPr>
        <p:spPr>
          <a:xfrm>
            <a:off x="6126480" y="4016520"/>
            <a:ext cx="36572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5f8fc"/>
                </a:solidFill>
                <a:latin typeface="Aptos"/>
              </a:rPr>
              <a:t>Temperature scaling baseline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7" name="Rounded Rectangle 25"/>
          <p:cNvSpPr/>
          <p:nvPr/>
        </p:nvSpPr>
        <p:spPr>
          <a:xfrm>
            <a:off x="10012680" y="3803760"/>
            <a:ext cx="1645560" cy="639720"/>
          </a:xfrm>
          <a:prstGeom prst="roundRect">
            <a:avLst>
              <a:gd name="adj" fmla="val 17142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8" name="TextBox 26"/>
          <p:cNvSpPr/>
          <p:nvPr/>
        </p:nvSpPr>
        <p:spPr>
          <a:xfrm>
            <a:off x="10012680" y="4032000"/>
            <a:ext cx="16455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5cc98b"/>
                </a:solidFill>
                <a:latin typeface="Aptos"/>
              </a:rPr>
              <a:t>DONE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9" name="Rounded Rectangle 27"/>
          <p:cNvSpPr/>
          <p:nvPr/>
        </p:nvSpPr>
        <p:spPr>
          <a:xfrm>
            <a:off x="5897880" y="4599360"/>
            <a:ext cx="3977280" cy="639720"/>
          </a:xfrm>
          <a:prstGeom prst="roundRect">
            <a:avLst>
              <a:gd name="adj" fmla="val 17142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0" name="TextBox 28"/>
          <p:cNvSpPr/>
          <p:nvPr/>
        </p:nvSpPr>
        <p:spPr>
          <a:xfrm>
            <a:off x="6126480" y="4812120"/>
            <a:ext cx="36572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5f8fc"/>
                </a:solidFill>
                <a:latin typeface="Aptos"/>
              </a:rPr>
              <a:t>Self-consistency (Stage 1 of triage)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1" name="Rounded Rectangle 29"/>
          <p:cNvSpPr/>
          <p:nvPr/>
        </p:nvSpPr>
        <p:spPr>
          <a:xfrm>
            <a:off x="10012680" y="4599360"/>
            <a:ext cx="1645560" cy="639720"/>
          </a:xfrm>
          <a:prstGeom prst="roundRect">
            <a:avLst>
              <a:gd name="adj" fmla="val 17142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TextBox 30"/>
          <p:cNvSpPr/>
          <p:nvPr/>
        </p:nvSpPr>
        <p:spPr>
          <a:xfrm>
            <a:off x="10012680" y="4827600"/>
            <a:ext cx="16455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5cc98b"/>
                </a:solidFill>
                <a:latin typeface="Aptos"/>
              </a:rPr>
              <a:t>DONE • bonus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3" name="Rounded Rectangle 31"/>
          <p:cNvSpPr/>
          <p:nvPr/>
        </p:nvSpPr>
        <p:spPr>
          <a:xfrm>
            <a:off x="5897880" y="5394960"/>
            <a:ext cx="3977280" cy="639720"/>
          </a:xfrm>
          <a:prstGeom prst="roundRect">
            <a:avLst>
              <a:gd name="adj" fmla="val 17142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TextBox 32"/>
          <p:cNvSpPr/>
          <p:nvPr/>
        </p:nvSpPr>
        <p:spPr>
          <a:xfrm>
            <a:off x="6126480" y="5607720"/>
            <a:ext cx="36572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5f8fc"/>
                </a:solidFill>
                <a:latin typeface="Aptos"/>
              </a:rPr>
              <a:t>First evaluation results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Rounded Rectangle 33"/>
          <p:cNvSpPr/>
          <p:nvPr/>
        </p:nvSpPr>
        <p:spPr>
          <a:xfrm>
            <a:off x="10012680" y="5394960"/>
            <a:ext cx="1645560" cy="639720"/>
          </a:xfrm>
          <a:prstGeom prst="roundRect">
            <a:avLst>
              <a:gd name="adj" fmla="val 17142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TextBox 34"/>
          <p:cNvSpPr/>
          <p:nvPr/>
        </p:nvSpPr>
        <p:spPr>
          <a:xfrm>
            <a:off x="10012680" y="5623200"/>
            <a:ext cx="16455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5cc98b"/>
                </a:solidFill>
                <a:latin typeface="Aptos"/>
              </a:rPr>
              <a:t>DONE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548640" y="347400"/>
            <a:ext cx="1024092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5f8fc"/>
                </a:solidFill>
                <a:latin typeface="Aptos"/>
              </a:rPr>
              <a:t>2. What We Built This Week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567000" y="896040"/>
            <a:ext cx="102409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b0bed2"/>
                </a:solidFill>
                <a:latin typeface="Aptos"/>
              </a:rPr>
              <a:t>An end-to-end, reproducible evaluation harness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11155680" y="384120"/>
            <a:ext cx="5025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b0bed2"/>
                </a:solidFill>
                <a:latin typeface="Apto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548640" y="6428160"/>
            <a:ext cx="73148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Overconfidence in GenAI Answers  •  Seminar on AI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8869680" y="6428160"/>
            <a:ext cx="27885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16 Oct 2026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2" name="Rounded Rectangle 6"/>
          <p:cNvSpPr/>
          <p:nvPr/>
        </p:nvSpPr>
        <p:spPr>
          <a:xfrm>
            <a:off x="548640" y="1508760"/>
            <a:ext cx="1965600" cy="2331360"/>
          </a:xfrm>
          <a:prstGeom prst="roundRect">
            <a:avLst>
              <a:gd name="adj" fmla="val 5581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Rounded Rectangle 7"/>
          <p:cNvSpPr/>
          <p:nvPr/>
        </p:nvSpPr>
        <p:spPr>
          <a:xfrm>
            <a:off x="777240" y="17373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0e1828"/>
          </a:solidFill>
          <a:ln>
            <a:solidFill>
              <a:srgbClr val="2dc4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4" name="TextBox 8"/>
          <p:cNvSpPr/>
          <p:nvPr/>
        </p:nvSpPr>
        <p:spPr>
          <a:xfrm>
            <a:off x="777240" y="185112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2dc4d3"/>
                </a:solidFill>
                <a:latin typeface="Aptos"/>
              </a:rPr>
              <a:t>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5" name="TextBox 9"/>
          <p:cNvSpPr/>
          <p:nvPr/>
        </p:nvSpPr>
        <p:spPr>
          <a:xfrm>
            <a:off x="777240" y="2377440"/>
            <a:ext cx="15541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f5f8fc"/>
                </a:solidFill>
                <a:latin typeface="Aptos"/>
              </a:rPr>
              <a:t>Sample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777240" y="2816280"/>
            <a:ext cx="159984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400 questions, fixed random seed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07" name="Right Arrow 11"/>
          <p:cNvSpPr/>
          <p:nvPr/>
        </p:nvSpPr>
        <p:spPr>
          <a:xfrm>
            <a:off x="2569320" y="2560320"/>
            <a:ext cx="219240" cy="237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dc4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Rounded Rectangle 12"/>
          <p:cNvSpPr/>
          <p:nvPr/>
        </p:nvSpPr>
        <p:spPr>
          <a:xfrm>
            <a:off x="2843640" y="1508760"/>
            <a:ext cx="1965600" cy="2331360"/>
          </a:xfrm>
          <a:prstGeom prst="roundRect">
            <a:avLst>
              <a:gd name="adj" fmla="val 5581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Rounded Rectangle 13"/>
          <p:cNvSpPr/>
          <p:nvPr/>
        </p:nvSpPr>
        <p:spPr>
          <a:xfrm>
            <a:off x="3072240" y="17373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0e1828"/>
          </a:solidFill>
          <a:ln>
            <a:solidFill>
              <a:srgbClr val="2dc4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0" name="TextBox 14"/>
          <p:cNvSpPr/>
          <p:nvPr/>
        </p:nvSpPr>
        <p:spPr>
          <a:xfrm>
            <a:off x="3072240" y="185112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2dc4d3"/>
                </a:solidFill>
                <a:latin typeface="Aptos"/>
              </a:rPr>
              <a:t>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1" name="TextBox 15"/>
          <p:cNvSpPr/>
          <p:nvPr/>
        </p:nvSpPr>
        <p:spPr>
          <a:xfrm>
            <a:off x="3072240" y="2377440"/>
            <a:ext cx="15541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f5f8fc"/>
                </a:solidFill>
                <a:latin typeface="Aptos"/>
              </a:rPr>
              <a:t>Query LLM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12" name="TextBox 16"/>
          <p:cNvSpPr/>
          <p:nvPr/>
        </p:nvSpPr>
        <p:spPr>
          <a:xfrm>
            <a:off x="3072240" y="2816280"/>
            <a:ext cx="159984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Greedy answer,</a:t>
            </a:r>
            <a:endParaRPr b="0" lang="en-US" sz="1250" spc="-1" strike="noStrike">
              <a:latin typeface="Arial"/>
            </a:endParaRPr>
          </a:p>
          <a:p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5 samples,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verbalized conf.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13" name="Right Arrow 17"/>
          <p:cNvSpPr/>
          <p:nvPr/>
        </p:nvSpPr>
        <p:spPr>
          <a:xfrm>
            <a:off x="4864680" y="2560320"/>
            <a:ext cx="219240" cy="237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dc4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4" name="Rounded Rectangle 18"/>
          <p:cNvSpPr/>
          <p:nvPr/>
        </p:nvSpPr>
        <p:spPr>
          <a:xfrm>
            <a:off x="5139000" y="1508760"/>
            <a:ext cx="1965600" cy="2331360"/>
          </a:xfrm>
          <a:prstGeom prst="roundRect">
            <a:avLst>
              <a:gd name="adj" fmla="val 5581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Rounded Rectangle 19"/>
          <p:cNvSpPr/>
          <p:nvPr/>
        </p:nvSpPr>
        <p:spPr>
          <a:xfrm>
            <a:off x="5367600" y="17373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0e1828"/>
          </a:solidFill>
          <a:ln>
            <a:solidFill>
              <a:srgbClr val="2dc4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6" name="TextBox 20"/>
          <p:cNvSpPr/>
          <p:nvPr/>
        </p:nvSpPr>
        <p:spPr>
          <a:xfrm>
            <a:off x="5367600" y="185112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2dc4d3"/>
                </a:solidFill>
                <a:latin typeface="Aptos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7" name="TextBox 21"/>
          <p:cNvSpPr/>
          <p:nvPr/>
        </p:nvSpPr>
        <p:spPr>
          <a:xfrm>
            <a:off x="5367600" y="2377440"/>
            <a:ext cx="15541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f5f8fc"/>
                </a:solidFill>
                <a:latin typeface="Aptos"/>
              </a:rPr>
              <a:t>Auto-grade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18" name="TextBox 22"/>
          <p:cNvSpPr/>
          <p:nvPr/>
        </p:nvSpPr>
        <p:spPr>
          <a:xfrm>
            <a:off x="5367600" y="2816280"/>
            <a:ext cx="159984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Normalized match against all gold answer aliases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19" name="Right Arrow 23"/>
          <p:cNvSpPr/>
          <p:nvPr/>
        </p:nvSpPr>
        <p:spPr>
          <a:xfrm>
            <a:off x="7159680" y="2560320"/>
            <a:ext cx="219240" cy="237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dc4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" name="Rounded Rectangle 24"/>
          <p:cNvSpPr/>
          <p:nvPr/>
        </p:nvSpPr>
        <p:spPr>
          <a:xfrm>
            <a:off x="7434000" y="1508760"/>
            <a:ext cx="1965600" cy="2331360"/>
          </a:xfrm>
          <a:prstGeom prst="roundRect">
            <a:avLst>
              <a:gd name="adj" fmla="val 5581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Rounded Rectangle 25"/>
          <p:cNvSpPr/>
          <p:nvPr/>
        </p:nvSpPr>
        <p:spPr>
          <a:xfrm>
            <a:off x="7662600" y="17373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0e1828"/>
          </a:solidFill>
          <a:ln>
            <a:solidFill>
              <a:srgbClr val="2dc4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TextBox 26"/>
          <p:cNvSpPr/>
          <p:nvPr/>
        </p:nvSpPr>
        <p:spPr>
          <a:xfrm>
            <a:off x="7662600" y="185112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2dc4d3"/>
                </a:solidFill>
                <a:latin typeface="Aptos"/>
              </a:rPr>
              <a:t>4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23" name="TextBox 27"/>
          <p:cNvSpPr/>
          <p:nvPr/>
        </p:nvSpPr>
        <p:spPr>
          <a:xfrm>
            <a:off x="7662600" y="2377440"/>
            <a:ext cx="15541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f5f8fc"/>
                </a:solidFill>
                <a:latin typeface="Aptos"/>
              </a:rPr>
              <a:t>Calibrate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24" name="TextBox 28"/>
          <p:cNvSpPr/>
          <p:nvPr/>
        </p:nvSpPr>
        <p:spPr>
          <a:xfrm>
            <a:off x="7662600" y="2816280"/>
            <a:ext cx="159984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Temperature scaling,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5-fold cross-fitted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25" name="Right Arrow 29"/>
          <p:cNvSpPr/>
          <p:nvPr/>
        </p:nvSpPr>
        <p:spPr>
          <a:xfrm>
            <a:off x="9455040" y="2560320"/>
            <a:ext cx="219240" cy="237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dc4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6" name="Rounded Rectangle 30"/>
          <p:cNvSpPr/>
          <p:nvPr/>
        </p:nvSpPr>
        <p:spPr>
          <a:xfrm>
            <a:off x="9729360" y="1508760"/>
            <a:ext cx="1965600" cy="2331360"/>
          </a:xfrm>
          <a:prstGeom prst="roundRect">
            <a:avLst>
              <a:gd name="adj" fmla="val 5581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7" name="Rounded Rectangle 31"/>
          <p:cNvSpPr/>
          <p:nvPr/>
        </p:nvSpPr>
        <p:spPr>
          <a:xfrm>
            <a:off x="9957960" y="17373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0e1828"/>
          </a:solidFill>
          <a:ln>
            <a:solidFill>
              <a:srgbClr val="2dc4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TextBox 32"/>
          <p:cNvSpPr/>
          <p:nvPr/>
        </p:nvSpPr>
        <p:spPr>
          <a:xfrm>
            <a:off x="9957960" y="185112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2dc4d3"/>
                </a:solidFill>
                <a:latin typeface="Aptos"/>
              </a:rPr>
              <a:t>5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29" name="TextBox 33"/>
          <p:cNvSpPr/>
          <p:nvPr/>
        </p:nvSpPr>
        <p:spPr>
          <a:xfrm>
            <a:off x="9957960" y="2377440"/>
            <a:ext cx="15541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f5f8fc"/>
                </a:solidFill>
                <a:latin typeface="Aptos"/>
              </a:rPr>
              <a:t>Measure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30" name="TextBox 34"/>
          <p:cNvSpPr/>
          <p:nvPr/>
        </p:nvSpPr>
        <p:spPr>
          <a:xfrm>
            <a:off x="9957960" y="2816280"/>
            <a:ext cx="159984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Accuracy, ECE, Brier, AUROC, risk–coverage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31" name="Rounded Rectangle 35"/>
          <p:cNvSpPr/>
          <p:nvPr/>
        </p:nvSpPr>
        <p:spPr>
          <a:xfrm>
            <a:off x="548640" y="4160520"/>
            <a:ext cx="5440320" cy="1965600"/>
          </a:xfrm>
          <a:prstGeom prst="roundRect">
            <a:avLst>
              <a:gd name="adj" fmla="val 5581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2" name="TextBox 36"/>
          <p:cNvSpPr/>
          <p:nvPr/>
        </p:nvSpPr>
        <p:spPr>
          <a:xfrm>
            <a:off x="822960" y="4370760"/>
            <a:ext cx="4937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cc98b"/>
                </a:solidFill>
                <a:latin typeface="Aptos"/>
              </a:rPr>
              <a:t>WHY THIS MATTERS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3" name="TextBox 37"/>
          <p:cNvSpPr/>
          <p:nvPr/>
        </p:nvSpPr>
        <p:spPr>
          <a:xfrm>
            <a:off x="822960" y="4736520"/>
            <a:ext cx="493740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50" spc="-1" strike="noStrike">
                <a:solidFill>
                  <a:srgbClr val="f5f8fc"/>
                </a:solidFill>
                <a:latin typeface="Aptos"/>
              </a:rPr>
              <a:t>Same questions, grader and metrics for every method → fair comparison.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50" spc="-1" strike="noStrike">
                <a:solidFill>
                  <a:srgbClr val="f5f8fc"/>
                </a:solidFill>
                <a:latin typeface="Aptos"/>
              </a:rPr>
              <a:t>Week 3: our triage pipeline plugs in as just one more method.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34" name="Rounded Rectangle 38"/>
          <p:cNvSpPr/>
          <p:nvPr/>
        </p:nvSpPr>
        <p:spPr>
          <a:xfrm>
            <a:off x="6217920" y="4160520"/>
            <a:ext cx="5440320" cy="1965600"/>
          </a:xfrm>
          <a:prstGeom prst="roundRect">
            <a:avLst>
              <a:gd name="adj" fmla="val 5581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TextBox 39"/>
          <p:cNvSpPr/>
          <p:nvPr/>
        </p:nvSpPr>
        <p:spPr>
          <a:xfrm>
            <a:off x="6492240" y="4370760"/>
            <a:ext cx="4937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2c248"/>
                </a:solidFill>
                <a:latin typeface="Aptos"/>
              </a:rPr>
              <a:t>REPRODUCIBILITY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6" name="TextBox 40"/>
          <p:cNvSpPr/>
          <p:nvPr/>
        </p:nvSpPr>
        <p:spPr>
          <a:xfrm>
            <a:off x="6492240" y="4736520"/>
            <a:ext cx="493740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50" spc="-1" strike="noStrike">
                <a:solidFill>
                  <a:srgbClr val="f5f8fc"/>
                </a:solidFill>
                <a:latin typeface="Aptos"/>
              </a:rPr>
              <a:t>Every raw model output is logged (one JSON line per question).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50" spc="-1" strike="noStrike">
                <a:solidFill>
                  <a:srgbClr val="f5f8fc"/>
                </a:solidFill>
                <a:latin typeface="Aptos"/>
              </a:rPr>
              <a:t>Runs are resumable and rate-limit safe; one command re-creates every number and chart.</a:t>
            </a:r>
            <a:endParaRPr b="0" lang="en-US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"/>
          <p:cNvSpPr/>
          <p:nvPr/>
        </p:nvSpPr>
        <p:spPr>
          <a:xfrm>
            <a:off x="548640" y="347400"/>
            <a:ext cx="1024092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5f8fc"/>
                </a:solidFill>
                <a:latin typeface="Aptos"/>
              </a:rPr>
              <a:t>3. Experimental Setup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567000" y="896040"/>
            <a:ext cx="102409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b0bed2"/>
                </a:solidFill>
                <a:latin typeface="Aptos"/>
              </a:rPr>
              <a:t>What exactly we ran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11155680" y="384120"/>
            <a:ext cx="5025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b0bed2"/>
                </a:solidFill>
                <a:latin typeface="Aptos"/>
              </a:rPr>
              <a:t>4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548640" y="6428160"/>
            <a:ext cx="73148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Overconfidence in GenAI Answers  •  Seminar on AI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1" name="TextBox 5"/>
          <p:cNvSpPr/>
          <p:nvPr/>
        </p:nvSpPr>
        <p:spPr>
          <a:xfrm>
            <a:off x="8869680" y="6428160"/>
            <a:ext cx="27885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16 Oct 2026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2" name="Rounded Rectangle 6"/>
          <p:cNvSpPr/>
          <p:nvPr/>
        </p:nvSpPr>
        <p:spPr>
          <a:xfrm>
            <a:off x="548640" y="1417320"/>
            <a:ext cx="3565800" cy="2239920"/>
          </a:xfrm>
          <a:prstGeom prst="roundRect">
            <a:avLst>
              <a:gd name="adj" fmla="val 4897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TextBox 7"/>
          <p:cNvSpPr/>
          <p:nvPr/>
        </p:nvSpPr>
        <p:spPr>
          <a:xfrm>
            <a:off x="822960" y="1673280"/>
            <a:ext cx="30628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2dc4d3"/>
                </a:solidFill>
                <a:latin typeface="Aptos"/>
              </a:rPr>
              <a:t>DATASET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4" name="TextBox 8"/>
          <p:cNvSpPr/>
          <p:nvPr/>
        </p:nvSpPr>
        <p:spPr>
          <a:xfrm>
            <a:off x="822960" y="2057400"/>
            <a:ext cx="3062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900" spc="-1" strike="noStrike">
                <a:solidFill>
                  <a:srgbClr val="f5f8fc"/>
                </a:solidFill>
                <a:latin typeface="Aptos"/>
              </a:rPr>
              <a:t>TriviaQA (rc.nocontext, validation)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45" name="TextBox 9"/>
          <p:cNvSpPr/>
          <p:nvPr/>
        </p:nvSpPr>
        <p:spPr>
          <a:xfrm>
            <a:off x="822960" y="2788920"/>
            <a:ext cx="306288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b0bed2"/>
                </a:solidFill>
                <a:latin typeface="Aptos"/>
              </a:rPr>
              <a:t>400 questions • random sample (seed 7)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46" name="Rounded Rectangle 10"/>
          <p:cNvSpPr/>
          <p:nvPr/>
        </p:nvSpPr>
        <p:spPr>
          <a:xfrm>
            <a:off x="4343400" y="1417320"/>
            <a:ext cx="3565800" cy="2239920"/>
          </a:xfrm>
          <a:prstGeom prst="roundRect">
            <a:avLst>
              <a:gd name="adj" fmla="val 4897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TextBox 11"/>
          <p:cNvSpPr/>
          <p:nvPr/>
        </p:nvSpPr>
        <p:spPr>
          <a:xfrm>
            <a:off x="4617720" y="1673280"/>
            <a:ext cx="30628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2dc4d3"/>
                </a:solidFill>
                <a:latin typeface="Aptos"/>
              </a:rPr>
              <a:t>MODEL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8" name="TextBox 12"/>
          <p:cNvSpPr/>
          <p:nvPr/>
        </p:nvSpPr>
        <p:spPr>
          <a:xfrm>
            <a:off x="4617720" y="2057400"/>
            <a:ext cx="306288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900" spc="-1" strike="noStrike">
                <a:solidFill>
                  <a:srgbClr val="f5f8fc"/>
                </a:solidFill>
                <a:latin typeface="Aptos"/>
              </a:rPr>
              <a:t>gpt-4.1-mini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49" name="TextBox 13"/>
          <p:cNvSpPr/>
          <p:nvPr/>
        </p:nvSpPr>
        <p:spPr>
          <a:xfrm>
            <a:off x="4617720" y="2788920"/>
            <a:ext cx="306288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b0bed2"/>
                </a:solidFill>
                <a:latin typeface="Aptos"/>
              </a:rPr>
              <a:t>via OpenAI API • token log-probs: not available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50" name="Rounded Rectangle 14"/>
          <p:cNvSpPr/>
          <p:nvPr/>
        </p:nvSpPr>
        <p:spPr>
          <a:xfrm>
            <a:off x="8138160" y="1417320"/>
            <a:ext cx="3565800" cy="2239920"/>
          </a:xfrm>
          <a:prstGeom prst="roundRect">
            <a:avLst>
              <a:gd name="adj" fmla="val 4897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1" name="TextBox 15"/>
          <p:cNvSpPr/>
          <p:nvPr/>
        </p:nvSpPr>
        <p:spPr>
          <a:xfrm>
            <a:off x="8412480" y="1673280"/>
            <a:ext cx="30628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2c248"/>
                </a:solidFill>
                <a:latin typeface="Aptos"/>
              </a:rPr>
              <a:t>PROBES PER QUESTION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2" name="TextBox 16"/>
          <p:cNvSpPr/>
          <p:nvPr/>
        </p:nvSpPr>
        <p:spPr>
          <a:xfrm>
            <a:off x="8412480" y="2057400"/>
            <a:ext cx="306288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900" spc="-1" strike="noStrike">
                <a:solidFill>
                  <a:srgbClr val="f5f8fc"/>
                </a:solidFill>
                <a:latin typeface="Aptos"/>
              </a:rPr>
              <a:t>1 greedy + 5 samples + 1 verbalized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53" name="TextBox 17"/>
          <p:cNvSpPr/>
          <p:nvPr/>
        </p:nvSpPr>
        <p:spPr>
          <a:xfrm>
            <a:off x="8412480" y="2788920"/>
            <a:ext cx="306288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b0bed2"/>
                </a:solidFill>
                <a:latin typeface="Aptos"/>
              </a:rPr>
              <a:t>Greedy &amp; verbalized at temperature 0; samples at temperature 1.0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54" name="Rounded Rectangle 18"/>
          <p:cNvSpPr/>
          <p:nvPr/>
        </p:nvSpPr>
        <p:spPr>
          <a:xfrm>
            <a:off x="548640" y="3886200"/>
            <a:ext cx="3565800" cy="2239920"/>
          </a:xfrm>
          <a:prstGeom prst="roundRect">
            <a:avLst>
              <a:gd name="adj" fmla="val 4897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5" name="TextBox 19"/>
          <p:cNvSpPr/>
          <p:nvPr/>
        </p:nvSpPr>
        <p:spPr>
          <a:xfrm>
            <a:off x="822960" y="4142160"/>
            <a:ext cx="30628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2c248"/>
                </a:solidFill>
                <a:latin typeface="Aptos"/>
              </a:rPr>
              <a:t>GRADING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6" name="TextBox 20"/>
          <p:cNvSpPr/>
          <p:nvPr/>
        </p:nvSpPr>
        <p:spPr>
          <a:xfrm>
            <a:off x="822960" y="4526280"/>
            <a:ext cx="306288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900" spc="-1" strike="noStrike">
                <a:solidFill>
                  <a:srgbClr val="f5f8fc"/>
                </a:solidFill>
                <a:latin typeface="Aptos"/>
              </a:rPr>
              <a:t>Automatic, lenient alias match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57" name="TextBox 21"/>
          <p:cNvSpPr/>
          <p:nvPr/>
        </p:nvSpPr>
        <p:spPr>
          <a:xfrm>
            <a:off x="822960" y="5257800"/>
            <a:ext cx="306288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b0bed2"/>
                </a:solidFill>
                <a:latin typeface="Aptos"/>
              </a:rPr>
              <a:t>Lower-case, strip punctuation/articles; correct if a gold alias appears in the answer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58" name="Rounded Rectangle 22"/>
          <p:cNvSpPr/>
          <p:nvPr/>
        </p:nvSpPr>
        <p:spPr>
          <a:xfrm>
            <a:off x="4343400" y="3886200"/>
            <a:ext cx="3565800" cy="2239920"/>
          </a:xfrm>
          <a:prstGeom prst="roundRect">
            <a:avLst>
              <a:gd name="adj" fmla="val 4897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9" name="TextBox 23"/>
          <p:cNvSpPr/>
          <p:nvPr/>
        </p:nvSpPr>
        <p:spPr>
          <a:xfrm>
            <a:off x="4617720" y="4142160"/>
            <a:ext cx="30628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cc98b"/>
                </a:solidFill>
                <a:latin typeface="Aptos"/>
              </a:rPr>
              <a:t>CALIBRATION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0" name="TextBox 24"/>
          <p:cNvSpPr/>
          <p:nvPr/>
        </p:nvSpPr>
        <p:spPr>
          <a:xfrm>
            <a:off x="4617720" y="4526280"/>
            <a:ext cx="306288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900" spc="-1" strike="noStrike">
                <a:solidFill>
                  <a:srgbClr val="f5f8fc"/>
                </a:solidFill>
                <a:latin typeface="Aptos"/>
              </a:rPr>
              <a:t>Temperature scaling (1 parameter)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61" name="TextBox 25"/>
          <p:cNvSpPr/>
          <p:nvPr/>
        </p:nvSpPr>
        <p:spPr>
          <a:xfrm>
            <a:off x="4617720" y="5257800"/>
            <a:ext cx="306288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b0bed2"/>
                </a:solidFill>
                <a:latin typeface="Aptos"/>
              </a:rPr>
              <a:t>Fitted on 4/5 of questions, applied to the held-out 1/5 (×5 folds)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62" name="Rounded Rectangle 26"/>
          <p:cNvSpPr/>
          <p:nvPr/>
        </p:nvSpPr>
        <p:spPr>
          <a:xfrm>
            <a:off x="8138160" y="3886200"/>
            <a:ext cx="3565800" cy="2239920"/>
          </a:xfrm>
          <a:prstGeom prst="roundRect">
            <a:avLst>
              <a:gd name="adj" fmla="val 4897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3" name="TextBox 27"/>
          <p:cNvSpPr/>
          <p:nvPr/>
        </p:nvSpPr>
        <p:spPr>
          <a:xfrm>
            <a:off x="8412480" y="4142160"/>
            <a:ext cx="30628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cc98b"/>
                </a:solidFill>
                <a:latin typeface="Aptos"/>
              </a:rPr>
              <a:t>RUN COST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4" name="TextBox 28"/>
          <p:cNvSpPr/>
          <p:nvPr/>
        </p:nvSpPr>
        <p:spPr>
          <a:xfrm>
            <a:off x="8412480" y="4526280"/>
            <a:ext cx="306288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900" spc="-1" strike="noStrike">
                <a:solidFill>
                  <a:srgbClr val="f5f8fc"/>
                </a:solidFill>
                <a:latin typeface="Aptos"/>
              </a:rPr>
              <a:t>987 API calls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65" name="TextBox 29"/>
          <p:cNvSpPr/>
          <p:nvPr/>
        </p:nvSpPr>
        <p:spPr>
          <a:xfrm>
            <a:off x="8412480" y="5257800"/>
            <a:ext cx="30628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b0bed2"/>
                </a:solidFill>
                <a:latin typeface="Aptos"/>
              </a:rPr>
              <a:t>≈ </a:t>
            </a:r>
            <a:r>
              <a:rPr b="0" lang="en-US" sz="1350" spc="-1" strike="noStrike">
                <a:solidFill>
                  <a:srgbClr val="b0bed2"/>
                </a:solidFill>
                <a:latin typeface="Aptos"/>
              </a:rPr>
              <a:t>89,559 tokens • 2 min wall-clock</a:t>
            </a:r>
            <a:endParaRPr b="0" lang="en-US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Box 1"/>
          <p:cNvSpPr/>
          <p:nvPr/>
        </p:nvSpPr>
        <p:spPr>
          <a:xfrm>
            <a:off x="548640" y="347400"/>
            <a:ext cx="1024092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5f8fc"/>
                </a:solidFill>
                <a:latin typeface="Aptos"/>
              </a:rPr>
              <a:t>4. Confidence Signals Compared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7" name="TextBox 2"/>
          <p:cNvSpPr/>
          <p:nvPr/>
        </p:nvSpPr>
        <p:spPr>
          <a:xfrm>
            <a:off x="567000" y="896040"/>
            <a:ext cx="102409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b0bed2"/>
                </a:solidFill>
                <a:latin typeface="Aptos"/>
              </a:rPr>
              <a:t>Every method attaches a confidence score in [0, 1] to an answer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8" name="TextBox 3"/>
          <p:cNvSpPr/>
          <p:nvPr/>
        </p:nvSpPr>
        <p:spPr>
          <a:xfrm>
            <a:off x="11155680" y="384120"/>
            <a:ext cx="5025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b0bed2"/>
                </a:solidFill>
                <a:latin typeface="Aptos"/>
              </a:rPr>
              <a:t>5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548640" y="6428160"/>
            <a:ext cx="73148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Overconfidence in GenAI Answers  •  Seminar on AI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0" name="TextBox 5"/>
          <p:cNvSpPr/>
          <p:nvPr/>
        </p:nvSpPr>
        <p:spPr>
          <a:xfrm>
            <a:off x="8869680" y="6428160"/>
            <a:ext cx="27885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16 Oct 2026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1" name="TextBox 6"/>
          <p:cNvSpPr/>
          <p:nvPr/>
        </p:nvSpPr>
        <p:spPr>
          <a:xfrm>
            <a:off x="731520" y="1463040"/>
            <a:ext cx="30171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b0bed2"/>
                </a:solidFill>
                <a:latin typeface="Aptos"/>
              </a:rPr>
              <a:t>METHOD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72" name="TextBox 7"/>
          <p:cNvSpPr/>
          <p:nvPr/>
        </p:nvSpPr>
        <p:spPr>
          <a:xfrm>
            <a:off x="3840480" y="1463040"/>
            <a:ext cx="6034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b0bed2"/>
                </a:solidFill>
                <a:latin typeface="Aptos"/>
              </a:rPr>
              <a:t>HOW THE CONFIDENCE IS OBTAINED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73" name="TextBox 8"/>
          <p:cNvSpPr/>
          <p:nvPr/>
        </p:nvSpPr>
        <p:spPr>
          <a:xfrm>
            <a:off x="10012680" y="1463040"/>
            <a:ext cx="18284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b0bed2"/>
                </a:solidFill>
                <a:latin typeface="Aptos"/>
              </a:rPr>
              <a:t>GENERATIONS / Q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74" name="Rounded Rectangle 9"/>
          <p:cNvSpPr/>
          <p:nvPr/>
        </p:nvSpPr>
        <p:spPr>
          <a:xfrm>
            <a:off x="548640" y="1828800"/>
            <a:ext cx="11109600" cy="804240"/>
          </a:xfrm>
          <a:prstGeom prst="roundRect">
            <a:avLst>
              <a:gd name="adj" fmla="val 13636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5" name="Rectangle 10"/>
          <p:cNvSpPr/>
          <p:nvPr/>
        </p:nvSpPr>
        <p:spPr>
          <a:xfrm>
            <a:off x="548640" y="1828800"/>
            <a:ext cx="82080" cy="804240"/>
          </a:xfrm>
          <a:prstGeom prst="rect">
            <a:avLst/>
          </a:prstGeom>
          <a:solidFill>
            <a:srgbClr val="d95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6" name="TextBox 11"/>
          <p:cNvSpPr/>
          <p:nvPr/>
        </p:nvSpPr>
        <p:spPr>
          <a:xfrm>
            <a:off x="777240" y="2120040"/>
            <a:ext cx="28342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50" spc="-1" strike="noStrike">
                <a:solidFill>
                  <a:srgbClr val="f5f8fc"/>
                </a:solidFill>
                <a:latin typeface="Aptos"/>
              </a:rPr>
              <a:t>Verbalized confidence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177" name="TextBox 12"/>
          <p:cNvSpPr/>
          <p:nvPr/>
        </p:nvSpPr>
        <p:spPr>
          <a:xfrm>
            <a:off x="3840480" y="2135160"/>
            <a:ext cx="585180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Model states 'Confidence: NN%' with its answer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78" name="TextBox 13"/>
          <p:cNvSpPr/>
          <p:nvPr/>
        </p:nvSpPr>
        <p:spPr>
          <a:xfrm>
            <a:off x="9829800" y="2116440"/>
            <a:ext cx="18284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5f8fc"/>
                </a:solidFill>
                <a:latin typeface="Aptos"/>
              </a:rPr>
              <a:t>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79" name="Rounded Rectangle 14"/>
          <p:cNvSpPr/>
          <p:nvPr/>
        </p:nvSpPr>
        <p:spPr>
          <a:xfrm>
            <a:off x="548640" y="2743200"/>
            <a:ext cx="11109600" cy="804240"/>
          </a:xfrm>
          <a:prstGeom prst="roundRect">
            <a:avLst>
              <a:gd name="adj" fmla="val 13636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0" name="Rectangle 15"/>
          <p:cNvSpPr/>
          <p:nvPr/>
        </p:nvSpPr>
        <p:spPr>
          <a:xfrm>
            <a:off x="548640" y="2743200"/>
            <a:ext cx="82080" cy="804240"/>
          </a:xfrm>
          <a:prstGeom prst="rect">
            <a:avLst/>
          </a:prstGeom>
          <a:solidFill>
            <a:srgbClr val="c985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1" name="TextBox 16"/>
          <p:cNvSpPr/>
          <p:nvPr/>
        </p:nvSpPr>
        <p:spPr>
          <a:xfrm>
            <a:off x="777240" y="3034440"/>
            <a:ext cx="28342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50" spc="-1" strike="noStrike">
                <a:solidFill>
                  <a:srgbClr val="f5f8fc"/>
                </a:solidFill>
                <a:latin typeface="Aptos"/>
              </a:rPr>
              <a:t>Verbalized + TS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182" name="TextBox 17"/>
          <p:cNvSpPr/>
          <p:nvPr/>
        </p:nvSpPr>
        <p:spPr>
          <a:xfrm>
            <a:off x="3840480" y="2954520"/>
            <a:ext cx="58518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Verbalized confidence rescaled by temperature scaling (median T = 4.28, 5-fold CV)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83" name="TextBox 18"/>
          <p:cNvSpPr/>
          <p:nvPr/>
        </p:nvSpPr>
        <p:spPr>
          <a:xfrm>
            <a:off x="9829800" y="3030840"/>
            <a:ext cx="18284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5f8fc"/>
                </a:solidFill>
                <a:latin typeface="Aptos"/>
              </a:rPr>
              <a:t>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84" name="Rounded Rectangle 19"/>
          <p:cNvSpPr/>
          <p:nvPr/>
        </p:nvSpPr>
        <p:spPr>
          <a:xfrm>
            <a:off x="548640" y="3657600"/>
            <a:ext cx="11109600" cy="804240"/>
          </a:xfrm>
          <a:prstGeom prst="roundRect">
            <a:avLst>
              <a:gd name="adj" fmla="val 13636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5" name="Rectangle 20"/>
          <p:cNvSpPr/>
          <p:nvPr/>
        </p:nvSpPr>
        <p:spPr>
          <a:xfrm>
            <a:off x="548640" y="3657600"/>
            <a:ext cx="82080" cy="804240"/>
          </a:xfrm>
          <a:prstGeom prst="rect">
            <a:avLst/>
          </a:prstGeom>
          <a:solidFill>
            <a:srgbClr val="d551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6" name="TextBox 21"/>
          <p:cNvSpPr/>
          <p:nvPr/>
        </p:nvSpPr>
        <p:spPr>
          <a:xfrm>
            <a:off x="777240" y="3948840"/>
            <a:ext cx="28342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50" spc="-1" strike="noStrike">
                <a:solidFill>
                  <a:srgbClr val="f5f8fc"/>
                </a:solidFill>
                <a:latin typeface="Aptos"/>
              </a:rPr>
              <a:t>Self-consistency (k=5)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187" name="TextBox 22"/>
          <p:cNvSpPr/>
          <p:nvPr/>
        </p:nvSpPr>
        <p:spPr>
          <a:xfrm>
            <a:off x="3840480" y="3963960"/>
            <a:ext cx="585180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Share of 5 samples (temperature 1.0) that agree with the greedy answer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88" name="TextBox 23"/>
          <p:cNvSpPr/>
          <p:nvPr/>
        </p:nvSpPr>
        <p:spPr>
          <a:xfrm>
            <a:off x="9829800" y="3945240"/>
            <a:ext cx="18284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5f8fc"/>
                </a:solidFill>
                <a:latin typeface="Aptos"/>
              </a:rPr>
              <a:t>6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89" name="TextBox 24"/>
          <p:cNvSpPr/>
          <p:nvPr/>
        </p:nvSpPr>
        <p:spPr>
          <a:xfrm>
            <a:off x="548640" y="5961960"/>
            <a:ext cx="110638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50" spc="-1" strike="noStrike">
                <a:solidFill>
                  <a:srgbClr val="2dc4d3"/>
                </a:solidFill>
                <a:latin typeface="Aptos"/>
              </a:rPr>
              <a:t>Temperature scaling: </a:t>
            </a:r>
            <a:r>
              <a:rPr b="0" lang="en-US" sz="1250" spc="-1" strike="noStrike">
                <a:solidFill>
                  <a:srgbClr val="f5f8fc"/>
                </a:solidFill>
                <a:latin typeface="Aptos"/>
              </a:rPr>
              <a:t>calibrated = σ( logit(p) / T ).  T &gt; 1 softens over-confident scores; T is learned from held-out data.</a:t>
            </a:r>
            <a:endParaRPr b="0" lang="en-US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"/>
          <p:cNvSpPr/>
          <p:nvPr/>
        </p:nvSpPr>
        <p:spPr>
          <a:xfrm>
            <a:off x="548640" y="347400"/>
            <a:ext cx="1024092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5f8fc"/>
                </a:solidFill>
                <a:latin typeface="Aptos"/>
              </a:rPr>
              <a:t>5. Headline Results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567000" y="896040"/>
            <a:ext cx="102409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b0bed2"/>
                </a:solidFill>
                <a:latin typeface="Aptos"/>
              </a:rPr>
              <a:t>400 questions • gpt-4.1-mini • TriviaQA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11155680" y="384120"/>
            <a:ext cx="5025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b0bed2"/>
                </a:solidFill>
                <a:latin typeface="Aptos"/>
              </a:rPr>
              <a:t>6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3" name="TextBox 4"/>
          <p:cNvSpPr/>
          <p:nvPr/>
        </p:nvSpPr>
        <p:spPr>
          <a:xfrm>
            <a:off x="548640" y="6428160"/>
            <a:ext cx="73148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Overconfidence in GenAI Answers  •  Seminar on AI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94" name="TextBox 5"/>
          <p:cNvSpPr/>
          <p:nvPr/>
        </p:nvSpPr>
        <p:spPr>
          <a:xfrm>
            <a:off x="8869680" y="6428160"/>
            <a:ext cx="27885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16 Oct 2026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95" name="TextBox 6"/>
          <p:cNvSpPr/>
          <p:nvPr/>
        </p:nvSpPr>
        <p:spPr>
          <a:xfrm>
            <a:off x="731520" y="1417320"/>
            <a:ext cx="29714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b0bed2"/>
                </a:solidFill>
                <a:latin typeface="Aptos"/>
              </a:rPr>
              <a:t>Method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6" name="TextBox 7"/>
          <p:cNvSpPr/>
          <p:nvPr/>
        </p:nvSpPr>
        <p:spPr>
          <a:xfrm>
            <a:off x="3520440" y="1417320"/>
            <a:ext cx="11883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b0bed2"/>
                </a:solidFill>
                <a:latin typeface="Aptos"/>
              </a:rPr>
              <a:t>Accuracy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7" name="TextBox 8"/>
          <p:cNvSpPr/>
          <p:nvPr/>
        </p:nvSpPr>
        <p:spPr>
          <a:xfrm>
            <a:off x="4709160" y="1417320"/>
            <a:ext cx="11883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b0bed2"/>
                </a:solidFill>
                <a:latin typeface="Aptos"/>
              </a:rPr>
              <a:t>Avg. conf.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8" name="TextBox 9"/>
          <p:cNvSpPr/>
          <p:nvPr/>
        </p:nvSpPr>
        <p:spPr>
          <a:xfrm>
            <a:off x="5897880" y="1417320"/>
            <a:ext cx="11883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b0bed2"/>
                </a:solidFill>
                <a:latin typeface="Aptos"/>
              </a:rPr>
              <a:t>ECE ↓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9" name="TextBox 10"/>
          <p:cNvSpPr/>
          <p:nvPr/>
        </p:nvSpPr>
        <p:spPr>
          <a:xfrm>
            <a:off x="7086600" y="1417320"/>
            <a:ext cx="11883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b0bed2"/>
                </a:solidFill>
                <a:latin typeface="Aptos"/>
              </a:rPr>
              <a:t>Brier ↓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00" name="TextBox 11"/>
          <p:cNvSpPr/>
          <p:nvPr/>
        </p:nvSpPr>
        <p:spPr>
          <a:xfrm>
            <a:off x="8275320" y="1417320"/>
            <a:ext cx="11883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b0bed2"/>
                </a:solidFill>
                <a:latin typeface="Aptos"/>
              </a:rPr>
              <a:t>AUROC ↑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01" name="TextBox 12"/>
          <p:cNvSpPr/>
          <p:nvPr/>
        </p:nvSpPr>
        <p:spPr>
          <a:xfrm>
            <a:off x="9464040" y="1417320"/>
            <a:ext cx="21942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b0bed2"/>
                </a:solidFill>
                <a:latin typeface="Aptos"/>
              </a:rPr>
              <a:t>Wrong but ≥90% conf. ↓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02" name="Rounded Rectangle 13"/>
          <p:cNvSpPr/>
          <p:nvPr/>
        </p:nvSpPr>
        <p:spPr>
          <a:xfrm>
            <a:off x="548640" y="1783080"/>
            <a:ext cx="11109600" cy="456840"/>
          </a:xfrm>
          <a:prstGeom prst="roundRect">
            <a:avLst>
              <a:gd name="adj" fmla="val 24000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3" name="Rectangle 14"/>
          <p:cNvSpPr/>
          <p:nvPr/>
        </p:nvSpPr>
        <p:spPr>
          <a:xfrm>
            <a:off x="548640" y="1783080"/>
            <a:ext cx="82080" cy="456840"/>
          </a:xfrm>
          <a:prstGeom prst="rect">
            <a:avLst/>
          </a:prstGeom>
          <a:solidFill>
            <a:srgbClr val="d95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4" name="TextBox 15"/>
          <p:cNvSpPr/>
          <p:nvPr/>
        </p:nvSpPr>
        <p:spPr>
          <a:xfrm>
            <a:off x="777240" y="1908360"/>
            <a:ext cx="27428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f5f8fc"/>
                </a:solidFill>
                <a:latin typeface="Aptos"/>
              </a:rPr>
              <a:t>Verbalized confidence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05" name="TextBox 16"/>
          <p:cNvSpPr/>
          <p:nvPr/>
        </p:nvSpPr>
        <p:spPr>
          <a:xfrm>
            <a:off x="3520440" y="1904400"/>
            <a:ext cx="1188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5f8fc"/>
                </a:solidFill>
                <a:latin typeface="Aptos"/>
              </a:rPr>
              <a:t>82.0%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6" name="TextBox 17"/>
          <p:cNvSpPr/>
          <p:nvPr/>
        </p:nvSpPr>
        <p:spPr>
          <a:xfrm>
            <a:off x="4709160" y="1904400"/>
            <a:ext cx="1188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5f8fc"/>
                </a:solidFill>
                <a:latin typeface="Aptos"/>
              </a:rPr>
              <a:t>95.8%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7" name="TextBox 18"/>
          <p:cNvSpPr/>
          <p:nvPr/>
        </p:nvSpPr>
        <p:spPr>
          <a:xfrm>
            <a:off x="5897880" y="1904400"/>
            <a:ext cx="1188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5f8fc"/>
                </a:solidFill>
                <a:latin typeface="Aptos"/>
              </a:rPr>
              <a:t>0.138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8" name="TextBox 19"/>
          <p:cNvSpPr/>
          <p:nvPr/>
        </p:nvSpPr>
        <p:spPr>
          <a:xfrm>
            <a:off x="7086600" y="1904400"/>
            <a:ext cx="1188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5f8fc"/>
                </a:solidFill>
                <a:latin typeface="Aptos"/>
              </a:rPr>
              <a:t>0.152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9" name="TextBox 20"/>
          <p:cNvSpPr/>
          <p:nvPr/>
        </p:nvSpPr>
        <p:spPr>
          <a:xfrm>
            <a:off x="8275320" y="1904400"/>
            <a:ext cx="1188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5f8fc"/>
                </a:solidFill>
                <a:latin typeface="Aptos"/>
              </a:rPr>
              <a:t>0.77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0" name="TextBox 21"/>
          <p:cNvSpPr/>
          <p:nvPr/>
        </p:nvSpPr>
        <p:spPr>
          <a:xfrm>
            <a:off x="9464040" y="1904400"/>
            <a:ext cx="21942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5f8fc"/>
                </a:solidFill>
                <a:latin typeface="Aptos"/>
              </a:rPr>
              <a:t>81.9%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1" name="Rounded Rectangle 22"/>
          <p:cNvSpPr/>
          <p:nvPr/>
        </p:nvSpPr>
        <p:spPr>
          <a:xfrm>
            <a:off x="548640" y="2313360"/>
            <a:ext cx="11109600" cy="456840"/>
          </a:xfrm>
          <a:prstGeom prst="roundRect">
            <a:avLst>
              <a:gd name="adj" fmla="val 24000"/>
            </a:avLst>
          </a:prstGeom>
          <a:solidFill>
            <a:srgbClr val="16243a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2" name="Rectangle 23"/>
          <p:cNvSpPr/>
          <p:nvPr/>
        </p:nvSpPr>
        <p:spPr>
          <a:xfrm>
            <a:off x="548640" y="2313360"/>
            <a:ext cx="82080" cy="456840"/>
          </a:xfrm>
          <a:prstGeom prst="rect">
            <a:avLst/>
          </a:prstGeom>
          <a:solidFill>
            <a:srgbClr val="c985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3" name="TextBox 24"/>
          <p:cNvSpPr/>
          <p:nvPr/>
        </p:nvSpPr>
        <p:spPr>
          <a:xfrm>
            <a:off x="777240" y="2438640"/>
            <a:ext cx="27428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f5f8fc"/>
                </a:solidFill>
                <a:latin typeface="Aptos"/>
              </a:rPr>
              <a:t>Verbalized + TS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14" name="TextBox 25"/>
          <p:cNvSpPr/>
          <p:nvPr/>
        </p:nvSpPr>
        <p:spPr>
          <a:xfrm>
            <a:off x="3520440" y="2434680"/>
            <a:ext cx="1188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5f8fc"/>
                </a:solidFill>
                <a:latin typeface="Aptos"/>
              </a:rPr>
              <a:t>82.0%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5" name="TextBox 26"/>
          <p:cNvSpPr/>
          <p:nvPr/>
        </p:nvSpPr>
        <p:spPr>
          <a:xfrm>
            <a:off x="4709160" y="2434680"/>
            <a:ext cx="1188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5f8fc"/>
                </a:solidFill>
                <a:latin typeface="Aptos"/>
              </a:rPr>
              <a:t>78.5%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6" name="TextBox 27"/>
          <p:cNvSpPr/>
          <p:nvPr/>
        </p:nvSpPr>
        <p:spPr>
          <a:xfrm>
            <a:off x="5897880" y="2434680"/>
            <a:ext cx="1188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5cc98b"/>
                </a:solidFill>
                <a:latin typeface="Aptos"/>
              </a:rPr>
              <a:t>0.081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7" name="TextBox 28"/>
          <p:cNvSpPr/>
          <p:nvPr/>
        </p:nvSpPr>
        <p:spPr>
          <a:xfrm>
            <a:off x="7086600" y="2434680"/>
            <a:ext cx="1188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5f8fc"/>
                </a:solidFill>
                <a:latin typeface="Aptos"/>
              </a:rPr>
              <a:t>0.137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8" name="TextBox 29"/>
          <p:cNvSpPr/>
          <p:nvPr/>
        </p:nvSpPr>
        <p:spPr>
          <a:xfrm>
            <a:off x="8275320" y="2434680"/>
            <a:ext cx="1188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5f8fc"/>
                </a:solidFill>
                <a:latin typeface="Aptos"/>
              </a:rPr>
              <a:t>0.76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9" name="TextBox 30"/>
          <p:cNvSpPr/>
          <p:nvPr/>
        </p:nvSpPr>
        <p:spPr>
          <a:xfrm>
            <a:off x="9464040" y="2434680"/>
            <a:ext cx="21942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5cc98b"/>
                </a:solidFill>
                <a:latin typeface="Aptos"/>
              </a:rPr>
              <a:t>16.7%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0" name="Rounded Rectangle 31"/>
          <p:cNvSpPr/>
          <p:nvPr/>
        </p:nvSpPr>
        <p:spPr>
          <a:xfrm>
            <a:off x="548640" y="2843640"/>
            <a:ext cx="11109600" cy="456840"/>
          </a:xfrm>
          <a:prstGeom prst="roundRect">
            <a:avLst>
              <a:gd name="adj" fmla="val 24000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1" name="Rectangle 32"/>
          <p:cNvSpPr/>
          <p:nvPr/>
        </p:nvSpPr>
        <p:spPr>
          <a:xfrm>
            <a:off x="548640" y="2843640"/>
            <a:ext cx="82080" cy="456840"/>
          </a:xfrm>
          <a:prstGeom prst="rect">
            <a:avLst/>
          </a:prstGeom>
          <a:solidFill>
            <a:srgbClr val="d551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2" name="TextBox 33"/>
          <p:cNvSpPr/>
          <p:nvPr/>
        </p:nvSpPr>
        <p:spPr>
          <a:xfrm>
            <a:off x="777240" y="2968920"/>
            <a:ext cx="27428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f5f8fc"/>
                </a:solidFill>
                <a:latin typeface="Aptos"/>
              </a:rPr>
              <a:t>Self-consistency (k=5)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23" name="TextBox 34"/>
          <p:cNvSpPr/>
          <p:nvPr/>
        </p:nvSpPr>
        <p:spPr>
          <a:xfrm>
            <a:off x="3520440" y="2964960"/>
            <a:ext cx="1188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5f8fc"/>
                </a:solidFill>
                <a:latin typeface="Aptos"/>
              </a:rPr>
              <a:t>81.0%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4" name="TextBox 35"/>
          <p:cNvSpPr/>
          <p:nvPr/>
        </p:nvSpPr>
        <p:spPr>
          <a:xfrm>
            <a:off x="4709160" y="2964960"/>
            <a:ext cx="1188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5f8fc"/>
                </a:solidFill>
                <a:latin typeface="Aptos"/>
              </a:rPr>
              <a:t>89.8%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5" name="TextBox 36"/>
          <p:cNvSpPr/>
          <p:nvPr/>
        </p:nvSpPr>
        <p:spPr>
          <a:xfrm>
            <a:off x="5897880" y="2964960"/>
            <a:ext cx="1188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5f8fc"/>
                </a:solidFill>
                <a:latin typeface="Aptos"/>
              </a:rPr>
              <a:t>0.098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6" name="TextBox 37"/>
          <p:cNvSpPr/>
          <p:nvPr/>
        </p:nvSpPr>
        <p:spPr>
          <a:xfrm>
            <a:off x="7086600" y="2964960"/>
            <a:ext cx="1188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5cc98b"/>
                </a:solidFill>
                <a:latin typeface="Aptos"/>
              </a:rPr>
              <a:t>0.116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7" name="TextBox 38"/>
          <p:cNvSpPr/>
          <p:nvPr/>
        </p:nvSpPr>
        <p:spPr>
          <a:xfrm>
            <a:off x="8275320" y="2964960"/>
            <a:ext cx="1188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5cc98b"/>
                </a:solidFill>
                <a:latin typeface="Aptos"/>
              </a:rPr>
              <a:t>0.80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8" name="TextBox 39"/>
          <p:cNvSpPr/>
          <p:nvPr/>
        </p:nvSpPr>
        <p:spPr>
          <a:xfrm>
            <a:off x="9464040" y="2964960"/>
            <a:ext cx="21942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5f8fc"/>
                </a:solidFill>
                <a:latin typeface="Aptos"/>
              </a:rPr>
              <a:t>32.9%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9" name="Rounded Rectangle 40"/>
          <p:cNvSpPr/>
          <p:nvPr/>
        </p:nvSpPr>
        <p:spPr>
          <a:xfrm>
            <a:off x="548640" y="3648600"/>
            <a:ext cx="3565800" cy="1737000"/>
          </a:xfrm>
          <a:prstGeom prst="roundRect">
            <a:avLst>
              <a:gd name="adj" fmla="val 6315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0" name="TextBox 41"/>
          <p:cNvSpPr/>
          <p:nvPr/>
        </p:nvSpPr>
        <p:spPr>
          <a:xfrm>
            <a:off x="822960" y="3813120"/>
            <a:ext cx="30171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eb6868"/>
                </a:solidFill>
                <a:latin typeface="Aptos"/>
              </a:rPr>
              <a:t>82%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31" name="TextBox 42"/>
          <p:cNvSpPr/>
          <p:nvPr/>
        </p:nvSpPr>
        <p:spPr>
          <a:xfrm>
            <a:off x="822960" y="438012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b0bed2"/>
                </a:solidFill>
                <a:latin typeface="Aptos"/>
              </a:rPr>
              <a:t>of wrong answers came with ≥90% verbalized confidence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2" name="Rounded Rectangle 43"/>
          <p:cNvSpPr/>
          <p:nvPr/>
        </p:nvSpPr>
        <p:spPr>
          <a:xfrm>
            <a:off x="4320720" y="3648600"/>
            <a:ext cx="3565800" cy="1737000"/>
          </a:xfrm>
          <a:prstGeom prst="roundRect">
            <a:avLst>
              <a:gd name="adj" fmla="val 6315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3" name="TextBox 44"/>
          <p:cNvSpPr/>
          <p:nvPr/>
        </p:nvSpPr>
        <p:spPr>
          <a:xfrm>
            <a:off x="4594680" y="3813120"/>
            <a:ext cx="30171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5cc98b"/>
                </a:solidFill>
                <a:latin typeface="Aptos"/>
              </a:rPr>
              <a:t>0.138 → 0.081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34" name="TextBox 45"/>
          <p:cNvSpPr/>
          <p:nvPr/>
        </p:nvSpPr>
        <p:spPr>
          <a:xfrm>
            <a:off x="4594680" y="438012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b0bed2"/>
                </a:solidFill>
                <a:latin typeface="Aptos"/>
              </a:rPr>
              <a:t>verbalized ECE before → after temperature scaling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5" name="Rounded Rectangle 46"/>
          <p:cNvSpPr/>
          <p:nvPr/>
        </p:nvSpPr>
        <p:spPr>
          <a:xfrm>
            <a:off x="8092440" y="3648600"/>
            <a:ext cx="3565800" cy="1737000"/>
          </a:xfrm>
          <a:prstGeom prst="roundRect">
            <a:avLst>
              <a:gd name="adj" fmla="val 6315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6" name="TextBox 47"/>
          <p:cNvSpPr/>
          <p:nvPr/>
        </p:nvSpPr>
        <p:spPr>
          <a:xfrm>
            <a:off x="8366760" y="3813120"/>
            <a:ext cx="30171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2dc4d3"/>
                </a:solidFill>
                <a:latin typeface="Aptos"/>
              </a:rPr>
              <a:t>0.80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37" name="TextBox 48"/>
          <p:cNvSpPr/>
          <p:nvPr/>
        </p:nvSpPr>
        <p:spPr>
          <a:xfrm>
            <a:off x="8366760" y="438012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b0bed2"/>
                </a:solidFill>
                <a:latin typeface="Aptos"/>
              </a:rPr>
              <a:t>AUROC of self-consistency (5 samples) at flagging wrong answers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Box 1"/>
          <p:cNvSpPr/>
          <p:nvPr/>
        </p:nvSpPr>
        <p:spPr>
          <a:xfrm>
            <a:off x="548640" y="347400"/>
            <a:ext cx="1024092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5f8fc"/>
                </a:solidFill>
                <a:latin typeface="Aptos"/>
              </a:rPr>
              <a:t>6. Calibration: Stated Confidence vs. Reality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39" name="TextBox 2"/>
          <p:cNvSpPr/>
          <p:nvPr/>
        </p:nvSpPr>
        <p:spPr>
          <a:xfrm>
            <a:off x="567000" y="896040"/>
            <a:ext cx="102409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b0bed2"/>
                </a:solidFill>
                <a:latin typeface="Aptos"/>
              </a:rPr>
              <a:t>Reliability diagrams — a perfectly calibrated model sits on the dashed diagonal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40" name="TextBox 3"/>
          <p:cNvSpPr/>
          <p:nvPr/>
        </p:nvSpPr>
        <p:spPr>
          <a:xfrm>
            <a:off x="11155680" y="384120"/>
            <a:ext cx="5025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b0bed2"/>
                </a:solidFill>
                <a:latin typeface="Aptos"/>
              </a:rPr>
              <a:t>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41" name="TextBox 4"/>
          <p:cNvSpPr/>
          <p:nvPr/>
        </p:nvSpPr>
        <p:spPr>
          <a:xfrm>
            <a:off x="548640" y="6428160"/>
            <a:ext cx="73148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Overconfidence in GenAI Answers  •  Seminar on AI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42" name="TextBox 5"/>
          <p:cNvSpPr/>
          <p:nvPr/>
        </p:nvSpPr>
        <p:spPr>
          <a:xfrm>
            <a:off x="8869680" y="6428160"/>
            <a:ext cx="27885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16 Oct 2026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243" name="Picture 6" descr="reliability.png"/>
          <p:cNvPicPr/>
          <p:nvPr/>
        </p:nvPicPr>
        <p:blipFill>
          <a:blip r:embed="rId1"/>
          <a:stretch/>
        </p:blipFill>
        <p:spPr>
          <a:xfrm>
            <a:off x="1188720" y="1371600"/>
            <a:ext cx="9829440" cy="3931560"/>
          </a:xfrm>
          <a:prstGeom prst="rect">
            <a:avLst/>
          </a:prstGeom>
          <a:ln w="0">
            <a:noFill/>
          </a:ln>
        </p:spPr>
      </p:pic>
      <p:sp>
        <p:nvSpPr>
          <p:cNvPr id="244" name="Rounded Rectangle 7"/>
          <p:cNvSpPr/>
          <p:nvPr/>
        </p:nvSpPr>
        <p:spPr>
          <a:xfrm>
            <a:off x="548640" y="5440680"/>
            <a:ext cx="11109600" cy="731160"/>
          </a:xfrm>
          <a:prstGeom prst="roundRect">
            <a:avLst>
              <a:gd name="adj" fmla="val 15000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5" name="TextBox 8"/>
          <p:cNvSpPr/>
          <p:nvPr/>
        </p:nvSpPr>
        <p:spPr>
          <a:xfrm>
            <a:off x="822960" y="5600160"/>
            <a:ext cx="1060668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50" spc="-1" strike="noStrike">
                <a:solidFill>
                  <a:srgbClr val="2dc4d3"/>
                </a:solidFill>
                <a:latin typeface="Aptos"/>
              </a:rPr>
              <a:t>Reading it: </a:t>
            </a:r>
            <a:r>
              <a:rPr b="0" lang="en-US" sz="1350" spc="-1" strike="noStrike">
                <a:solidFill>
                  <a:srgbClr val="f5f8fc"/>
                </a:solidFill>
                <a:latin typeface="Aptos"/>
              </a:rPr>
              <a:t>bars below the diagonal = over-confident. </a:t>
            </a:r>
            <a:r>
              <a:rPr b="0" lang="en-US" sz="1350" spc="-1" strike="noStrike">
                <a:solidFill>
                  <a:srgbClr val="b0bed2"/>
                </a:solidFill>
                <a:latin typeface="Aptos"/>
              </a:rPr>
              <a:t>Largest average gap: Verbalized confidence (+14 pts confidence above accuracy).</a:t>
            </a:r>
            <a:endParaRPr b="0" lang="en-US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Box 1"/>
          <p:cNvSpPr/>
          <p:nvPr/>
        </p:nvSpPr>
        <p:spPr>
          <a:xfrm>
            <a:off x="548640" y="347400"/>
            <a:ext cx="1024092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5f8fc"/>
                </a:solidFill>
                <a:latin typeface="Aptos"/>
              </a:rPr>
              <a:t>7. Evidence: Confidently Wrong Answers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47" name="TextBox 2"/>
          <p:cNvSpPr/>
          <p:nvPr/>
        </p:nvSpPr>
        <p:spPr>
          <a:xfrm>
            <a:off x="567000" y="896040"/>
            <a:ext cx="102409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b0bed2"/>
                </a:solidFill>
                <a:latin typeface="Aptos"/>
              </a:rPr>
              <a:t>Distribution of verbalized confidence for right vs. wrong answers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48" name="TextBox 3"/>
          <p:cNvSpPr/>
          <p:nvPr/>
        </p:nvSpPr>
        <p:spPr>
          <a:xfrm>
            <a:off x="11155680" y="384120"/>
            <a:ext cx="5025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b0bed2"/>
                </a:solidFill>
                <a:latin typeface="Aptos"/>
              </a:rPr>
              <a:t>8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49" name="TextBox 4"/>
          <p:cNvSpPr/>
          <p:nvPr/>
        </p:nvSpPr>
        <p:spPr>
          <a:xfrm>
            <a:off x="548640" y="6428160"/>
            <a:ext cx="73148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Overconfidence in GenAI Answers  •  Seminar on AI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50" name="TextBox 5"/>
          <p:cNvSpPr/>
          <p:nvPr/>
        </p:nvSpPr>
        <p:spPr>
          <a:xfrm>
            <a:off x="8869680" y="6428160"/>
            <a:ext cx="27885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16 Oct 2026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251" name="Picture 6" descr="verbal_conf_hist.png"/>
          <p:cNvPicPr/>
          <p:nvPr/>
        </p:nvPicPr>
        <p:blipFill>
          <a:blip r:embed="rId1"/>
          <a:stretch/>
        </p:blipFill>
        <p:spPr>
          <a:xfrm>
            <a:off x="457200" y="1497240"/>
            <a:ext cx="6034680" cy="3771360"/>
          </a:xfrm>
          <a:prstGeom prst="rect">
            <a:avLst/>
          </a:prstGeom>
          <a:ln w="0">
            <a:noFill/>
          </a:ln>
        </p:spPr>
      </p:pic>
      <p:sp>
        <p:nvSpPr>
          <p:cNvPr id="252" name="TextBox 7"/>
          <p:cNvSpPr/>
          <p:nvPr/>
        </p:nvSpPr>
        <p:spPr>
          <a:xfrm>
            <a:off x="548640" y="5532120"/>
            <a:ext cx="58518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b6868"/>
                </a:solidFill>
                <a:latin typeface="Aptos"/>
              </a:rPr>
              <a:t>59 of 400</a:t>
            </a:r>
            <a:r>
              <a:rPr b="0" lang="en-US" sz="1400" spc="-1" strike="noStrike">
                <a:solidFill>
                  <a:srgbClr val="f5f8fc"/>
                </a:solidFill>
                <a:latin typeface="Aptos"/>
              </a:rPr>
              <a:t> answers were wrong while the model claimed ≥90% confidence.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53" name="Rounded Rectangle 8"/>
          <p:cNvSpPr/>
          <p:nvPr/>
        </p:nvSpPr>
        <p:spPr>
          <a:xfrm>
            <a:off x="6720840" y="1371600"/>
            <a:ext cx="4937400" cy="1508400"/>
          </a:xfrm>
          <a:prstGeom prst="roundRect">
            <a:avLst>
              <a:gd name="adj" fmla="val 7272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4" name="TextBox 9"/>
          <p:cNvSpPr/>
          <p:nvPr/>
        </p:nvSpPr>
        <p:spPr>
          <a:xfrm>
            <a:off x="6949440" y="1508760"/>
            <a:ext cx="45259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b0bed2"/>
                </a:solidFill>
                <a:latin typeface="Aptos"/>
              </a:rPr>
              <a:t>How was President Kennedy assassinated?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55" name="TextBox 10"/>
          <p:cNvSpPr/>
          <p:nvPr/>
        </p:nvSpPr>
        <p:spPr>
          <a:xfrm>
            <a:off x="6949440" y="2221920"/>
            <a:ext cx="45259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Model: </a:t>
            </a:r>
            <a:r>
              <a:rPr b="1" lang="en-US" sz="1250" spc="-1" strike="noStrike">
                <a:solidFill>
                  <a:srgbClr val="eb6868"/>
                </a:solidFill>
                <a:latin typeface="Aptos"/>
              </a:rPr>
              <a:t>By gunshot</a:t>
            </a:r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   (100% sure)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56" name="TextBox 11"/>
          <p:cNvSpPr/>
          <p:nvPr/>
        </p:nvSpPr>
        <p:spPr>
          <a:xfrm>
            <a:off x="6949440" y="2514600"/>
            <a:ext cx="45259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Correct: </a:t>
            </a:r>
            <a:r>
              <a:rPr b="1" lang="en-US" sz="1250" spc="-1" strike="noStrike">
                <a:solidFill>
                  <a:srgbClr val="5cc98b"/>
                </a:solidFill>
                <a:latin typeface="Aptos"/>
              </a:rPr>
              <a:t>Shot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57" name="Rounded Rectangle 12"/>
          <p:cNvSpPr/>
          <p:nvPr/>
        </p:nvSpPr>
        <p:spPr>
          <a:xfrm>
            <a:off x="6720840" y="3017520"/>
            <a:ext cx="4937400" cy="1508400"/>
          </a:xfrm>
          <a:prstGeom prst="roundRect">
            <a:avLst>
              <a:gd name="adj" fmla="val 7272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8" name="TextBox 13"/>
          <p:cNvSpPr/>
          <p:nvPr/>
        </p:nvSpPr>
        <p:spPr>
          <a:xfrm>
            <a:off x="6949440" y="3154680"/>
            <a:ext cx="452592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b0bed2"/>
                </a:solidFill>
                <a:latin typeface="Aptos"/>
              </a:rPr>
              <a:t>Of the ten most populated cities of the USA which is furthest north?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59" name="TextBox 14"/>
          <p:cNvSpPr/>
          <p:nvPr/>
        </p:nvSpPr>
        <p:spPr>
          <a:xfrm>
            <a:off x="6949440" y="3867840"/>
            <a:ext cx="45259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Model: </a:t>
            </a:r>
            <a:r>
              <a:rPr b="1" lang="en-US" sz="1250" spc="-1" strike="noStrike">
                <a:solidFill>
                  <a:srgbClr val="eb6868"/>
                </a:solidFill>
                <a:latin typeface="Aptos"/>
              </a:rPr>
              <a:t>Chicago</a:t>
            </a:r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   (100% sure)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60" name="TextBox 15"/>
          <p:cNvSpPr/>
          <p:nvPr/>
        </p:nvSpPr>
        <p:spPr>
          <a:xfrm>
            <a:off x="6949440" y="4160520"/>
            <a:ext cx="45259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Correct: </a:t>
            </a:r>
            <a:r>
              <a:rPr b="1" lang="en-US" sz="1250" spc="-1" strike="noStrike">
                <a:solidFill>
                  <a:srgbClr val="5cc98b"/>
                </a:solidFill>
                <a:latin typeface="Aptos"/>
              </a:rPr>
              <a:t>Detroit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61" name="Rounded Rectangle 16"/>
          <p:cNvSpPr/>
          <p:nvPr/>
        </p:nvSpPr>
        <p:spPr>
          <a:xfrm>
            <a:off x="6720840" y="4663440"/>
            <a:ext cx="4937400" cy="1508400"/>
          </a:xfrm>
          <a:prstGeom prst="roundRect">
            <a:avLst>
              <a:gd name="adj" fmla="val 7272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2" name="TextBox 17"/>
          <p:cNvSpPr/>
          <p:nvPr/>
        </p:nvSpPr>
        <p:spPr>
          <a:xfrm>
            <a:off x="6949440" y="4800600"/>
            <a:ext cx="452592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b0bed2"/>
                </a:solidFill>
                <a:latin typeface="Aptos"/>
              </a:rPr>
              <a:t>Who was the cartoon adversary of Pixie and Dixie, who would often say I hate those meeces to pieces?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63" name="TextBox 18"/>
          <p:cNvSpPr/>
          <p:nvPr/>
        </p:nvSpPr>
        <p:spPr>
          <a:xfrm>
            <a:off x="6949440" y="5513760"/>
            <a:ext cx="45259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Model: </a:t>
            </a:r>
            <a:r>
              <a:rPr b="1" lang="en-US" sz="1250" spc="-1" strike="noStrike">
                <a:solidFill>
                  <a:srgbClr val="eb6868"/>
                </a:solidFill>
                <a:latin typeface="Aptos"/>
              </a:rPr>
              <a:t>Jinks the Cat</a:t>
            </a:r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   (100% sure)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64" name="TextBox 19"/>
          <p:cNvSpPr/>
          <p:nvPr/>
        </p:nvSpPr>
        <p:spPr>
          <a:xfrm>
            <a:off x="6949440" y="5806440"/>
            <a:ext cx="45259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b0bed2"/>
                </a:solidFill>
                <a:latin typeface="Aptos"/>
              </a:rPr>
              <a:t>Correct: </a:t>
            </a:r>
            <a:r>
              <a:rPr b="1" lang="en-US" sz="1250" spc="-1" strike="noStrike">
                <a:solidFill>
                  <a:srgbClr val="5cc98b"/>
                </a:solidFill>
                <a:latin typeface="Aptos"/>
              </a:rPr>
              <a:t>Mr Jinx</a:t>
            </a:r>
            <a:endParaRPr b="0" lang="en-US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Box 1"/>
          <p:cNvSpPr/>
          <p:nvPr/>
        </p:nvSpPr>
        <p:spPr>
          <a:xfrm>
            <a:off x="548640" y="347400"/>
            <a:ext cx="1024092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5f8fc"/>
                </a:solidFill>
                <a:latin typeface="Aptos"/>
              </a:rPr>
              <a:t>8. Early Look: Does Triage Make Sense?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6" name="TextBox 2"/>
          <p:cNvSpPr/>
          <p:nvPr/>
        </p:nvSpPr>
        <p:spPr>
          <a:xfrm>
            <a:off x="567000" y="896040"/>
            <a:ext cx="102409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b0bed2"/>
                </a:solidFill>
                <a:latin typeface="Aptos"/>
              </a:rPr>
              <a:t>Stage 1 of our pipeline = self-consistency filter (5 samples)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67" name="TextBox 3"/>
          <p:cNvSpPr/>
          <p:nvPr/>
        </p:nvSpPr>
        <p:spPr>
          <a:xfrm>
            <a:off x="11155680" y="384120"/>
            <a:ext cx="5025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b0bed2"/>
                </a:solidFill>
                <a:latin typeface="Aptos"/>
              </a:rPr>
              <a:t>9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8" name="TextBox 4"/>
          <p:cNvSpPr/>
          <p:nvPr/>
        </p:nvSpPr>
        <p:spPr>
          <a:xfrm>
            <a:off x="548640" y="6428160"/>
            <a:ext cx="73148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Overconfidence in GenAI Answers  •  Seminar on AI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69" name="TextBox 5"/>
          <p:cNvSpPr/>
          <p:nvPr/>
        </p:nvSpPr>
        <p:spPr>
          <a:xfrm>
            <a:off x="8869680" y="6428160"/>
            <a:ext cx="27885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16 Oct 2026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270" name="Picture 6" descr="risk_coverage.png"/>
          <p:cNvPicPr/>
          <p:nvPr/>
        </p:nvPicPr>
        <p:blipFill>
          <a:blip r:embed="rId1"/>
          <a:stretch/>
        </p:blipFill>
        <p:spPr>
          <a:xfrm>
            <a:off x="457200" y="1497240"/>
            <a:ext cx="6034680" cy="3771360"/>
          </a:xfrm>
          <a:prstGeom prst="rect">
            <a:avLst/>
          </a:prstGeom>
          <a:ln w="0">
            <a:noFill/>
          </a:ln>
        </p:spPr>
      </p:pic>
      <p:sp>
        <p:nvSpPr>
          <p:cNvPr id="271" name="TextBox 7"/>
          <p:cNvSpPr/>
          <p:nvPr/>
        </p:nvSpPr>
        <p:spPr>
          <a:xfrm>
            <a:off x="548640" y="5532120"/>
            <a:ext cx="5851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b0bed2"/>
                </a:solidFill>
                <a:latin typeface="Aptos"/>
              </a:rPr>
              <a:t>Lower curve = fewer errors among the answers we choose to give. White dot = our triage threshold.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2" name="Rounded Rectangle 8"/>
          <p:cNvSpPr/>
          <p:nvPr/>
        </p:nvSpPr>
        <p:spPr>
          <a:xfrm>
            <a:off x="6720840" y="1371600"/>
            <a:ext cx="4937400" cy="1508400"/>
          </a:xfrm>
          <a:prstGeom prst="roundRect">
            <a:avLst>
              <a:gd name="adj" fmla="val 7272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3" name="TextBox 9"/>
          <p:cNvSpPr/>
          <p:nvPr/>
        </p:nvSpPr>
        <p:spPr>
          <a:xfrm>
            <a:off x="6995160" y="1554480"/>
            <a:ext cx="1737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5cc98b"/>
                </a:solidFill>
                <a:latin typeface="Aptos"/>
              </a:rPr>
              <a:t>86%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74" name="TextBox 10"/>
          <p:cNvSpPr/>
          <p:nvPr/>
        </p:nvSpPr>
        <p:spPr>
          <a:xfrm>
            <a:off x="8732520" y="1600200"/>
            <a:ext cx="27428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5f8fc"/>
                </a:solidFill>
                <a:latin typeface="Aptos"/>
              </a:rPr>
              <a:t>answered directly (≥4/5 samples agree)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75" name="TextBox 11"/>
          <p:cNvSpPr/>
          <p:nvPr/>
        </p:nvSpPr>
        <p:spPr>
          <a:xfrm>
            <a:off x="8732520" y="2286000"/>
            <a:ext cx="2742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b0bed2"/>
                </a:solidFill>
                <a:latin typeface="Aptos"/>
              </a:rPr>
              <a:t>accuracy on these: 89%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76" name="Rounded Rectangle 12"/>
          <p:cNvSpPr/>
          <p:nvPr/>
        </p:nvSpPr>
        <p:spPr>
          <a:xfrm>
            <a:off x="6720840" y="3035880"/>
            <a:ext cx="4937400" cy="1508400"/>
          </a:xfrm>
          <a:prstGeom prst="roundRect">
            <a:avLst>
              <a:gd name="adj" fmla="val 7272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7" name="TextBox 13"/>
          <p:cNvSpPr/>
          <p:nvPr/>
        </p:nvSpPr>
        <p:spPr>
          <a:xfrm>
            <a:off x="6995160" y="3218760"/>
            <a:ext cx="1737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2c248"/>
                </a:solidFill>
                <a:latin typeface="Aptos"/>
              </a:rPr>
              <a:t>14%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78" name="TextBox 14"/>
          <p:cNvSpPr/>
          <p:nvPr/>
        </p:nvSpPr>
        <p:spPr>
          <a:xfrm>
            <a:off x="8732520" y="3264480"/>
            <a:ext cx="27428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5f8fc"/>
                </a:solidFill>
                <a:latin typeface="Aptos"/>
              </a:rPr>
              <a:t>escalated to Stage 2 (low agreement)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79" name="TextBox 15"/>
          <p:cNvSpPr/>
          <p:nvPr/>
        </p:nvSpPr>
        <p:spPr>
          <a:xfrm>
            <a:off x="8732520" y="3950280"/>
            <a:ext cx="27428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b0bed2"/>
                </a:solidFill>
                <a:latin typeface="Aptos"/>
              </a:rPr>
              <a:t>error rate on these: 68%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80" name="Rounded Rectangle 16"/>
          <p:cNvSpPr/>
          <p:nvPr/>
        </p:nvSpPr>
        <p:spPr>
          <a:xfrm>
            <a:off x="6720840" y="4700160"/>
            <a:ext cx="4937400" cy="1508400"/>
          </a:xfrm>
          <a:prstGeom prst="roundRect">
            <a:avLst>
              <a:gd name="adj" fmla="val 7272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1" name="TextBox 17"/>
          <p:cNvSpPr/>
          <p:nvPr/>
        </p:nvSpPr>
        <p:spPr>
          <a:xfrm>
            <a:off x="6995160" y="4883040"/>
            <a:ext cx="1737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2dc4d3"/>
                </a:solidFill>
                <a:latin typeface="Aptos"/>
              </a:rPr>
              <a:t>50%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82" name="TextBox 18"/>
          <p:cNvSpPr/>
          <p:nvPr/>
        </p:nvSpPr>
        <p:spPr>
          <a:xfrm>
            <a:off x="8732520" y="4928760"/>
            <a:ext cx="27428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5f8fc"/>
                </a:solidFill>
                <a:latin typeface="Aptos"/>
              </a:rPr>
              <a:t>of ALL wrong answers land in the escalated group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83" name="TextBox 19"/>
          <p:cNvSpPr/>
          <p:nvPr/>
        </p:nvSpPr>
        <p:spPr>
          <a:xfrm>
            <a:off x="8732520" y="5614560"/>
            <a:ext cx="2742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b0bed2"/>
                </a:solidFill>
                <a:latin typeface="Aptos"/>
              </a:rPr>
              <a:t>→ </a:t>
            </a:r>
            <a:r>
              <a:rPr b="0" lang="en-US" sz="1150" spc="-1" strike="noStrike">
                <a:solidFill>
                  <a:srgbClr val="b0bed2"/>
                </a:solidFill>
                <a:latin typeface="Aptos"/>
              </a:rPr>
              <a:t>verification effort goes where the errors are</a:t>
            </a:r>
            <a:endParaRPr b="0" lang="en-US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Box 1"/>
          <p:cNvSpPr/>
          <p:nvPr/>
        </p:nvSpPr>
        <p:spPr>
          <a:xfrm>
            <a:off x="548640" y="347400"/>
            <a:ext cx="1024092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5f8fc"/>
                </a:solidFill>
                <a:latin typeface="Aptos"/>
              </a:rPr>
              <a:t>9. Key Findings &amp; Lessons Learned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5" name="TextBox 2"/>
          <p:cNvSpPr/>
          <p:nvPr/>
        </p:nvSpPr>
        <p:spPr>
          <a:xfrm>
            <a:off x="567000" y="896040"/>
            <a:ext cx="102409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b0bed2"/>
                </a:solidFill>
                <a:latin typeface="Aptos"/>
              </a:rPr>
              <a:t>What the first results tell us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86" name="TextBox 3"/>
          <p:cNvSpPr/>
          <p:nvPr/>
        </p:nvSpPr>
        <p:spPr>
          <a:xfrm>
            <a:off x="11155680" y="384120"/>
            <a:ext cx="5025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b0bed2"/>
                </a:solidFill>
                <a:latin typeface="Aptos"/>
              </a:rPr>
              <a:t>10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87" name="TextBox 4"/>
          <p:cNvSpPr/>
          <p:nvPr/>
        </p:nvSpPr>
        <p:spPr>
          <a:xfrm>
            <a:off x="548640" y="6428160"/>
            <a:ext cx="73148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Overconfidence in GenAI Answers  •  Seminar on AI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88" name="TextBox 5"/>
          <p:cNvSpPr/>
          <p:nvPr/>
        </p:nvSpPr>
        <p:spPr>
          <a:xfrm>
            <a:off x="8869680" y="6428160"/>
            <a:ext cx="27885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16 Oct 2026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89" name="Rounded Rectangle 6"/>
          <p:cNvSpPr/>
          <p:nvPr/>
        </p:nvSpPr>
        <p:spPr>
          <a:xfrm>
            <a:off x="548640" y="1417320"/>
            <a:ext cx="6400440" cy="4708800"/>
          </a:xfrm>
          <a:prstGeom prst="roundRect">
            <a:avLst>
              <a:gd name="adj" fmla="val 2330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0" name="TextBox 7"/>
          <p:cNvSpPr/>
          <p:nvPr/>
        </p:nvSpPr>
        <p:spPr>
          <a:xfrm>
            <a:off x="822960" y="1627560"/>
            <a:ext cx="59432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cc98b"/>
                </a:solidFill>
                <a:latin typeface="Aptos"/>
              </a:rPr>
              <a:t>FINDINGS (FROM OUR DATA)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91" name="TextBox 8"/>
          <p:cNvSpPr/>
          <p:nvPr/>
        </p:nvSpPr>
        <p:spPr>
          <a:xfrm>
            <a:off x="822960" y="2057400"/>
            <a:ext cx="5897520" cy="34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spcAft>
                <a:spcPts val="1599"/>
              </a:spcAft>
              <a:buNone/>
            </a:pPr>
            <a:r>
              <a:rPr b="1" lang="en-US" sz="1600" spc="-1" strike="noStrike">
                <a:solidFill>
                  <a:srgbClr val="5cc98b"/>
                </a:solidFill>
                <a:latin typeface="Aptos"/>
              </a:rPr>
              <a:t>•  </a:t>
            </a:r>
            <a:r>
              <a:rPr b="0" lang="en-US" sz="1600" spc="-1" strike="noStrike">
                <a:solidFill>
                  <a:srgbClr val="f5f8fc"/>
                </a:solidFill>
                <a:latin typeface="Aptos"/>
              </a:rPr>
              <a:t>The model answered 82% correctly but claimed 96% confidence on average (gap +14 pts).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1599"/>
              </a:spcAft>
              <a:buNone/>
            </a:pPr>
            <a:r>
              <a:rPr b="1" lang="en-US" sz="1600" spc="-1" strike="noStrike">
                <a:solidFill>
                  <a:srgbClr val="5cc98b"/>
                </a:solidFill>
                <a:latin typeface="Aptos"/>
              </a:rPr>
              <a:t>•  </a:t>
            </a:r>
            <a:r>
              <a:rPr b="0" lang="en-US" sz="1600" spc="-1" strike="noStrike">
                <a:solidFill>
                  <a:srgbClr val="f5f8fc"/>
                </a:solidFill>
                <a:latin typeface="Aptos"/>
              </a:rPr>
              <a:t>82% of the WRONG answers were stated with ≥90% confidence (avg. 91% when wrong vs 97% when right).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1599"/>
              </a:spcAft>
              <a:buNone/>
            </a:pPr>
            <a:r>
              <a:rPr b="1" lang="en-US" sz="1600" spc="-1" strike="noStrike">
                <a:solidFill>
                  <a:srgbClr val="5cc98b"/>
                </a:solidFill>
                <a:latin typeface="Aptos"/>
              </a:rPr>
              <a:t>•  </a:t>
            </a:r>
            <a:r>
              <a:rPr b="0" lang="en-US" sz="1600" spc="-1" strike="noStrike">
                <a:solidFill>
                  <a:srgbClr val="f5f8fc"/>
                </a:solidFill>
                <a:latin typeface="Aptos"/>
              </a:rPr>
              <a:t>Temperature scaling reduced verbalized ECE from 0.138 to 0.081 (42% lower) — calibration can be repaired cheaply.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1599"/>
              </a:spcAft>
              <a:buNone/>
            </a:pPr>
            <a:r>
              <a:rPr b="1" lang="en-US" sz="1600" spc="-1" strike="noStrike">
                <a:solidFill>
                  <a:srgbClr val="5cc98b"/>
                </a:solidFill>
                <a:latin typeface="Aptos"/>
              </a:rPr>
              <a:t>•  </a:t>
            </a:r>
            <a:r>
              <a:rPr b="0" lang="en-US" sz="1600" spc="-1" strike="noStrike">
                <a:solidFill>
                  <a:srgbClr val="f5f8fc"/>
                </a:solidFill>
                <a:latin typeface="Aptos"/>
              </a:rPr>
              <a:t>Best at telling right from wrong answers: Self-consistency (k=5) (AUROC 0.80). Temperature scaling barely moves AUROC — it rescales scores, it does not re-rank answers.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92" name="Rounded Rectangle 9"/>
          <p:cNvSpPr/>
          <p:nvPr/>
        </p:nvSpPr>
        <p:spPr>
          <a:xfrm>
            <a:off x="7178040" y="1417320"/>
            <a:ext cx="4480200" cy="4708800"/>
          </a:xfrm>
          <a:prstGeom prst="roundRect">
            <a:avLst>
              <a:gd name="adj" fmla="val 2448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3" name="TextBox 10"/>
          <p:cNvSpPr/>
          <p:nvPr/>
        </p:nvSpPr>
        <p:spPr>
          <a:xfrm>
            <a:off x="7452360" y="1627560"/>
            <a:ext cx="40230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2c248"/>
                </a:solidFill>
                <a:latin typeface="Aptos"/>
              </a:rPr>
              <a:t>LESSONS &amp; CHALLENGES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94" name="TextBox 11"/>
          <p:cNvSpPr/>
          <p:nvPr/>
        </p:nvSpPr>
        <p:spPr>
          <a:xfrm>
            <a:off x="7452360" y="2057400"/>
            <a:ext cx="3977280" cy="33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spcAft>
                <a:spcPts val="1400"/>
              </a:spcAft>
              <a:buNone/>
            </a:pPr>
            <a:r>
              <a:rPr b="1" lang="en-US" sz="1450" spc="-1" strike="noStrike">
                <a:solidFill>
                  <a:srgbClr val="f2c248"/>
                </a:solidFill>
                <a:latin typeface="Aptos"/>
              </a:rPr>
              <a:t>•  </a:t>
            </a:r>
            <a:r>
              <a:rPr b="0" lang="en-US" sz="1450" spc="-1" strike="noStrike">
                <a:solidFill>
                  <a:srgbClr val="f5f8fc"/>
                </a:solidFill>
                <a:latin typeface="Aptos"/>
              </a:rPr>
              <a:t>Grading free-text answers is noisy → lenient alias matching + manual spot-checks.</a:t>
            </a:r>
            <a:endParaRPr b="0" lang="en-US" sz="14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1400"/>
              </a:spcAft>
              <a:buNone/>
            </a:pPr>
            <a:r>
              <a:rPr b="1" lang="en-US" sz="1450" spc="-1" strike="noStrike">
                <a:solidFill>
                  <a:srgbClr val="f2c248"/>
                </a:solidFill>
                <a:latin typeface="Aptos"/>
              </a:rPr>
              <a:t>•  </a:t>
            </a:r>
            <a:r>
              <a:rPr b="0" lang="en-US" sz="1450" spc="-1" strike="noStrike">
                <a:solidFill>
                  <a:srgbClr val="f5f8fc"/>
                </a:solidFill>
                <a:latin typeface="Aptos"/>
              </a:rPr>
              <a:t>Calibration ≠ discrimination: TS fixes the confidence scale, but barely changes which answers get trusted.</a:t>
            </a:r>
            <a:endParaRPr b="0" lang="en-US" sz="14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1400"/>
              </a:spcAft>
              <a:buNone/>
            </a:pPr>
            <a:r>
              <a:rPr b="1" lang="en-US" sz="1450" spc="-1" strike="noStrike">
                <a:solidFill>
                  <a:srgbClr val="f2c248"/>
                </a:solidFill>
                <a:latin typeface="Aptos"/>
              </a:rPr>
              <a:t>•  </a:t>
            </a:r>
            <a:r>
              <a:rPr b="0" lang="en-US" sz="1450" spc="-1" strike="noStrike">
                <a:solidFill>
                  <a:srgbClr val="f5f8fc"/>
                </a:solidFill>
                <a:latin typeface="Aptos"/>
              </a:rPr>
              <a:t>Token log-probs are not offered by every API (e.g. reasoning models) → black-box signals matter.</a:t>
            </a:r>
            <a:endParaRPr b="0" lang="en-US" sz="14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1400"/>
              </a:spcAft>
              <a:buNone/>
            </a:pPr>
            <a:r>
              <a:rPr b="1" lang="en-US" sz="1450" spc="-1" strike="noStrike">
                <a:solidFill>
                  <a:srgbClr val="f2c248"/>
                </a:solidFill>
                <a:latin typeface="Aptos"/>
              </a:rPr>
              <a:t>•  </a:t>
            </a:r>
            <a:r>
              <a:rPr b="0" lang="en-US" sz="1450" spc="-1" strike="noStrike">
                <a:solidFill>
                  <a:srgbClr val="f5f8fc"/>
                </a:solidFill>
                <a:latin typeface="Aptos"/>
              </a:rPr>
              <a:t>Rate limits shaped the design: resumable runs, parallel requests, caching.</a:t>
            </a:r>
            <a:endParaRPr b="0" lang="en-US" sz="14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Box 1"/>
          <p:cNvSpPr/>
          <p:nvPr/>
        </p:nvSpPr>
        <p:spPr>
          <a:xfrm>
            <a:off x="548640" y="347400"/>
            <a:ext cx="1024092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5f8fc"/>
                </a:solidFill>
                <a:latin typeface="Aptos"/>
              </a:rPr>
              <a:t>10. Next Steps &amp; Timeline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6" name="TextBox 2"/>
          <p:cNvSpPr/>
          <p:nvPr/>
        </p:nvSpPr>
        <p:spPr>
          <a:xfrm>
            <a:off x="567000" y="896040"/>
            <a:ext cx="102409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b0bed2"/>
                </a:solidFill>
                <a:latin typeface="Aptos"/>
              </a:rPr>
              <a:t>We are on schedule — Week 3 milestone complete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97" name="TextBox 3"/>
          <p:cNvSpPr/>
          <p:nvPr/>
        </p:nvSpPr>
        <p:spPr>
          <a:xfrm>
            <a:off x="11155680" y="384120"/>
            <a:ext cx="5025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b0bed2"/>
                </a:solidFill>
                <a:latin typeface="Aptos"/>
              </a:rPr>
              <a:t>11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98" name="TextBox 4"/>
          <p:cNvSpPr/>
          <p:nvPr/>
        </p:nvSpPr>
        <p:spPr>
          <a:xfrm>
            <a:off x="548640" y="6428160"/>
            <a:ext cx="73148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Overconfidence in GenAI Answers  •  Seminar on AI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99" name="TextBox 5"/>
          <p:cNvSpPr/>
          <p:nvPr/>
        </p:nvSpPr>
        <p:spPr>
          <a:xfrm>
            <a:off x="8869680" y="6428160"/>
            <a:ext cx="27885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16 Oct 2026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00" name="Rounded Rectangle 6"/>
          <p:cNvSpPr/>
          <p:nvPr/>
        </p:nvSpPr>
        <p:spPr>
          <a:xfrm>
            <a:off x="548640" y="1463040"/>
            <a:ext cx="2111760" cy="1416960"/>
          </a:xfrm>
          <a:prstGeom prst="roundRect">
            <a:avLst>
              <a:gd name="adj" fmla="val 7741"/>
            </a:avLst>
          </a:prstGeom>
          <a:solidFill>
            <a:srgbClr val="1b2b43"/>
          </a:solidFill>
          <a:ln>
            <a:solidFill>
              <a:srgbClr val="5cc9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1" name="TextBox 7"/>
          <p:cNvSpPr/>
          <p:nvPr/>
        </p:nvSpPr>
        <p:spPr>
          <a:xfrm>
            <a:off x="777240" y="1627560"/>
            <a:ext cx="16545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5cc98b"/>
                </a:solidFill>
                <a:latin typeface="Aptos"/>
              </a:rPr>
              <a:t>W1-2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02" name="TextBox 8"/>
          <p:cNvSpPr/>
          <p:nvPr/>
        </p:nvSpPr>
        <p:spPr>
          <a:xfrm>
            <a:off x="777240" y="2011680"/>
            <a:ext cx="16545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b0bed2"/>
                </a:solidFill>
                <a:latin typeface="Aptos"/>
              </a:rPr>
              <a:t>Literature • scope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03" name="TextBox 9"/>
          <p:cNvSpPr/>
          <p:nvPr/>
        </p:nvSpPr>
        <p:spPr>
          <a:xfrm>
            <a:off x="777240" y="2514600"/>
            <a:ext cx="16545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5cc98b"/>
                </a:solidFill>
                <a:latin typeface="Aptos"/>
              </a:rPr>
              <a:t>DONE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304" name="Rounded Rectangle 10"/>
          <p:cNvSpPr/>
          <p:nvPr/>
        </p:nvSpPr>
        <p:spPr>
          <a:xfrm>
            <a:off x="2797920" y="1463040"/>
            <a:ext cx="2111760" cy="1416960"/>
          </a:xfrm>
          <a:prstGeom prst="roundRect">
            <a:avLst>
              <a:gd name="adj" fmla="val 7741"/>
            </a:avLst>
          </a:prstGeom>
          <a:solidFill>
            <a:srgbClr val="1b2b43"/>
          </a:solidFill>
          <a:ln>
            <a:solidFill>
              <a:srgbClr val="5cc98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5" name="TextBox 11"/>
          <p:cNvSpPr/>
          <p:nvPr/>
        </p:nvSpPr>
        <p:spPr>
          <a:xfrm>
            <a:off x="3026520" y="1627560"/>
            <a:ext cx="16545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5cc98b"/>
                </a:solidFill>
                <a:latin typeface="Aptos"/>
              </a:rPr>
              <a:t>W3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06" name="TextBox 12"/>
          <p:cNvSpPr/>
          <p:nvPr/>
        </p:nvSpPr>
        <p:spPr>
          <a:xfrm>
            <a:off x="3026520" y="2011680"/>
            <a:ext cx="1654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b0bed2"/>
                </a:solidFill>
                <a:latin typeface="Aptos"/>
              </a:rPr>
              <a:t>Baselines + first results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07" name="TextBox 13"/>
          <p:cNvSpPr/>
          <p:nvPr/>
        </p:nvSpPr>
        <p:spPr>
          <a:xfrm>
            <a:off x="3026520" y="2514600"/>
            <a:ext cx="16545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5cc98b"/>
                </a:solidFill>
                <a:latin typeface="Aptos"/>
              </a:rPr>
              <a:t>DONE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308" name="Rounded Rectangle 14"/>
          <p:cNvSpPr/>
          <p:nvPr/>
        </p:nvSpPr>
        <p:spPr>
          <a:xfrm>
            <a:off x="5047560" y="1463040"/>
            <a:ext cx="2111760" cy="1416960"/>
          </a:xfrm>
          <a:prstGeom prst="roundRect">
            <a:avLst>
              <a:gd name="adj" fmla="val 7741"/>
            </a:avLst>
          </a:prstGeom>
          <a:solidFill>
            <a:srgbClr val="1b2b43"/>
          </a:solidFill>
          <a:ln>
            <a:solidFill>
              <a:srgbClr val="2dc4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9" name="TextBox 15"/>
          <p:cNvSpPr/>
          <p:nvPr/>
        </p:nvSpPr>
        <p:spPr>
          <a:xfrm>
            <a:off x="5276160" y="1627560"/>
            <a:ext cx="16545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2dc4d3"/>
                </a:solidFill>
                <a:latin typeface="Aptos"/>
              </a:rPr>
              <a:t>W3–4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0" name="TextBox 16"/>
          <p:cNvSpPr/>
          <p:nvPr/>
        </p:nvSpPr>
        <p:spPr>
          <a:xfrm>
            <a:off x="5276160" y="2011680"/>
            <a:ext cx="1654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b0bed2"/>
                </a:solidFill>
                <a:latin typeface="Aptos"/>
              </a:rPr>
              <a:t>Build &amp; test triage pipeline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11" name="TextBox 17"/>
          <p:cNvSpPr/>
          <p:nvPr/>
        </p:nvSpPr>
        <p:spPr>
          <a:xfrm>
            <a:off x="5276160" y="2514600"/>
            <a:ext cx="16545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2dc4d3"/>
                </a:solidFill>
                <a:latin typeface="Aptos"/>
              </a:rPr>
              <a:t>NEXT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312" name="Rounded Rectangle 18"/>
          <p:cNvSpPr/>
          <p:nvPr/>
        </p:nvSpPr>
        <p:spPr>
          <a:xfrm>
            <a:off x="7296840" y="1463040"/>
            <a:ext cx="2111760" cy="1416960"/>
          </a:xfrm>
          <a:prstGeom prst="roundRect">
            <a:avLst>
              <a:gd name="adj" fmla="val 7741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3" name="TextBox 19"/>
          <p:cNvSpPr/>
          <p:nvPr/>
        </p:nvSpPr>
        <p:spPr>
          <a:xfrm>
            <a:off x="7525440" y="1627560"/>
            <a:ext cx="16545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5f8fc"/>
                </a:solidFill>
                <a:latin typeface="Aptos"/>
              </a:rPr>
              <a:t>W5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4" name="TextBox 20"/>
          <p:cNvSpPr/>
          <p:nvPr/>
        </p:nvSpPr>
        <p:spPr>
          <a:xfrm>
            <a:off x="7525440" y="2011680"/>
            <a:ext cx="1654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b0bed2"/>
                </a:solidFill>
                <a:latin typeface="Aptos"/>
              </a:rPr>
              <a:t>Evaluate vs. baselines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15" name="TextBox 21"/>
          <p:cNvSpPr/>
          <p:nvPr/>
        </p:nvSpPr>
        <p:spPr>
          <a:xfrm>
            <a:off x="7525440" y="2514600"/>
            <a:ext cx="16545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b0bed2"/>
                </a:solidFill>
                <a:latin typeface="Aptos"/>
              </a:rPr>
              <a:t>PLANNED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316" name="Rounded Rectangle 22"/>
          <p:cNvSpPr/>
          <p:nvPr/>
        </p:nvSpPr>
        <p:spPr>
          <a:xfrm>
            <a:off x="9546480" y="1463040"/>
            <a:ext cx="2111760" cy="1416960"/>
          </a:xfrm>
          <a:prstGeom prst="roundRect">
            <a:avLst>
              <a:gd name="adj" fmla="val 7741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7" name="TextBox 23"/>
          <p:cNvSpPr/>
          <p:nvPr/>
        </p:nvSpPr>
        <p:spPr>
          <a:xfrm>
            <a:off x="9775080" y="1627560"/>
            <a:ext cx="16545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5f8fc"/>
                </a:solidFill>
                <a:latin typeface="Aptos"/>
              </a:rPr>
              <a:t>W6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8" name="TextBox 24"/>
          <p:cNvSpPr/>
          <p:nvPr/>
        </p:nvSpPr>
        <p:spPr>
          <a:xfrm>
            <a:off x="9775080" y="2011680"/>
            <a:ext cx="16545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b0bed2"/>
                </a:solidFill>
                <a:latin typeface="Aptos"/>
              </a:rPr>
              <a:t>Write-up &amp; final talk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19" name="TextBox 25"/>
          <p:cNvSpPr/>
          <p:nvPr/>
        </p:nvSpPr>
        <p:spPr>
          <a:xfrm>
            <a:off x="9775080" y="2514600"/>
            <a:ext cx="16545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b0bed2"/>
                </a:solidFill>
                <a:latin typeface="Aptos"/>
              </a:rPr>
              <a:t>PLANNED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320" name="Rounded Rectangle 26"/>
          <p:cNvSpPr/>
          <p:nvPr/>
        </p:nvSpPr>
        <p:spPr>
          <a:xfrm>
            <a:off x="548640" y="3200400"/>
            <a:ext cx="3565800" cy="2925720"/>
          </a:xfrm>
          <a:prstGeom prst="roundRect">
            <a:avLst>
              <a:gd name="adj" fmla="val 3750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1" name="TextBox 27"/>
          <p:cNvSpPr/>
          <p:nvPr/>
        </p:nvSpPr>
        <p:spPr>
          <a:xfrm>
            <a:off x="822960" y="3456360"/>
            <a:ext cx="30171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2dc4d3"/>
                </a:solidFill>
                <a:latin typeface="Aptos"/>
              </a:rPr>
              <a:t>NEXT 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22" name="TextBox 28"/>
          <p:cNvSpPr/>
          <p:nvPr/>
        </p:nvSpPr>
        <p:spPr>
          <a:xfrm>
            <a:off x="822960" y="384048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5f8fc"/>
                </a:solidFill>
                <a:latin typeface="Aptos"/>
              </a:rPr>
              <a:t>Build Stage 2 (escalation)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23" name="TextBox 29"/>
          <p:cNvSpPr/>
          <p:nvPr/>
        </p:nvSpPr>
        <p:spPr>
          <a:xfrm>
            <a:off x="822960" y="4389120"/>
            <a:ext cx="3017160" cy="9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US" sz="1500" spc="-1" strike="noStrike">
                <a:solidFill>
                  <a:srgbClr val="b0bed2"/>
                </a:solidFill>
                <a:latin typeface="Aptos"/>
              </a:rPr>
              <a:t>Retrieval fact-check or multi-agent / stronger-model re-check, applied only to low-agreement questions.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24" name="Rounded Rectangle 30"/>
          <p:cNvSpPr/>
          <p:nvPr/>
        </p:nvSpPr>
        <p:spPr>
          <a:xfrm>
            <a:off x="4320720" y="3200400"/>
            <a:ext cx="3565800" cy="2925720"/>
          </a:xfrm>
          <a:prstGeom prst="roundRect">
            <a:avLst>
              <a:gd name="adj" fmla="val 3750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5" name="TextBox 31"/>
          <p:cNvSpPr/>
          <p:nvPr/>
        </p:nvSpPr>
        <p:spPr>
          <a:xfrm>
            <a:off x="4594680" y="3456360"/>
            <a:ext cx="30171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2dc4d3"/>
                </a:solidFill>
                <a:latin typeface="Aptos"/>
              </a:rPr>
              <a:t>NEXT 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26" name="TextBox 32"/>
          <p:cNvSpPr/>
          <p:nvPr/>
        </p:nvSpPr>
        <p:spPr>
          <a:xfrm>
            <a:off x="4594680" y="3840480"/>
            <a:ext cx="3017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5f8fc"/>
                </a:solidFill>
                <a:latin typeface="Aptos"/>
              </a:rPr>
              <a:t>Measure cost honestly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27" name="TextBox 33"/>
          <p:cNvSpPr/>
          <p:nvPr/>
        </p:nvSpPr>
        <p:spPr>
          <a:xfrm>
            <a:off x="4594680" y="4389120"/>
            <a:ext cx="3017160" cy="9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US" sz="1500" spc="-1" strike="noStrike">
                <a:solidFill>
                  <a:srgbClr val="b0bed2"/>
                </a:solidFill>
                <a:latin typeface="Aptos"/>
              </a:rPr>
              <a:t>Log tokens &amp; latency: always-answer vs. always-escalate vs. triage; tune the agreement threshold.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28" name="Rounded Rectangle 34"/>
          <p:cNvSpPr/>
          <p:nvPr/>
        </p:nvSpPr>
        <p:spPr>
          <a:xfrm>
            <a:off x="8092440" y="3200400"/>
            <a:ext cx="3565800" cy="2925720"/>
          </a:xfrm>
          <a:prstGeom prst="roundRect">
            <a:avLst>
              <a:gd name="adj" fmla="val 3750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9" name="TextBox 35"/>
          <p:cNvSpPr/>
          <p:nvPr/>
        </p:nvSpPr>
        <p:spPr>
          <a:xfrm>
            <a:off x="8366760" y="3456360"/>
            <a:ext cx="30171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2dc4d3"/>
                </a:solidFill>
                <a:latin typeface="Aptos"/>
              </a:rPr>
              <a:t>NEXT 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30" name="TextBox 36"/>
          <p:cNvSpPr/>
          <p:nvPr/>
        </p:nvSpPr>
        <p:spPr>
          <a:xfrm>
            <a:off x="8366760" y="3840480"/>
            <a:ext cx="3017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5f8fc"/>
                </a:solidFill>
                <a:latin typeface="Aptos"/>
              </a:rPr>
              <a:t>Test generality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1" name="TextBox 37"/>
          <p:cNvSpPr/>
          <p:nvPr/>
        </p:nvSpPr>
        <p:spPr>
          <a:xfrm>
            <a:off x="8366760" y="4389120"/>
            <a:ext cx="3017160" cy="9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US" sz="1500" spc="-1" strike="noStrike">
                <a:solidFill>
                  <a:srgbClr val="b0bed2"/>
                </a:solidFill>
                <a:latin typeface="Aptos"/>
              </a:rPr>
              <a:t>Add a harder benchmark (e.g. SimpleQA) and a second model; larger sample for tighter estimates.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Box 1"/>
          <p:cNvSpPr/>
          <p:nvPr/>
        </p:nvSpPr>
        <p:spPr>
          <a:xfrm>
            <a:off x="548640" y="6428160"/>
            <a:ext cx="73148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Overconfidence in GenAI Answers  •  Seminar on AI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33" name="TextBox 2"/>
          <p:cNvSpPr/>
          <p:nvPr/>
        </p:nvSpPr>
        <p:spPr>
          <a:xfrm>
            <a:off x="8869680" y="6428160"/>
            <a:ext cx="27885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b0bed2"/>
                </a:solidFill>
                <a:latin typeface="Aptos"/>
              </a:rPr>
              <a:t>16 Oct 2026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34" name="TextBox 3"/>
          <p:cNvSpPr/>
          <p:nvPr/>
        </p:nvSpPr>
        <p:spPr>
          <a:xfrm>
            <a:off x="685800" y="914400"/>
            <a:ext cx="5028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dc4d3"/>
                </a:solidFill>
                <a:latin typeface="Aptos"/>
              </a:rPr>
              <a:t>THANK YOU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5" name="TextBox 4"/>
          <p:cNvSpPr/>
          <p:nvPr/>
        </p:nvSpPr>
        <p:spPr>
          <a:xfrm>
            <a:off x="685800" y="1325880"/>
            <a:ext cx="530316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5f8fc"/>
                </a:solidFill>
                <a:latin typeface="Aptos"/>
              </a:rPr>
              <a:t>Questions?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36" name="TextBox 5"/>
          <p:cNvSpPr/>
          <p:nvPr/>
        </p:nvSpPr>
        <p:spPr>
          <a:xfrm>
            <a:off x="704160" y="2331720"/>
            <a:ext cx="493740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500" spc="-1" strike="noStrike">
                <a:solidFill>
                  <a:srgbClr val="b0bed2"/>
                </a:solidFill>
                <a:latin typeface="Aptos"/>
              </a:rPr>
              <a:t>Saman Rai • ID 2317130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15000"/>
              </a:lnSpc>
              <a:buNone/>
            </a:pPr>
            <a:r>
              <a:rPr b="0" lang="en-US" sz="1500" spc="-1" strike="noStrike">
                <a:solidFill>
                  <a:srgbClr val="b0bed2"/>
                </a:solidFill>
                <a:latin typeface="Aptos"/>
              </a:rPr>
              <a:t>Group 7 • Seminar on AI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37" name="Rounded Rectangle 6"/>
          <p:cNvSpPr/>
          <p:nvPr/>
        </p:nvSpPr>
        <p:spPr>
          <a:xfrm>
            <a:off x="6172200" y="822960"/>
            <a:ext cx="5486040" cy="5303160"/>
          </a:xfrm>
          <a:prstGeom prst="roundRect">
            <a:avLst>
              <a:gd name="adj" fmla="val 2068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8" name="TextBox 7"/>
          <p:cNvSpPr/>
          <p:nvPr/>
        </p:nvSpPr>
        <p:spPr>
          <a:xfrm>
            <a:off x="6446520" y="1051560"/>
            <a:ext cx="50288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2dc4d3"/>
                </a:solidFill>
                <a:latin typeface="Aptos"/>
              </a:rPr>
              <a:t>REFERENCES USED THIS WEEK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39" name="TextBox 8"/>
          <p:cNvSpPr/>
          <p:nvPr/>
        </p:nvSpPr>
        <p:spPr>
          <a:xfrm>
            <a:off x="6446520" y="1508760"/>
            <a:ext cx="4983120" cy="366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1" lang="en-US" sz="1300" spc="-1" strike="noStrike">
                <a:solidFill>
                  <a:srgbClr val="f5f8fc"/>
                </a:solidFill>
                <a:latin typeface="Aptos"/>
              </a:rPr>
              <a:t>Guo et al. (ICML 2017)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301"/>
              </a:spcAft>
              <a:buNone/>
            </a:pPr>
            <a:r>
              <a:rPr b="0" lang="en-US" sz="1200" spc="-1" strike="noStrike">
                <a:solidFill>
                  <a:srgbClr val="b0bed2"/>
                </a:solidFill>
                <a:latin typeface="Aptos"/>
              </a:rPr>
              <a:t>On Calibration of Modern Neural Networks — temperature scaling.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1" lang="en-US" sz="1300" spc="-1" strike="noStrike">
                <a:solidFill>
                  <a:srgbClr val="f5f8fc"/>
                </a:solidFill>
                <a:latin typeface="Aptos"/>
              </a:rPr>
              <a:t>Tian et al. (EMNLP 2023)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301"/>
              </a:spcAft>
              <a:buNone/>
            </a:pPr>
            <a:r>
              <a:rPr b="0" lang="en-US" sz="1200" spc="-1" strike="noStrike">
                <a:solidFill>
                  <a:srgbClr val="b0bed2"/>
                </a:solidFill>
                <a:latin typeface="Aptos"/>
              </a:rPr>
              <a:t>Just Ask for Calibration — verbalized confidence from RLHF-tuned LLMs.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1" lang="en-US" sz="1300" spc="-1" strike="noStrike">
                <a:solidFill>
                  <a:srgbClr val="f5f8fc"/>
                </a:solidFill>
                <a:latin typeface="Aptos"/>
              </a:rPr>
              <a:t>Wang et al. (ICLR 2023)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301"/>
              </a:spcAft>
              <a:buNone/>
            </a:pPr>
            <a:r>
              <a:rPr b="0" lang="en-US" sz="1200" spc="-1" strike="noStrike">
                <a:solidFill>
                  <a:srgbClr val="b0bed2"/>
                </a:solidFill>
                <a:latin typeface="Aptos"/>
              </a:rPr>
              <a:t>Self-Consistency Improves Chain of Thought Reasoning in Language Models.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1" lang="en-US" sz="1300" spc="-1" strike="noStrike">
                <a:solidFill>
                  <a:srgbClr val="f5f8fc"/>
                </a:solidFill>
                <a:latin typeface="Aptos"/>
              </a:rPr>
              <a:t>Geifman &amp; El-Yaniv (NeurIPS 2017)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301"/>
              </a:spcAft>
              <a:buNone/>
            </a:pPr>
            <a:r>
              <a:rPr b="0" lang="en-US" sz="1200" spc="-1" strike="noStrike">
                <a:solidFill>
                  <a:srgbClr val="b0bed2"/>
                </a:solidFill>
                <a:latin typeface="Aptos"/>
              </a:rPr>
              <a:t>Selective Classification for Deep Neural Networks — risk–coverage.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1" lang="en-US" sz="1300" spc="-1" strike="noStrike">
                <a:solidFill>
                  <a:srgbClr val="f5f8fc"/>
                </a:solidFill>
                <a:latin typeface="Aptos"/>
              </a:rPr>
              <a:t>Joshi et al. (ACL 2017)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301"/>
              </a:spcAft>
              <a:buNone/>
            </a:pPr>
            <a:r>
              <a:rPr b="0" lang="en-US" sz="1200" spc="-1" strike="noStrike">
                <a:solidFill>
                  <a:srgbClr val="b0bed2"/>
                </a:solidFill>
                <a:latin typeface="Aptos"/>
              </a:rPr>
              <a:t>TriviaQA: a large-scale distantly supervised challenge dataset for reading comprehension.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40" name="Rounded Rectangle 9"/>
          <p:cNvSpPr/>
          <p:nvPr/>
        </p:nvSpPr>
        <p:spPr>
          <a:xfrm>
            <a:off x="685800" y="3977640"/>
            <a:ext cx="4937400" cy="2148480"/>
          </a:xfrm>
          <a:prstGeom prst="roundRect">
            <a:avLst>
              <a:gd name="adj" fmla="val 5106"/>
            </a:avLst>
          </a:prstGeom>
          <a:solidFill>
            <a:srgbClr val="1b2b43"/>
          </a:solidFill>
          <a:ln>
            <a:solidFill>
              <a:srgbClr val="2f41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1" name="TextBox 10"/>
          <p:cNvSpPr/>
          <p:nvPr/>
        </p:nvSpPr>
        <p:spPr>
          <a:xfrm>
            <a:off x="960120" y="4206240"/>
            <a:ext cx="44802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5cc98b"/>
                </a:solidFill>
                <a:latin typeface="Aptos"/>
              </a:rPr>
              <a:t>TAKE-AWAY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42" name="TextBox 11"/>
          <p:cNvSpPr/>
          <p:nvPr/>
        </p:nvSpPr>
        <p:spPr>
          <a:xfrm>
            <a:off x="960120" y="4572000"/>
            <a:ext cx="443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f5f8fc"/>
                </a:solidFill>
                <a:latin typeface="Aptos"/>
              </a:rPr>
              <a:t>50% of the model's errors sit in the 14% of questions where its own samples disagree — that is where verification should go.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2026-10-16T02:53:29Z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